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y="5143500" cx="9144000"/>
  <p:notesSz cx="5143500" cy="9144000"/>
  <p:embeddedFontLst>
    <p:embeddedFont>
      <p:font typeface="Nunito Sans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NunitoSans-regular.fntdata"/><Relationship Id="rId11" Type="http://schemas.openxmlformats.org/officeDocument/2006/relationships/slide" Target="slides/slide7.xml"/><Relationship Id="rId22" Type="http://schemas.openxmlformats.org/officeDocument/2006/relationships/font" Target="fonts/NunitoSans-italic.fntdata"/><Relationship Id="rId10" Type="http://schemas.openxmlformats.org/officeDocument/2006/relationships/slide" Target="slides/slide6.xml"/><Relationship Id="rId21" Type="http://schemas.openxmlformats.org/officeDocument/2006/relationships/font" Target="fonts/NunitoSans-bold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23" Type="http://schemas.openxmlformats.org/officeDocument/2006/relationships/font" Target="fonts/NunitoSans-bold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cce9a34a8a_0_0:notes"/>
          <p:cNvSpPr/>
          <p:nvPr>
            <p:ph idx="2" type="sldImg"/>
          </p:nvPr>
        </p:nvSpPr>
        <p:spPr>
          <a:xfrm>
            <a:off x="285975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cce9a34a8a_0_0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" name="Google Shape;6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5" name="Google Shape;2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4" name="Google Shape;3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9" name="Google Shape;379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9" name="Google Shape;469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2" name="Google Shape;502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0" name="Google Shape;52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" name="Google Shape;521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3" name="Google Shape;56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4" name="Google Shape;564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8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0" name="Google Shape;610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1" name="Google Shape;611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" name="Google Shape;34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7" name="Google Shape;47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0" name="Google Shape;50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1" name="Google Shape;51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7.png"/><Relationship Id="rId4" Type="http://schemas.openxmlformats.org/officeDocument/2006/relationships/image" Target="../media/image20.png"/><Relationship Id="rId5" Type="http://schemas.openxmlformats.org/officeDocument/2006/relationships/image" Target="../media/image1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3.png"/><Relationship Id="rId4" Type="http://schemas.openxmlformats.org/officeDocument/2006/relationships/image" Target="../media/image95.png"/><Relationship Id="rId5" Type="http://schemas.openxmlformats.org/officeDocument/2006/relationships/image" Target="../media/image94.png"/><Relationship Id="rId6" Type="http://schemas.openxmlformats.org/officeDocument/2006/relationships/image" Target="../media/image92.png"/><Relationship Id="rId7" Type="http://schemas.openxmlformats.org/officeDocument/2006/relationships/image" Target="../media/image77.png"/><Relationship Id="rId8" Type="http://schemas.openxmlformats.org/officeDocument/2006/relationships/image" Target="../media/image9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1076D2"/>
            </a:gs>
            <a:gs pos="100000">
              <a:srgbClr val="093053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 title="VERTICAL (1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8338" y="524975"/>
            <a:ext cx="2067325" cy="1275675"/>
          </a:xfrm>
          <a:prstGeom prst="rect">
            <a:avLst/>
          </a:prstGeom>
          <a:noFill/>
          <a:ln>
            <a:noFill/>
          </a:ln>
          <a:effectLst>
            <a:outerShdw blurRad="414338" rotWithShape="0" algn="bl" dist="9525">
              <a:srgbClr val="000000">
                <a:alpha val="50000"/>
              </a:srgbClr>
            </a:outerShdw>
          </a:effectLst>
        </p:spPr>
      </p:pic>
      <p:sp>
        <p:nvSpPr>
          <p:cNvPr id="62" name="Google Shape;62;p15"/>
          <p:cNvSpPr/>
          <p:nvPr/>
        </p:nvSpPr>
        <p:spPr>
          <a:xfrm>
            <a:off x="1491150" y="2073675"/>
            <a:ext cx="5868000" cy="117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69"/>
              <a:buFont typeface="Georgia"/>
              <a:buNone/>
            </a:pPr>
            <a:r>
              <a:rPr b="0" i="0" lang="en-US" sz="3369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Global Commodity Trading</a:t>
            </a:r>
            <a:endParaRPr b="0" i="0" sz="33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69"/>
              <a:buFont typeface="Georgia"/>
              <a:buNone/>
            </a:pPr>
            <a:r>
              <a:rPr b="0" i="0" lang="en-US" sz="3369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&amp; Supply Chain Finance</a:t>
            </a:r>
            <a:endParaRPr b="0" i="0" sz="33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5"/>
          <p:cNvSpPr/>
          <p:nvPr/>
        </p:nvSpPr>
        <p:spPr>
          <a:xfrm>
            <a:off x="1491150" y="3320672"/>
            <a:ext cx="6161700" cy="33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882"/>
              <a:buFont typeface="Arial"/>
              <a:buNone/>
            </a:pPr>
            <a:r>
              <a:rPr lang="en-US" sz="882">
                <a:solidFill>
                  <a:srgbClr val="8899AA"/>
                </a:solidFill>
              </a:rPr>
              <a:t>Physical</a:t>
            </a:r>
            <a:r>
              <a:rPr b="0" i="0" lang="en-US" sz="1123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882">
                <a:solidFill>
                  <a:srgbClr val="8899AA"/>
                </a:solidFill>
              </a:rPr>
              <a:t>Trading  |  Verified Supply Chains  |  Global Payment Connectivity</a:t>
            </a:r>
            <a:endParaRPr sz="882">
              <a:solidFill>
                <a:srgbClr val="8899AA"/>
              </a:solidFill>
            </a:endParaRPr>
          </a:p>
        </p:txBody>
      </p:sp>
      <p:cxnSp>
        <p:nvCxnSpPr>
          <p:cNvPr id="64" name="Google Shape;64;p15"/>
          <p:cNvCxnSpPr/>
          <p:nvPr/>
        </p:nvCxnSpPr>
        <p:spPr>
          <a:xfrm>
            <a:off x="1491150" y="3797465"/>
            <a:ext cx="1833900" cy="0"/>
          </a:xfrm>
          <a:prstGeom prst="straightConnector1">
            <a:avLst/>
          </a:prstGeom>
          <a:noFill/>
          <a:ln cap="flat" cmpd="sng" w="203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" name="Google Shape;65;p15"/>
          <p:cNvSpPr/>
          <p:nvPr/>
        </p:nvSpPr>
        <p:spPr>
          <a:xfrm>
            <a:off x="1491150" y="3944170"/>
            <a:ext cx="4401300" cy="25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882"/>
              <a:buFont typeface="Arial"/>
              <a:buNone/>
            </a:pPr>
            <a:r>
              <a:rPr b="0" i="0" lang="en-US" sz="882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March 2026  |  Confidential</a:t>
            </a:r>
            <a:endParaRPr b="0" i="0" sz="88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A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/>
          <p:nvPr/>
        </p:nvSpPr>
        <p:spPr>
          <a:xfrm>
            <a:off x="0" y="0"/>
            <a:ext cx="9144000" cy="36600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16"/>
          <p:cNvSpPr/>
          <p:nvPr/>
        </p:nvSpPr>
        <p:spPr>
          <a:xfrm>
            <a:off x="731520" y="228600"/>
            <a:ext cx="73152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2800"/>
              <a:buFont typeface="Georgia"/>
              <a:buNone/>
            </a:pPr>
            <a:r>
              <a:rPr b="1" i="0" lang="en-US" sz="2800" u="none" cap="none" strike="noStrike">
                <a:solidFill>
                  <a:srgbClr val="0F2B46"/>
                </a:solidFill>
                <a:latin typeface="Georgia"/>
                <a:ea typeface="Georgia"/>
                <a:cs typeface="Georgia"/>
                <a:sym typeface="Georgia"/>
              </a:rPr>
              <a:t>Executive Summary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6"/>
          <p:cNvSpPr/>
          <p:nvPr/>
        </p:nvSpPr>
        <p:spPr>
          <a:xfrm>
            <a:off x="731520" y="777240"/>
            <a:ext cx="76809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Skyocean is a global commodity trading platform that buys, ships, and sells physical goods. We connect merchants and retail buyers directly to verified supply chains. Our hybrid platform serves both crypto and non-crypto users through any payment method worldwide.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457200" y="1554480"/>
            <a:ext cx="196590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16"/>
          <p:cNvSpPr/>
          <p:nvPr/>
        </p:nvSpPr>
        <p:spPr>
          <a:xfrm>
            <a:off x="457200" y="1554480"/>
            <a:ext cx="1965900" cy="54900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16"/>
          <p:cNvSpPr/>
          <p:nvPr/>
        </p:nvSpPr>
        <p:spPr>
          <a:xfrm>
            <a:off x="594360" y="1719072"/>
            <a:ext cx="1691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2400"/>
              <a:buFont typeface="Georgia"/>
              <a:buNone/>
            </a:pPr>
            <a:r>
              <a:rPr b="1" i="0" lang="en-US" sz="2400" u="none" cap="none" strike="noStrike">
                <a:solidFill>
                  <a:srgbClr val="0F2B46"/>
                </a:solidFill>
                <a:latin typeface="Georgia"/>
                <a:ea typeface="Georgia"/>
                <a:cs typeface="Georgia"/>
                <a:sym typeface="Georgia"/>
              </a:rPr>
              <a:t>MVP Live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/>
          <p:nvPr/>
        </p:nvSpPr>
        <p:spPr>
          <a:xfrm>
            <a:off x="594360" y="2148840"/>
            <a:ext cx="16917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6B9E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Platform Status</a:t>
            </a:r>
            <a:endParaRPr b="0" i="0" sz="100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6"/>
          <p:cNvSpPr/>
          <p:nvPr/>
        </p:nvSpPr>
        <p:spPr>
          <a:xfrm>
            <a:off x="594360" y="2377440"/>
            <a:ext cx="16917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Operational &amp; accepting users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6"/>
          <p:cNvSpPr/>
          <p:nvPr/>
        </p:nvSpPr>
        <p:spPr>
          <a:xfrm>
            <a:off x="2606040" y="1554480"/>
            <a:ext cx="196590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6"/>
          <p:cNvSpPr/>
          <p:nvPr/>
        </p:nvSpPr>
        <p:spPr>
          <a:xfrm>
            <a:off x="2606040" y="1554480"/>
            <a:ext cx="1965900" cy="54900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16"/>
          <p:cNvSpPr/>
          <p:nvPr/>
        </p:nvSpPr>
        <p:spPr>
          <a:xfrm>
            <a:off x="2743200" y="1719072"/>
            <a:ext cx="1691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2400"/>
              <a:buFont typeface="Georgia"/>
              <a:buNone/>
            </a:pPr>
            <a:r>
              <a:rPr b="1" i="0" lang="en-US" sz="2400" u="none" cap="none" strike="noStrike">
                <a:solidFill>
                  <a:srgbClr val="0F2B46"/>
                </a:solidFill>
                <a:latin typeface="Georgia"/>
                <a:ea typeface="Georgia"/>
                <a:cs typeface="Georgia"/>
                <a:sym typeface="Georgia"/>
              </a:rPr>
              <a:t>5–8%+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6"/>
          <p:cNvSpPr/>
          <p:nvPr/>
        </p:nvSpPr>
        <p:spPr>
          <a:xfrm>
            <a:off x="2743200" y="2148840"/>
            <a:ext cx="16917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6B9E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Margin Per Trade</a:t>
            </a:r>
            <a:endParaRPr b="0" i="0" sz="100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2743200" y="2377440"/>
            <a:ext cx="16917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Conservative est. (45–60 day cycle)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6"/>
          <p:cNvSpPr/>
          <p:nvPr/>
        </p:nvSpPr>
        <p:spPr>
          <a:xfrm>
            <a:off x="4754880" y="1554480"/>
            <a:ext cx="196590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6"/>
          <p:cNvSpPr/>
          <p:nvPr/>
        </p:nvSpPr>
        <p:spPr>
          <a:xfrm>
            <a:off x="4754880" y="1554480"/>
            <a:ext cx="1965900" cy="54900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6"/>
          <p:cNvSpPr/>
          <p:nvPr/>
        </p:nvSpPr>
        <p:spPr>
          <a:xfrm>
            <a:off x="4892040" y="1719072"/>
            <a:ext cx="1691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2400"/>
              <a:buFont typeface="Georgia"/>
              <a:buNone/>
            </a:pPr>
            <a:r>
              <a:rPr b="1" i="0" lang="en-US" sz="2400" u="none" cap="none" strike="noStrike">
                <a:solidFill>
                  <a:srgbClr val="0F2B46"/>
                </a:solidFill>
                <a:latin typeface="Georgia"/>
                <a:ea typeface="Georgia"/>
                <a:cs typeface="Georgia"/>
                <a:sym typeface="Georgia"/>
              </a:rPr>
              <a:t>Hybrid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4892040" y="2148840"/>
            <a:ext cx="16917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6B9E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Platform Model</a:t>
            </a:r>
            <a:endParaRPr b="0" i="0" sz="100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6"/>
          <p:cNvSpPr/>
          <p:nvPr/>
        </p:nvSpPr>
        <p:spPr>
          <a:xfrm>
            <a:off x="4892040" y="2377440"/>
            <a:ext cx="16917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Crypto &amp; non-crypto users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6"/>
          <p:cNvSpPr/>
          <p:nvPr/>
        </p:nvSpPr>
        <p:spPr>
          <a:xfrm>
            <a:off x="6903720" y="1554480"/>
            <a:ext cx="196590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6"/>
          <p:cNvSpPr/>
          <p:nvPr/>
        </p:nvSpPr>
        <p:spPr>
          <a:xfrm>
            <a:off x="6903720" y="1554480"/>
            <a:ext cx="1965900" cy="54900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6"/>
          <p:cNvSpPr/>
          <p:nvPr/>
        </p:nvSpPr>
        <p:spPr>
          <a:xfrm>
            <a:off x="7040880" y="1719072"/>
            <a:ext cx="1691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2400"/>
              <a:buFont typeface="Georgia"/>
              <a:buNone/>
            </a:pPr>
            <a:r>
              <a:rPr b="1" i="0" lang="en-US" sz="2400" u="none" cap="none" strike="noStrike">
                <a:solidFill>
                  <a:srgbClr val="0F2B46"/>
                </a:solidFill>
                <a:latin typeface="Georgia"/>
                <a:ea typeface="Georgia"/>
                <a:cs typeface="Georgia"/>
                <a:sym typeface="Georgia"/>
              </a:rPr>
              <a:t>15 yrs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6"/>
          <p:cNvSpPr/>
          <p:nvPr/>
        </p:nvSpPr>
        <p:spPr>
          <a:xfrm>
            <a:off x="7040880" y="2148840"/>
            <a:ext cx="16917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6B9E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Founder Experience</a:t>
            </a:r>
            <a:endParaRPr b="0" i="0" sz="100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6"/>
          <p:cNvSpPr/>
          <p:nvPr/>
        </p:nvSpPr>
        <p:spPr>
          <a:xfrm>
            <a:off x="7040880" y="2377440"/>
            <a:ext cx="16917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Commodity trading operations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457200" y="3200400"/>
            <a:ext cx="3931800" cy="16458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6"/>
          <p:cNvSpPr/>
          <p:nvPr/>
        </p:nvSpPr>
        <p:spPr>
          <a:xfrm>
            <a:off x="685800" y="3291840"/>
            <a:ext cx="3474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Platform Highlights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6" name="Google Shape;9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3639312"/>
            <a:ext cx="155448" cy="155448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6"/>
          <p:cNvSpPr/>
          <p:nvPr/>
        </p:nvSpPr>
        <p:spPr>
          <a:xfrm>
            <a:off x="960120" y="3593592"/>
            <a:ext cx="3246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MVP live — accepting merchants &amp; investors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8" name="Google Shape;98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3913632"/>
            <a:ext cx="155448" cy="155448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6"/>
          <p:cNvSpPr/>
          <p:nvPr/>
        </p:nvSpPr>
        <p:spPr>
          <a:xfrm>
            <a:off x="960120" y="3867912"/>
            <a:ext cx="3246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Hybrid platform — crypto and traditional users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00" name="Google Shape;10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4187952"/>
            <a:ext cx="155448" cy="155448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6"/>
          <p:cNvSpPr/>
          <p:nvPr/>
        </p:nvSpPr>
        <p:spPr>
          <a:xfrm>
            <a:off x="960120" y="4142232"/>
            <a:ext cx="3246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Global payment connectivity — any method, any region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4462272"/>
            <a:ext cx="155448" cy="155448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/>
          <p:nvPr/>
        </p:nvSpPr>
        <p:spPr>
          <a:xfrm>
            <a:off x="960120" y="4416552"/>
            <a:ext cx="3246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Direct merchant access — retail &amp; wholesale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6"/>
          <p:cNvSpPr/>
          <p:nvPr/>
        </p:nvSpPr>
        <p:spPr>
          <a:xfrm>
            <a:off x="4754880" y="3200400"/>
            <a:ext cx="3931800" cy="16458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6"/>
          <p:cNvSpPr/>
          <p:nvPr/>
        </p:nvSpPr>
        <p:spPr>
          <a:xfrm>
            <a:off x="4983480" y="3291840"/>
            <a:ext cx="3474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Key Partnerships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06" name="Google Shape;10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83480" y="3657600"/>
            <a:ext cx="146304" cy="146304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6"/>
          <p:cNvSpPr/>
          <p:nvPr/>
        </p:nvSpPr>
        <p:spPr>
          <a:xfrm>
            <a:off x="5230368" y="3602736"/>
            <a:ext cx="3200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Government of Sudan  </a:t>
            </a:r>
            <a:r>
              <a:rPr b="0" i="0" lang="en-US" sz="10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Essential commodity imports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08" name="Google Shape;108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83480" y="4005072"/>
            <a:ext cx="146304" cy="146304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6"/>
          <p:cNvSpPr/>
          <p:nvPr/>
        </p:nvSpPr>
        <p:spPr>
          <a:xfrm>
            <a:off x="5230368" y="3950208"/>
            <a:ext cx="3200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Port of Thessaloniki (ThPA)  </a:t>
            </a:r>
            <a:r>
              <a:rPr b="0" i="0" lang="en-US" sz="10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EU logistics gateway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0" name="Google Shape;110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83480" y="4352544"/>
            <a:ext cx="146304" cy="146304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6"/>
          <p:cNvSpPr/>
          <p:nvPr/>
        </p:nvSpPr>
        <p:spPr>
          <a:xfrm>
            <a:off x="5230368" y="4297680"/>
            <a:ext cx="3200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World Trade Center Accra  </a:t>
            </a:r>
            <a:r>
              <a:rPr b="0" i="0" lang="en-US" sz="10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Ghana trade corridor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A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7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17"/>
          <p:cNvSpPr/>
          <p:nvPr/>
        </p:nvSpPr>
        <p:spPr>
          <a:xfrm>
            <a:off x="731520" y="22860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2800"/>
              <a:buFont typeface="Georgia"/>
              <a:buNone/>
            </a:pPr>
            <a:r>
              <a:rPr b="1" i="0" lang="en-US" sz="2800" u="none" cap="none" strike="noStrike">
                <a:solidFill>
                  <a:srgbClr val="0F2B46"/>
                </a:solidFill>
                <a:latin typeface="Georgia"/>
                <a:ea typeface="Georgia"/>
                <a:cs typeface="Georgia"/>
                <a:sym typeface="Georgia"/>
              </a:rPr>
              <a:t>How It Works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7"/>
          <p:cNvSpPr/>
          <p:nvPr/>
        </p:nvSpPr>
        <p:spPr>
          <a:xfrm>
            <a:off x="731520" y="731520"/>
            <a:ext cx="7680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Skyocean owns the commodity at every stage. Merchants and retail buyers access goods directly through our platform.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7"/>
          <p:cNvSpPr/>
          <p:nvPr/>
        </p:nvSpPr>
        <p:spPr>
          <a:xfrm>
            <a:off x="457200" y="1280160"/>
            <a:ext cx="196596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1143000" y="1417320"/>
            <a:ext cx="594360" cy="594360"/>
          </a:xfrm>
          <a:prstGeom prst="ellipse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17"/>
          <p:cNvSpPr/>
          <p:nvPr/>
        </p:nvSpPr>
        <p:spPr>
          <a:xfrm>
            <a:off x="1143000" y="1417320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Georgia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7"/>
          <p:cNvSpPr/>
          <p:nvPr/>
        </p:nvSpPr>
        <p:spPr>
          <a:xfrm>
            <a:off x="594360" y="2148840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Buyer Orders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7"/>
          <p:cNvSpPr/>
          <p:nvPr/>
        </p:nvSpPr>
        <p:spPr>
          <a:xfrm>
            <a:off x="594360" y="2468880"/>
            <a:ext cx="1691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Merchant or retail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buyer places order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directly on platform.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25" name="Google Shape;12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68880" y="2103120"/>
            <a:ext cx="164592" cy="16459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/>
          <p:nvPr/>
        </p:nvSpPr>
        <p:spPr>
          <a:xfrm>
            <a:off x="2651760" y="1280160"/>
            <a:ext cx="196596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7"/>
          <p:cNvSpPr/>
          <p:nvPr/>
        </p:nvSpPr>
        <p:spPr>
          <a:xfrm>
            <a:off x="3337560" y="1417320"/>
            <a:ext cx="594360" cy="594360"/>
          </a:xfrm>
          <a:prstGeom prst="ellipse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17"/>
          <p:cNvSpPr/>
          <p:nvPr/>
        </p:nvSpPr>
        <p:spPr>
          <a:xfrm>
            <a:off x="3337560" y="1417320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Georgia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7"/>
          <p:cNvSpPr/>
          <p:nvPr/>
        </p:nvSpPr>
        <p:spPr>
          <a:xfrm>
            <a:off x="2788920" y="2148840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We Procure &amp; Ship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2788920" y="2468880"/>
            <a:ext cx="1691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Skyocean buys the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commodity. We retain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title throughout.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1" name="Google Shape;13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440" y="2103120"/>
            <a:ext cx="164592" cy="164592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7"/>
          <p:cNvSpPr/>
          <p:nvPr/>
        </p:nvSpPr>
        <p:spPr>
          <a:xfrm>
            <a:off x="4846320" y="1280160"/>
            <a:ext cx="196596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17"/>
          <p:cNvSpPr/>
          <p:nvPr/>
        </p:nvSpPr>
        <p:spPr>
          <a:xfrm>
            <a:off x="5532120" y="1417320"/>
            <a:ext cx="594360" cy="594360"/>
          </a:xfrm>
          <a:prstGeom prst="ellipse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7"/>
          <p:cNvSpPr/>
          <p:nvPr/>
        </p:nvSpPr>
        <p:spPr>
          <a:xfrm>
            <a:off x="5532120" y="1417320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Georgia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7"/>
          <p:cNvSpPr/>
          <p:nvPr/>
        </p:nvSpPr>
        <p:spPr>
          <a:xfrm>
            <a:off x="4983480" y="2148840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Verified Delivery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4983480" y="2468880"/>
            <a:ext cx="1691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Quality inspection.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Digital verification.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Payment on delivery.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7" name="Google Shape;1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0" y="2103120"/>
            <a:ext cx="164592" cy="164592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7"/>
          <p:cNvSpPr/>
          <p:nvPr/>
        </p:nvSpPr>
        <p:spPr>
          <a:xfrm>
            <a:off x="7040880" y="1280160"/>
            <a:ext cx="196596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17"/>
          <p:cNvSpPr/>
          <p:nvPr/>
        </p:nvSpPr>
        <p:spPr>
          <a:xfrm>
            <a:off x="7726680" y="1417320"/>
            <a:ext cx="594360" cy="594360"/>
          </a:xfrm>
          <a:prstGeom prst="ellipse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17"/>
          <p:cNvSpPr/>
          <p:nvPr/>
        </p:nvSpPr>
        <p:spPr>
          <a:xfrm>
            <a:off x="7726680" y="1417320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Georgia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/>
          <p:nvPr/>
        </p:nvSpPr>
        <p:spPr>
          <a:xfrm>
            <a:off x="7178040" y="2148840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Returns Generated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7"/>
          <p:cNvSpPr/>
          <p:nvPr/>
        </p:nvSpPr>
        <p:spPr>
          <a:xfrm>
            <a:off x="7178040" y="2468880"/>
            <a:ext cx="1691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Trade margin earned.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Capital recycled to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next trade cycle.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/>
          <p:nvPr/>
        </p:nvSpPr>
        <p:spPr>
          <a:xfrm>
            <a:off x="457200" y="3520440"/>
            <a:ext cx="3931920" cy="123444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7"/>
          <p:cNvSpPr/>
          <p:nvPr/>
        </p:nvSpPr>
        <p:spPr>
          <a:xfrm>
            <a:off x="640080" y="3611880"/>
            <a:ext cx="3566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8A7D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Traditional Trade Finance</a:t>
            </a:r>
            <a:endParaRPr b="0" i="0" sz="1100" u="none" cap="none" strike="noStrike">
              <a:solidFill>
                <a:srgbClr val="CCDDE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640080" y="3886200"/>
            <a:ext cx="35661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DDEE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Bank lends money → charges interest → borrower repays or defaults → bank loses everything. Requires 150%+ collateral. 30–45 day processing.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/>
          <p:nvPr/>
        </p:nvSpPr>
        <p:spPr>
          <a:xfrm>
            <a:off x="4754880" y="3520440"/>
            <a:ext cx="3931920" cy="1234440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7"/>
          <p:cNvSpPr/>
          <p:nvPr/>
        </p:nvSpPr>
        <p:spPr>
          <a:xfrm>
            <a:off x="4937760" y="3611880"/>
            <a:ext cx="3566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Skyocean Model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4937760" y="3886200"/>
            <a:ext cx="35661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FF4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E8FFF4"/>
                </a:solidFill>
                <a:latin typeface="Arial"/>
                <a:ea typeface="Arial"/>
                <a:cs typeface="Arial"/>
                <a:sym typeface="Arial"/>
              </a:rPr>
              <a:t>We buy the commodity → ship to buyer → buyer pays trade price → if buyer defaults, we resell. No lending, no interest, no collateral. Goods are the collateral.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A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8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8"/>
          <p:cNvSpPr/>
          <p:nvPr/>
        </p:nvSpPr>
        <p:spPr>
          <a:xfrm>
            <a:off x="731520" y="22860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2800"/>
              <a:buFont typeface="Georgia"/>
              <a:buNone/>
            </a:pPr>
            <a:r>
              <a:rPr b="1" i="0" lang="en-US" sz="2800" u="none" cap="none" strike="noStrike">
                <a:solidFill>
                  <a:srgbClr val="0F2B46"/>
                </a:solidFill>
                <a:latin typeface="Georgia"/>
                <a:ea typeface="Georgia"/>
                <a:cs typeface="Georgia"/>
                <a:sym typeface="Georgia"/>
              </a:rPr>
              <a:t>The Problem We Solve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8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8"/>
          <p:cNvSpPr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$2.6 trillion trade finance gap   |   70% first-time applicants rejected   |   40% rejection rate in Africa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8"/>
          <p:cNvSpPr/>
          <p:nvPr/>
        </p:nvSpPr>
        <p:spPr>
          <a:xfrm>
            <a:off x="457200" y="1508760"/>
            <a:ext cx="3931920" cy="3246120"/>
          </a:xfrm>
          <a:prstGeom prst="rect">
            <a:avLst/>
          </a:prstGeom>
          <a:solidFill>
            <a:srgbClr val="FFF8F5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8"/>
          <p:cNvSpPr/>
          <p:nvPr/>
        </p:nvSpPr>
        <p:spPr>
          <a:xfrm>
            <a:off x="731520" y="1627632"/>
            <a:ext cx="3383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4444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CC4444"/>
                </a:solidFill>
                <a:latin typeface="Arial"/>
                <a:ea typeface="Arial"/>
                <a:cs typeface="Arial"/>
                <a:sym typeface="Arial"/>
              </a:rPr>
              <a:t>Why Banks Can’t Close the Gap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60" name="Google Shape;16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1520" y="201168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8"/>
          <p:cNvSpPr/>
          <p:nvPr/>
        </p:nvSpPr>
        <p:spPr>
          <a:xfrm>
            <a:off x="1024128" y="196596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No supply chain visibility — betting on strangers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62" name="Google Shape;16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1520" y="2450592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8"/>
          <p:cNvSpPr/>
          <p:nvPr/>
        </p:nvSpPr>
        <p:spPr>
          <a:xfrm>
            <a:off x="1024128" y="2404872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Usury caps (8–15%) make risky trades unprofitable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64" name="Google Shape;16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1520" y="2889504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8"/>
          <p:cNvSpPr/>
          <p:nvPr/>
        </p:nvSpPr>
        <p:spPr>
          <a:xfrm>
            <a:off x="1024128" y="2843784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Credit assessment costs exceed profit on small deals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66" name="Google Shape;16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1520" y="3328416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8"/>
          <p:cNvSpPr/>
          <p:nvPr/>
        </p:nvSpPr>
        <p:spPr>
          <a:xfrm>
            <a:off x="1024128" y="3282696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Binary outcome: borrower pays or total loss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68" name="Google Shape;16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1520" y="3767328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8"/>
          <p:cNvSpPr/>
          <p:nvPr/>
        </p:nvSpPr>
        <p:spPr>
          <a:xfrm>
            <a:off x="1024128" y="3721608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Cannot price high-risk markets appropriately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0" name="Google Shape;17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1520" y="420624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8"/>
          <p:cNvSpPr/>
          <p:nvPr/>
        </p:nvSpPr>
        <p:spPr>
          <a:xfrm>
            <a:off x="1024128" y="416052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Seller payment gaps from buyer defaults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4754880" y="1508760"/>
            <a:ext cx="3931920" cy="3246120"/>
          </a:xfrm>
          <a:prstGeom prst="rect">
            <a:avLst/>
          </a:prstGeom>
          <a:solidFill>
            <a:srgbClr val="F0FFF8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8"/>
          <p:cNvSpPr/>
          <p:nvPr/>
        </p:nvSpPr>
        <p:spPr>
          <a:xfrm>
            <a:off x="5029200" y="1627632"/>
            <a:ext cx="3383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886E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Skyocean’s Approach</a:t>
            </a:r>
            <a:endParaRPr b="0" i="0" sz="130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4" name="Google Shape;174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29200" y="201168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8"/>
          <p:cNvSpPr/>
          <p:nvPr/>
        </p:nvSpPr>
        <p:spPr>
          <a:xfrm>
            <a:off x="5321808" y="196596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We own the commodity — full supply chain control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6" name="Google Shape;1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29200" y="2450592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8"/>
          <p:cNvSpPr/>
          <p:nvPr/>
        </p:nvSpPr>
        <p:spPr>
          <a:xfrm>
            <a:off x="5321808" y="2404872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Pricing through trade margin, not interest rates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8" name="Google Shape;178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29200" y="2889504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18"/>
          <p:cNvSpPr/>
          <p:nvPr/>
        </p:nvSpPr>
        <p:spPr>
          <a:xfrm>
            <a:off x="5321808" y="2843784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Self-consignment eliminates buyer credit risk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80" name="Google Shape;18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29200" y="3328416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18"/>
          <p:cNvSpPr/>
          <p:nvPr/>
        </p:nvSpPr>
        <p:spPr>
          <a:xfrm>
            <a:off x="5321808" y="3282696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Buyer defaults? We resell to next buyer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82" name="Google Shape;182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29200" y="3767328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8"/>
          <p:cNvSpPr/>
          <p:nvPr/>
        </p:nvSpPr>
        <p:spPr>
          <a:xfrm>
            <a:off x="5321808" y="3721608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Digitally verified supply chain data for all parties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84" name="Google Shape;184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29200" y="420624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8"/>
          <p:cNvSpPr/>
          <p:nvPr/>
        </p:nvSpPr>
        <p:spPr>
          <a:xfrm>
            <a:off x="5321808" y="416052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Direct merchant access — no intermediaries needed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A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9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9"/>
          <p:cNvSpPr/>
          <p:nvPr/>
        </p:nvSpPr>
        <p:spPr>
          <a:xfrm>
            <a:off x="731520" y="22860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2800"/>
              <a:buFont typeface="Georgia"/>
              <a:buNone/>
            </a:pPr>
            <a:r>
              <a:rPr b="1" i="0" lang="en-US" sz="2800" u="none" cap="none" strike="noStrike">
                <a:solidFill>
                  <a:srgbClr val="0F2B46"/>
                </a:solidFill>
                <a:latin typeface="Georgia"/>
                <a:ea typeface="Georgia"/>
                <a:cs typeface="Georgia"/>
                <a:sym typeface="Georgia"/>
              </a:rPr>
              <a:t>Verification Technology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731520" y="731520"/>
            <a:ext cx="7680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Every shipment is digitally verified. Documents are tamper-proof. Payments release automatically when conditions are met.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457200" y="1234440"/>
            <a:ext cx="5029200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9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rgbClr val="0F2B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96" name="Google Shape;19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808" y="1572768"/>
            <a:ext cx="329184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9"/>
          <p:cNvSpPr/>
          <p:nvPr/>
        </p:nvSpPr>
        <p:spPr>
          <a:xfrm>
            <a:off x="1371600" y="1307592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Document Verification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9"/>
          <p:cNvSpPr/>
          <p:nvPr/>
        </p:nvSpPr>
        <p:spPr>
          <a:xfrm>
            <a:off x="1371600" y="1581912"/>
            <a:ext cx="39319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Every document (bill of lading, quality inspection, customs clearance) gets a unique digital fingerprint. Cannot be forged, altered, or disputed. Verified in seconds, not weeks.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9"/>
          <p:cNvSpPr/>
          <p:nvPr/>
        </p:nvSpPr>
        <p:spPr>
          <a:xfrm>
            <a:off x="457200" y="2404872"/>
            <a:ext cx="5029200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9"/>
          <p:cNvSpPr/>
          <p:nvPr/>
        </p:nvSpPr>
        <p:spPr>
          <a:xfrm>
            <a:off x="640080" y="2633472"/>
            <a:ext cx="548640" cy="548640"/>
          </a:xfrm>
          <a:prstGeom prst="ellipse">
            <a:avLst/>
          </a:prstGeom>
          <a:solidFill>
            <a:srgbClr val="0F2B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01" name="Google Shape;201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808" y="2743200"/>
            <a:ext cx="329184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19"/>
          <p:cNvSpPr/>
          <p:nvPr/>
        </p:nvSpPr>
        <p:spPr>
          <a:xfrm>
            <a:off x="1371600" y="247802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Decentralized Data Storage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9"/>
          <p:cNvSpPr/>
          <p:nvPr/>
        </p:nvSpPr>
        <p:spPr>
          <a:xfrm>
            <a:off x="1371600" y="2752344"/>
            <a:ext cx="39319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Trade data is stored across multiple independent nodes worldwide — not on our servers. No single point of failure. No one can alter records. Enterprise-grade technology used by Walmart, Swiss Railways, and major logistics companies.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9"/>
          <p:cNvSpPr/>
          <p:nvPr/>
        </p:nvSpPr>
        <p:spPr>
          <a:xfrm>
            <a:off x="457200" y="3575304"/>
            <a:ext cx="5029200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9"/>
          <p:cNvSpPr/>
          <p:nvPr/>
        </p:nvSpPr>
        <p:spPr>
          <a:xfrm>
            <a:off x="640080" y="3803904"/>
            <a:ext cx="548640" cy="548640"/>
          </a:xfrm>
          <a:prstGeom prst="ellipse">
            <a:avLst/>
          </a:prstGeom>
          <a:solidFill>
            <a:srgbClr val="0F2B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06" name="Google Shape;206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49808" y="3913632"/>
            <a:ext cx="329184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19"/>
          <p:cNvSpPr/>
          <p:nvPr/>
        </p:nvSpPr>
        <p:spPr>
          <a:xfrm>
            <a:off x="1371600" y="3648456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Automated Settlement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9"/>
          <p:cNvSpPr/>
          <p:nvPr/>
        </p:nvSpPr>
        <p:spPr>
          <a:xfrm>
            <a:off x="1371600" y="3922776"/>
            <a:ext cx="39319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Payments release automatically when verified milestones are confirmed: goods shipped, quality inspected, customs cleared, delivery confirmed. No manual intervention. No disputes.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9"/>
          <p:cNvSpPr/>
          <p:nvPr/>
        </p:nvSpPr>
        <p:spPr>
          <a:xfrm>
            <a:off x="5715000" y="1234440"/>
            <a:ext cx="3063300" cy="365760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CCDDEE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10" name="Google Shape;210;p19"/>
          <p:cNvSpPr/>
          <p:nvPr/>
        </p:nvSpPr>
        <p:spPr>
          <a:xfrm>
            <a:off x="5897880" y="1371600"/>
            <a:ext cx="26974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8A7D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Why It Matters</a:t>
            </a:r>
            <a:endParaRPr b="0" i="0" sz="1300" u="none" cap="none" strike="noStrike">
              <a:solidFill>
                <a:srgbClr val="CCDDE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9"/>
          <p:cNvSpPr/>
          <p:nvPr/>
        </p:nvSpPr>
        <p:spPr>
          <a:xfrm>
            <a:off x="5897880" y="1737360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8A7D"/>
              </a:buClr>
              <a:buSzPts val="1600"/>
              <a:buFont typeface="Georgia"/>
              <a:buNone/>
            </a:pPr>
            <a:r>
              <a:rPr b="1" i="0" lang="en-US" sz="1600" u="none" cap="none" strike="noStrike">
                <a:solidFill>
                  <a:srgbClr val="CCDDEE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r>
              <a:rPr b="1" i="0" lang="en-US" sz="1600" u="none" cap="none" strike="noStrike">
                <a:solidFill>
                  <a:srgbClr val="CCDDEE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b="1" i="0" lang="en-US" sz="1600" u="none" cap="none" strike="noStrike">
                <a:solidFill>
                  <a:srgbClr val="CCDDEE"/>
                </a:solidFill>
                <a:latin typeface="Georgia"/>
                <a:ea typeface="Georgia"/>
                <a:cs typeface="Georgia"/>
                <a:sym typeface="Georgia"/>
              </a:rPr>
              <a:t>sec</a:t>
            </a:r>
            <a:endParaRPr b="0" i="0" sz="1600" u="none" cap="none" strike="noStrike">
              <a:solidFill>
                <a:srgbClr val="CCDDE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9"/>
          <p:cNvSpPr/>
          <p:nvPr/>
        </p:nvSpPr>
        <p:spPr>
          <a:xfrm>
            <a:off x="5897880" y="1938528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AABBCC"/>
                </a:solidFill>
                <a:latin typeface="Arial"/>
                <a:ea typeface="Arial"/>
                <a:cs typeface="Arial"/>
                <a:sym typeface="Arial"/>
              </a:rPr>
              <a:t>verification vs 5–10 days at banks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9"/>
          <p:cNvSpPr/>
          <p:nvPr/>
        </p:nvSpPr>
        <p:spPr>
          <a:xfrm>
            <a:off x="5897880" y="2212848"/>
            <a:ext cx="2697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8A7D"/>
              </a:buClr>
              <a:buSzPts val="1600"/>
              <a:buFont typeface="Georgia"/>
              <a:buNone/>
            </a:pPr>
            <a:r>
              <a:rPr b="1" lang="en-US" sz="1600">
                <a:solidFill>
                  <a:srgbClr val="CCDDEE"/>
                </a:solidFill>
                <a:latin typeface="Georgia"/>
                <a:ea typeface="Georgia"/>
                <a:cs typeface="Georgia"/>
                <a:sym typeface="Georgia"/>
              </a:rPr>
              <a:t>$0.02</a:t>
            </a:r>
            <a:endParaRPr b="1" sz="1600">
              <a:solidFill>
                <a:srgbClr val="CCDDEE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14" name="Google Shape;214;p19"/>
          <p:cNvSpPr/>
          <p:nvPr/>
        </p:nvSpPr>
        <p:spPr>
          <a:xfrm>
            <a:off x="5897880" y="2414016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AABBCC"/>
                </a:solidFill>
                <a:latin typeface="Arial"/>
                <a:ea typeface="Arial"/>
                <a:cs typeface="Arial"/>
                <a:sym typeface="Arial"/>
              </a:rPr>
              <a:t>per verification vs $500+ bank fees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9"/>
          <p:cNvSpPr/>
          <p:nvPr/>
        </p:nvSpPr>
        <p:spPr>
          <a:xfrm>
            <a:off x="5897880" y="2688336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8A7D"/>
              </a:buClr>
              <a:buSzPts val="1600"/>
              <a:buFont typeface="Georgia"/>
              <a:buNone/>
            </a:pPr>
            <a:r>
              <a:rPr b="1" i="0" lang="en-US" sz="1600" u="none" cap="none" strike="noStrike">
                <a:solidFill>
                  <a:srgbClr val="CCDDEE"/>
                </a:solidFill>
                <a:latin typeface="Georgia"/>
                <a:ea typeface="Georgia"/>
                <a:cs typeface="Georgia"/>
                <a:sym typeface="Georgia"/>
              </a:rPr>
              <a:t>0%</a:t>
            </a:r>
            <a:endParaRPr b="0" i="0" sz="1600" u="none" cap="none" strike="noStrike">
              <a:solidFill>
                <a:srgbClr val="CCDDE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9"/>
          <p:cNvSpPr/>
          <p:nvPr/>
        </p:nvSpPr>
        <p:spPr>
          <a:xfrm>
            <a:off x="5897880" y="2889504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AABBCC"/>
                </a:solidFill>
                <a:latin typeface="Arial"/>
                <a:ea typeface="Arial"/>
                <a:cs typeface="Arial"/>
                <a:sym typeface="Arial"/>
              </a:rPr>
              <a:t>document fraud — mathematically impossible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9"/>
          <p:cNvSpPr/>
          <p:nvPr/>
        </p:nvSpPr>
        <p:spPr>
          <a:xfrm>
            <a:off x="5897880" y="3163824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8A7D"/>
              </a:buClr>
              <a:buSzPts val="1600"/>
              <a:buFont typeface="Georgia"/>
              <a:buNone/>
            </a:pPr>
            <a:r>
              <a:rPr b="1" i="0" lang="en-US" sz="1600" u="none" cap="none" strike="noStrike">
                <a:solidFill>
                  <a:srgbClr val="CCDDEE"/>
                </a:solidFill>
                <a:latin typeface="Georgia"/>
                <a:ea typeface="Georgia"/>
                <a:cs typeface="Georgia"/>
                <a:sym typeface="Georgia"/>
              </a:rPr>
              <a:t>24/7</a:t>
            </a:r>
            <a:endParaRPr b="0" i="0" sz="1600" u="none" cap="none" strike="noStrike">
              <a:solidFill>
                <a:srgbClr val="CCDDE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9"/>
          <p:cNvSpPr/>
          <p:nvPr/>
        </p:nvSpPr>
        <p:spPr>
          <a:xfrm>
            <a:off x="5897880" y="336499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AABBCC"/>
                </a:solidFill>
                <a:latin typeface="Arial"/>
                <a:ea typeface="Arial"/>
                <a:cs typeface="Arial"/>
                <a:sym typeface="Arial"/>
              </a:rPr>
              <a:t>global operation — no office hours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9"/>
          <p:cNvSpPr/>
          <p:nvPr/>
        </p:nvSpPr>
        <p:spPr>
          <a:xfrm>
            <a:off x="5897880" y="363931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8A7D"/>
              </a:buClr>
              <a:buSzPts val="1600"/>
              <a:buFont typeface="Georgia"/>
              <a:buNone/>
            </a:pPr>
            <a:r>
              <a:rPr b="1" lang="en-US" sz="1600">
                <a:solidFill>
                  <a:srgbClr val="CCDDEE"/>
                </a:solidFill>
                <a:latin typeface="Georgia"/>
                <a:ea typeface="Georgia"/>
                <a:cs typeface="Georgia"/>
                <a:sym typeface="Georgia"/>
              </a:rPr>
              <a:t>100</a:t>
            </a:r>
            <a:r>
              <a:rPr b="1" i="0" lang="en-US" sz="1600" u="none" cap="none" strike="noStrike">
                <a:solidFill>
                  <a:srgbClr val="CCDDEE"/>
                </a:solidFill>
                <a:latin typeface="Georgia"/>
                <a:ea typeface="Georgia"/>
                <a:cs typeface="Georgia"/>
                <a:sym typeface="Georgia"/>
              </a:rPr>
              <a:t>%</a:t>
            </a:r>
            <a:endParaRPr b="0" i="0" sz="1600" u="none" cap="none" strike="noStrike">
              <a:solidFill>
                <a:srgbClr val="CCDDE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9"/>
          <p:cNvSpPr/>
          <p:nvPr/>
        </p:nvSpPr>
        <p:spPr>
          <a:xfrm>
            <a:off x="5897880" y="3840480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AABBCC"/>
                </a:solidFill>
                <a:latin typeface="Arial"/>
                <a:ea typeface="Arial"/>
                <a:cs typeface="Arial"/>
                <a:sym typeface="Arial"/>
              </a:rPr>
              <a:t>audit trail — every action recorded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9"/>
          <p:cNvSpPr/>
          <p:nvPr/>
        </p:nvSpPr>
        <p:spPr>
          <a:xfrm>
            <a:off x="5715000" y="4206240"/>
            <a:ext cx="3063240" cy="6858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9"/>
          <p:cNvSpPr/>
          <p:nvPr/>
        </p:nvSpPr>
        <p:spPr>
          <a:xfrm>
            <a:off x="5897880" y="4251960"/>
            <a:ext cx="26974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DDEE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Hybrid Platform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DDEE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Crypto &amp; non-crypto users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DDEE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Same verification, same trust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A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20"/>
          <p:cNvSpPr/>
          <p:nvPr/>
        </p:nvSpPr>
        <p:spPr>
          <a:xfrm>
            <a:off x="731520" y="22860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2800"/>
              <a:buFont typeface="Georgia"/>
              <a:buNone/>
            </a:pPr>
            <a:r>
              <a:rPr b="1" i="0" lang="en-US" sz="2800" u="none" cap="none" strike="noStrike">
                <a:solidFill>
                  <a:srgbClr val="0F2B46"/>
                </a:solidFill>
                <a:latin typeface="Georgia"/>
                <a:ea typeface="Georgia"/>
                <a:cs typeface="Georgia"/>
                <a:sym typeface="Georgia"/>
              </a:rPr>
              <a:t>Global Platform &amp; Payments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0"/>
          <p:cNvSpPr/>
          <p:nvPr/>
        </p:nvSpPr>
        <p:spPr>
          <a:xfrm>
            <a:off x="731520" y="731520"/>
            <a:ext cx="7680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Merchants and retail buyers access goods directly. We connect to any payment system used in any region worldwide.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0"/>
          <p:cNvSpPr/>
          <p:nvPr/>
        </p:nvSpPr>
        <p:spPr>
          <a:xfrm>
            <a:off x="457200" y="1234440"/>
            <a:ext cx="393192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20"/>
          <p:cNvSpPr/>
          <p:nvPr/>
        </p:nvSpPr>
        <p:spPr>
          <a:xfrm>
            <a:off x="685800" y="1325880"/>
            <a:ext cx="3474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Who Uses the Platform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33" name="Google Shape;23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719072"/>
            <a:ext cx="146304" cy="146304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0"/>
          <p:cNvSpPr/>
          <p:nvPr/>
        </p:nvSpPr>
        <p:spPr>
          <a:xfrm>
            <a:off x="932688" y="164592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Retail Merchants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0"/>
          <p:cNvSpPr/>
          <p:nvPr/>
        </p:nvSpPr>
        <p:spPr>
          <a:xfrm>
            <a:off x="932688" y="187452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SME buyers place orders directly on the platform for commodities at fair market prices. Full KYC onboarding, order tracking, document access.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36" name="Google Shape;236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2359152"/>
            <a:ext cx="146304" cy="146304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20"/>
          <p:cNvSpPr/>
          <p:nvPr/>
        </p:nvSpPr>
        <p:spPr>
          <a:xfrm>
            <a:off x="932688" y="228600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Wholesale Buyers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0"/>
          <p:cNvSpPr/>
          <p:nvPr/>
        </p:nvSpPr>
        <p:spPr>
          <a:xfrm>
            <a:off x="932688" y="251460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Government agencies, cooperatives, and large importers access bulk commodities with verified quality and full supply chain transparency.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39" name="Google Shape;23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2999232"/>
            <a:ext cx="146304" cy="146304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0"/>
          <p:cNvSpPr/>
          <p:nvPr/>
        </p:nvSpPr>
        <p:spPr>
          <a:xfrm>
            <a:off x="932688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Investors &amp; Capital Partners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0"/>
          <p:cNvSpPr/>
          <p:nvPr/>
        </p:nvSpPr>
        <p:spPr>
          <a:xfrm>
            <a:off x="932688" y="315468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Participate in trade financing through the platform. Earn returns from real commodity trade margins on 45–60 day cycles.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0"/>
          <p:cNvSpPr/>
          <p:nvPr/>
        </p:nvSpPr>
        <p:spPr>
          <a:xfrm>
            <a:off x="4754880" y="1234440"/>
            <a:ext cx="393192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20"/>
          <p:cNvSpPr/>
          <p:nvPr/>
        </p:nvSpPr>
        <p:spPr>
          <a:xfrm>
            <a:off x="4983480" y="1325880"/>
            <a:ext cx="3474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Global Payment Connectivity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4" name="Google Shape;244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83480" y="1737360"/>
            <a:ext cx="146304" cy="146304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20"/>
          <p:cNvSpPr/>
          <p:nvPr/>
        </p:nvSpPr>
        <p:spPr>
          <a:xfrm>
            <a:off x="5230368" y="1700784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Bank transfers (SWIFT, SEPA, local rails)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6" name="Google Shape;246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83480" y="2048256"/>
            <a:ext cx="146304" cy="146304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0"/>
          <p:cNvSpPr/>
          <p:nvPr/>
        </p:nvSpPr>
        <p:spPr>
          <a:xfrm>
            <a:off x="5230368" y="201168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Mobile money (M-Pesa, MTN, Airtel, etc.)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8" name="Google Shape;248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83480" y="2359152"/>
            <a:ext cx="146304" cy="146304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20"/>
          <p:cNvSpPr/>
          <p:nvPr/>
        </p:nvSpPr>
        <p:spPr>
          <a:xfrm>
            <a:off x="5230368" y="232257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Cash against documents (CAD)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50" name="Google Shape;250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83480" y="2670048"/>
            <a:ext cx="146304" cy="146304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0"/>
          <p:cNvSpPr/>
          <p:nvPr/>
        </p:nvSpPr>
        <p:spPr>
          <a:xfrm>
            <a:off x="5230368" y="2633472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Letter of credit (LC)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52" name="Google Shape;252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83480" y="2980944"/>
            <a:ext cx="146304" cy="146304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0"/>
          <p:cNvSpPr/>
          <p:nvPr/>
        </p:nvSpPr>
        <p:spPr>
          <a:xfrm>
            <a:off x="5230368" y="2944368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Digital stablecoin settlement (optional)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54" name="Google Shape;254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83480" y="3291840"/>
            <a:ext cx="146304" cy="146304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0"/>
          <p:cNvSpPr/>
          <p:nvPr/>
        </p:nvSpPr>
        <p:spPr>
          <a:xfrm>
            <a:off x="5230368" y="3255264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Gold-backed payment (select markets)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56" name="Google Shape;256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83480" y="3602736"/>
            <a:ext cx="146304" cy="146304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20"/>
          <p:cNvSpPr/>
          <p:nvPr/>
        </p:nvSpPr>
        <p:spPr>
          <a:xfrm>
            <a:off x="5230368" y="356616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Multi-currency support (USD, EUR, GHS, etc.)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0"/>
          <p:cNvSpPr/>
          <p:nvPr/>
        </p:nvSpPr>
        <p:spPr>
          <a:xfrm>
            <a:off x="457200" y="3886200"/>
            <a:ext cx="8229600" cy="100584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20"/>
          <p:cNvSpPr/>
          <p:nvPr/>
        </p:nvSpPr>
        <p:spPr>
          <a:xfrm>
            <a:off x="731520" y="3977640"/>
            <a:ext cx="7680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8A7D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Hybrid Platform — Built for Everyone</a:t>
            </a:r>
            <a:endParaRPr b="0" i="0" sz="1300" u="none" cap="none" strike="noStrike">
              <a:solidFill>
                <a:srgbClr val="CCDDE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0"/>
          <p:cNvSpPr/>
          <p:nvPr/>
        </p:nvSpPr>
        <p:spPr>
          <a:xfrm>
            <a:off x="685800" y="4279392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Non-Crypto Users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0"/>
          <p:cNvSpPr/>
          <p:nvPr/>
        </p:nvSpPr>
        <p:spPr>
          <a:xfrm>
            <a:off x="685800" y="4480560"/>
            <a:ext cx="24688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AABBCC"/>
                </a:solidFill>
                <a:latin typeface="Arial"/>
                <a:ea typeface="Arial"/>
                <a:cs typeface="Arial"/>
                <a:sym typeface="Arial"/>
              </a:rPr>
              <a:t>Use bank transfers, mobile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AABBCC"/>
                </a:solidFill>
                <a:latin typeface="Arial"/>
                <a:ea typeface="Arial"/>
                <a:cs typeface="Arial"/>
                <a:sym typeface="Arial"/>
              </a:rPr>
              <a:t>money, or cash. No wallets,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AABBCC"/>
                </a:solidFill>
                <a:latin typeface="Arial"/>
                <a:ea typeface="Arial"/>
                <a:cs typeface="Arial"/>
                <a:sym typeface="Arial"/>
              </a:rPr>
              <a:t>no seed phrases needed.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0"/>
          <p:cNvSpPr/>
          <p:nvPr/>
        </p:nvSpPr>
        <p:spPr>
          <a:xfrm>
            <a:off x="3474720" y="4279392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Crypto-Native Users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0"/>
          <p:cNvSpPr/>
          <p:nvPr/>
        </p:nvSpPr>
        <p:spPr>
          <a:xfrm>
            <a:off x="3474720" y="4480560"/>
            <a:ext cx="24688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AABBCC"/>
                </a:solidFill>
                <a:latin typeface="Arial"/>
                <a:ea typeface="Arial"/>
                <a:cs typeface="Arial"/>
                <a:sym typeface="Arial"/>
              </a:rPr>
              <a:t>Use digital wallets, stablecoin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AABBCC"/>
                </a:solidFill>
                <a:latin typeface="Arial"/>
                <a:ea typeface="Arial"/>
                <a:cs typeface="Arial"/>
                <a:sym typeface="Arial"/>
              </a:rPr>
              <a:t>settlement, on-chain verification.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AABBCC"/>
                </a:solidFill>
                <a:latin typeface="Arial"/>
                <a:ea typeface="Arial"/>
                <a:cs typeface="Arial"/>
                <a:sym typeface="Arial"/>
              </a:rPr>
              <a:t>Full transparency.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0"/>
          <p:cNvSpPr/>
          <p:nvPr/>
        </p:nvSpPr>
        <p:spPr>
          <a:xfrm>
            <a:off x="6263640" y="4279392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Same Platform, Same Trust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0"/>
          <p:cNvSpPr/>
          <p:nvPr/>
        </p:nvSpPr>
        <p:spPr>
          <a:xfrm>
            <a:off x="6263640" y="4480560"/>
            <a:ext cx="24688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AABBCC"/>
                </a:solidFill>
                <a:latin typeface="Arial"/>
                <a:ea typeface="Arial"/>
                <a:cs typeface="Arial"/>
                <a:sym typeface="Arial"/>
              </a:rPr>
              <a:t>Both paths get identical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AABBCC"/>
                </a:solidFill>
                <a:latin typeface="Arial"/>
                <a:ea typeface="Arial"/>
                <a:cs typeface="Arial"/>
                <a:sym typeface="Arial"/>
              </a:rPr>
              <a:t>verification, same supply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AABBCC"/>
                </a:solidFill>
                <a:latin typeface="Arial"/>
                <a:ea typeface="Arial"/>
                <a:cs typeface="Arial"/>
                <a:sym typeface="Arial"/>
              </a:rPr>
              <a:t>chain data, same protections.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A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2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21"/>
          <p:cNvSpPr/>
          <p:nvPr/>
        </p:nvSpPr>
        <p:spPr>
          <a:xfrm>
            <a:off x="731520" y="18288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2800"/>
              <a:buFont typeface="Georgia"/>
              <a:buNone/>
            </a:pPr>
            <a:r>
              <a:rPr b="1" i="0" lang="en-US" sz="2800" u="none" cap="none" strike="noStrike">
                <a:solidFill>
                  <a:srgbClr val="0F2B46"/>
                </a:solidFill>
                <a:latin typeface="Georgia"/>
                <a:ea typeface="Georgia"/>
                <a:cs typeface="Georgia"/>
                <a:sym typeface="Georgia"/>
              </a:rPr>
              <a:t>Pilot Program — Trade Corridors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1"/>
          <p:cNvSpPr/>
          <p:nvPr/>
        </p:nvSpPr>
        <p:spPr>
          <a:xfrm>
            <a:off x="731520" y="640080"/>
            <a:ext cx="7680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Initial corridors to prove the model. The platform is global — pilot numbers represent launch phase only.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1"/>
          <p:cNvSpPr/>
          <p:nvPr/>
        </p:nvSpPr>
        <p:spPr>
          <a:xfrm>
            <a:off x="457200" y="1097280"/>
            <a:ext cx="3931920" cy="33375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21"/>
          <p:cNvSpPr/>
          <p:nvPr/>
        </p:nvSpPr>
        <p:spPr>
          <a:xfrm>
            <a:off x="457200" y="1097280"/>
            <a:ext cx="3931920" cy="36576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21"/>
          <p:cNvSpPr/>
          <p:nvPr/>
        </p:nvSpPr>
        <p:spPr>
          <a:xfrm>
            <a:off x="640080" y="1097280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SUDAN — Flagship Pilot Corridor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1"/>
          <p:cNvSpPr/>
          <p:nvPr/>
        </p:nvSpPr>
        <p:spPr>
          <a:xfrm>
            <a:off x="594360" y="1572768"/>
            <a:ext cx="10515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6B9E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Commodity</a:t>
            </a:r>
            <a:endParaRPr b="0" i="0" sz="85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1"/>
          <p:cNvSpPr/>
          <p:nvPr/>
        </p:nvSpPr>
        <p:spPr>
          <a:xfrm>
            <a:off x="1645920" y="1572768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6B9E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Volume</a:t>
            </a:r>
            <a:endParaRPr b="0" i="0" sz="85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1"/>
          <p:cNvSpPr/>
          <p:nvPr/>
        </p:nvSpPr>
        <p:spPr>
          <a:xfrm>
            <a:off x="2423160" y="1572768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6B9E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Value</a:t>
            </a:r>
            <a:endParaRPr b="0" i="0" sz="85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1"/>
          <p:cNvSpPr/>
          <p:nvPr/>
        </p:nvSpPr>
        <p:spPr>
          <a:xfrm>
            <a:off x="3063240" y="157276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6B9E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Source</a:t>
            </a:r>
            <a:endParaRPr b="0" i="0" sz="85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1"/>
          <p:cNvSpPr/>
          <p:nvPr/>
        </p:nvSpPr>
        <p:spPr>
          <a:xfrm>
            <a:off x="548640" y="1792224"/>
            <a:ext cx="3657600" cy="2560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1"/>
          <p:cNvSpPr/>
          <p:nvPr/>
        </p:nvSpPr>
        <p:spPr>
          <a:xfrm>
            <a:off x="594360" y="1810512"/>
            <a:ext cx="1051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Wheat / Flour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1"/>
          <p:cNvSpPr/>
          <p:nvPr/>
        </p:nvSpPr>
        <p:spPr>
          <a:xfrm>
            <a:off x="1645920" y="1810512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10,000 MT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1"/>
          <p:cNvSpPr/>
          <p:nvPr/>
        </p:nvSpPr>
        <p:spPr>
          <a:xfrm>
            <a:off x="2423160" y="1810512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~$4M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1"/>
          <p:cNvSpPr/>
          <p:nvPr/>
        </p:nvSpPr>
        <p:spPr>
          <a:xfrm>
            <a:off x="3063240" y="181051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Turkey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1"/>
          <p:cNvSpPr/>
          <p:nvPr/>
        </p:nvSpPr>
        <p:spPr>
          <a:xfrm>
            <a:off x="594360" y="2066544"/>
            <a:ext cx="1051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Sugar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21"/>
          <p:cNvSpPr/>
          <p:nvPr/>
        </p:nvSpPr>
        <p:spPr>
          <a:xfrm>
            <a:off x="1645920" y="2066544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10,000 MT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1"/>
          <p:cNvSpPr/>
          <p:nvPr/>
        </p:nvSpPr>
        <p:spPr>
          <a:xfrm>
            <a:off x="2423160" y="2066544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~$4M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1"/>
          <p:cNvSpPr/>
          <p:nvPr/>
        </p:nvSpPr>
        <p:spPr>
          <a:xfrm>
            <a:off x="3063240" y="206654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Brazil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1"/>
          <p:cNvSpPr/>
          <p:nvPr/>
        </p:nvSpPr>
        <p:spPr>
          <a:xfrm>
            <a:off x="548640" y="2304288"/>
            <a:ext cx="3657600" cy="2560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21"/>
          <p:cNvSpPr/>
          <p:nvPr/>
        </p:nvSpPr>
        <p:spPr>
          <a:xfrm>
            <a:off x="594360" y="2322576"/>
            <a:ext cx="1051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Milk Powder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1"/>
          <p:cNvSpPr/>
          <p:nvPr/>
        </p:nvSpPr>
        <p:spPr>
          <a:xfrm>
            <a:off x="1645920" y="2322576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20 containers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1"/>
          <p:cNvSpPr/>
          <p:nvPr/>
        </p:nvSpPr>
        <p:spPr>
          <a:xfrm>
            <a:off x="2423160" y="2322576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~$1M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1"/>
          <p:cNvSpPr/>
          <p:nvPr/>
        </p:nvSpPr>
        <p:spPr>
          <a:xfrm>
            <a:off x="3063240" y="232257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Poland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1"/>
          <p:cNvSpPr/>
          <p:nvPr/>
        </p:nvSpPr>
        <p:spPr>
          <a:xfrm>
            <a:off x="594360" y="2578608"/>
            <a:ext cx="1051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Sunflower Oil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1"/>
          <p:cNvSpPr/>
          <p:nvPr/>
        </p:nvSpPr>
        <p:spPr>
          <a:xfrm>
            <a:off x="1645920" y="257860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40 containers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1"/>
          <p:cNvSpPr/>
          <p:nvPr/>
        </p:nvSpPr>
        <p:spPr>
          <a:xfrm>
            <a:off x="2423160" y="2578608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~$1.2M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1"/>
          <p:cNvSpPr/>
          <p:nvPr/>
        </p:nvSpPr>
        <p:spPr>
          <a:xfrm>
            <a:off x="3063240" y="257860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Turkey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1"/>
          <p:cNvSpPr/>
          <p:nvPr/>
        </p:nvSpPr>
        <p:spPr>
          <a:xfrm>
            <a:off x="548640" y="2816352"/>
            <a:ext cx="3657600" cy="2560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21"/>
          <p:cNvSpPr/>
          <p:nvPr/>
        </p:nvSpPr>
        <p:spPr>
          <a:xfrm>
            <a:off x="594360" y="2834640"/>
            <a:ext cx="1051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Lentils / Pasta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1"/>
          <p:cNvSpPr/>
          <p:nvPr/>
        </p:nvSpPr>
        <p:spPr>
          <a:xfrm>
            <a:off x="1645920" y="2834640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Mixed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1"/>
          <p:cNvSpPr/>
          <p:nvPr/>
        </p:nvSpPr>
        <p:spPr>
          <a:xfrm>
            <a:off x="2423160" y="283464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~$1.3M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1"/>
          <p:cNvSpPr/>
          <p:nvPr/>
        </p:nvSpPr>
        <p:spPr>
          <a:xfrm>
            <a:off x="3063240" y="28346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Turkey/Italy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4" name="Google Shape;304;p21"/>
          <p:cNvCxnSpPr/>
          <p:nvPr/>
        </p:nvCxnSpPr>
        <p:spPr>
          <a:xfrm>
            <a:off x="594360" y="3154680"/>
            <a:ext cx="3611880" cy="0"/>
          </a:xfrm>
          <a:prstGeom prst="straightConnector1">
            <a:avLst/>
          </a:prstGeom>
          <a:noFill/>
          <a:ln cap="flat" cmpd="sng" w="9525">
            <a:solidFill>
              <a:srgbClr val="DEE2E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5" name="Google Shape;305;p21"/>
          <p:cNvSpPr/>
          <p:nvPr/>
        </p:nvSpPr>
        <p:spPr>
          <a:xfrm>
            <a:off x="594360" y="3218688"/>
            <a:ext cx="3566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Pilot cycle: ~$14–16M per cycle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1"/>
          <p:cNvSpPr/>
          <p:nvPr/>
        </p:nvSpPr>
        <p:spPr>
          <a:xfrm>
            <a:off x="594360" y="3493008"/>
            <a:ext cx="3566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Gov't demand: 30,000 MT wheat/month (~$12M/mo)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1"/>
          <p:cNvSpPr/>
          <p:nvPr/>
        </p:nvSpPr>
        <p:spPr>
          <a:xfrm>
            <a:off x="594360" y="3767328"/>
            <a:ext cx="3566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Partnership: Ministry of Investment, Republic of Sudan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1"/>
          <p:cNvSpPr/>
          <p:nvPr/>
        </p:nvSpPr>
        <p:spPr>
          <a:xfrm>
            <a:off x="594360" y="4041648"/>
            <a:ext cx="3566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Status: Government partnership, LOI in progress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1"/>
          <p:cNvSpPr/>
          <p:nvPr/>
        </p:nvSpPr>
        <p:spPr>
          <a:xfrm>
            <a:off x="4754880" y="1097280"/>
            <a:ext cx="393192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21"/>
          <p:cNvSpPr/>
          <p:nvPr/>
        </p:nvSpPr>
        <p:spPr>
          <a:xfrm>
            <a:off x="4754880" y="1097280"/>
            <a:ext cx="3931920" cy="365760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21"/>
          <p:cNvSpPr/>
          <p:nvPr/>
        </p:nvSpPr>
        <p:spPr>
          <a:xfrm>
            <a:off x="4937760" y="1097280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GHANA — Diversification Corridor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21"/>
          <p:cNvSpPr/>
          <p:nvPr/>
        </p:nvSpPr>
        <p:spPr>
          <a:xfrm>
            <a:off x="4937760" y="1572768"/>
            <a:ext cx="14630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6B9E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Commodity</a:t>
            </a:r>
            <a:endParaRPr b="0" i="0" sz="85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21"/>
          <p:cNvSpPr/>
          <p:nvPr/>
        </p:nvSpPr>
        <p:spPr>
          <a:xfrm>
            <a:off x="6400800" y="1572768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6B9E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Value</a:t>
            </a:r>
            <a:endParaRPr b="0" i="0" sz="85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1"/>
          <p:cNvSpPr/>
          <p:nvPr/>
        </p:nvSpPr>
        <p:spPr>
          <a:xfrm>
            <a:off x="7040880" y="1572768"/>
            <a:ext cx="1188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6B9E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Source</a:t>
            </a:r>
            <a:endParaRPr b="0" i="0" sz="85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1"/>
          <p:cNvSpPr/>
          <p:nvPr/>
        </p:nvSpPr>
        <p:spPr>
          <a:xfrm>
            <a:off x="4892040" y="1792224"/>
            <a:ext cx="3657600" cy="2560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21"/>
          <p:cNvSpPr/>
          <p:nvPr/>
        </p:nvSpPr>
        <p:spPr>
          <a:xfrm>
            <a:off x="4937760" y="1810512"/>
            <a:ext cx="14630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Dairy / Milk Powder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21"/>
          <p:cNvSpPr/>
          <p:nvPr/>
        </p:nvSpPr>
        <p:spPr>
          <a:xfrm>
            <a:off x="6400800" y="1810512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~$1M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1"/>
          <p:cNvSpPr/>
          <p:nvPr/>
        </p:nvSpPr>
        <p:spPr>
          <a:xfrm>
            <a:off x="7040880" y="1810512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Poland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1"/>
          <p:cNvSpPr/>
          <p:nvPr/>
        </p:nvSpPr>
        <p:spPr>
          <a:xfrm>
            <a:off x="4937760" y="2066544"/>
            <a:ext cx="14630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Chicken / Poultry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1"/>
          <p:cNvSpPr/>
          <p:nvPr/>
        </p:nvSpPr>
        <p:spPr>
          <a:xfrm>
            <a:off x="6400800" y="2066544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~$1M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1"/>
          <p:cNvSpPr/>
          <p:nvPr/>
        </p:nvSpPr>
        <p:spPr>
          <a:xfrm>
            <a:off x="7040880" y="2066544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Brazil / EU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21"/>
          <p:cNvSpPr/>
          <p:nvPr/>
        </p:nvSpPr>
        <p:spPr>
          <a:xfrm>
            <a:off x="4892040" y="2304288"/>
            <a:ext cx="3657600" cy="2560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21"/>
          <p:cNvSpPr/>
          <p:nvPr/>
        </p:nvSpPr>
        <p:spPr>
          <a:xfrm>
            <a:off x="4937760" y="2322576"/>
            <a:ext cx="14630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Sugar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1"/>
          <p:cNvSpPr/>
          <p:nvPr/>
        </p:nvSpPr>
        <p:spPr>
          <a:xfrm>
            <a:off x="6400800" y="2322576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~$4M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1"/>
          <p:cNvSpPr/>
          <p:nvPr/>
        </p:nvSpPr>
        <p:spPr>
          <a:xfrm>
            <a:off x="7040880" y="2322576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Brazil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6" name="Google Shape;326;p21"/>
          <p:cNvCxnSpPr/>
          <p:nvPr/>
        </p:nvCxnSpPr>
        <p:spPr>
          <a:xfrm>
            <a:off x="4937760" y="2633472"/>
            <a:ext cx="3611880" cy="0"/>
          </a:xfrm>
          <a:prstGeom prst="straightConnector1">
            <a:avLst/>
          </a:prstGeom>
          <a:noFill/>
          <a:ln cap="flat" cmpd="sng" w="9525">
            <a:solidFill>
              <a:srgbClr val="DEE2E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7" name="Google Shape;327;p21"/>
          <p:cNvSpPr/>
          <p:nvPr/>
        </p:nvSpPr>
        <p:spPr>
          <a:xfrm>
            <a:off x="4937760" y="2697480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Pilot cycle: ~$7M  |  0% tariff under EU–Ghana EPA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1"/>
          <p:cNvSpPr/>
          <p:nvPr/>
        </p:nvSpPr>
        <p:spPr>
          <a:xfrm>
            <a:off x="4937760" y="2907792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Lower risk — established port (Tema), proven trade route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1"/>
          <p:cNvSpPr/>
          <p:nvPr/>
        </p:nvSpPr>
        <p:spPr>
          <a:xfrm>
            <a:off x="4754880" y="3566160"/>
            <a:ext cx="3931920" cy="86868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1"/>
          <p:cNvSpPr/>
          <p:nvPr/>
        </p:nvSpPr>
        <p:spPr>
          <a:xfrm>
            <a:off x="4937760" y="3639312"/>
            <a:ext cx="3566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8A7D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EU Gateway</a:t>
            </a:r>
            <a:endParaRPr b="0" i="0" sz="1100" u="none" cap="none" strike="noStrike">
              <a:solidFill>
                <a:srgbClr val="CCDDE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21"/>
          <p:cNvSpPr/>
          <p:nvPr/>
        </p:nvSpPr>
        <p:spPr>
          <a:xfrm>
            <a:off x="4937760" y="3886200"/>
            <a:ext cx="3566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DDEE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Port of Thessaloniki — shortest transit to East Africa.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DDEE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Sofia Dry Port for rail consolidation to Central Europe.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A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2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22"/>
          <p:cNvSpPr/>
          <p:nvPr/>
        </p:nvSpPr>
        <p:spPr>
          <a:xfrm>
            <a:off x="731520" y="2286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2800"/>
              <a:buFont typeface="Georgia"/>
              <a:buNone/>
            </a:pPr>
            <a:r>
              <a:rPr b="1" i="0" lang="en-US" sz="2800" u="none" cap="none" strike="noStrike">
                <a:solidFill>
                  <a:srgbClr val="0F2B46"/>
                </a:solidFill>
                <a:latin typeface="Georgia"/>
                <a:ea typeface="Georgia"/>
                <a:cs typeface="Georgia"/>
                <a:sym typeface="Georgia"/>
              </a:rPr>
              <a:t>Business Model &amp; Revenue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2"/>
          <p:cNvSpPr/>
          <p:nvPr/>
        </p:nvSpPr>
        <p:spPr>
          <a:xfrm>
            <a:off x="457200" y="777240"/>
            <a:ext cx="2606040" cy="196596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22"/>
          <p:cNvSpPr/>
          <p:nvPr/>
        </p:nvSpPr>
        <p:spPr>
          <a:xfrm>
            <a:off x="594360" y="868680"/>
            <a:ext cx="2331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8A7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Trade Margins</a:t>
            </a:r>
            <a:endParaRPr b="0" i="0" sz="1200" u="none" cap="none" strike="noStrike">
              <a:solidFill>
                <a:srgbClr val="CCDDE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2"/>
          <p:cNvSpPr/>
          <p:nvPr/>
        </p:nvSpPr>
        <p:spPr>
          <a:xfrm>
            <a:off x="594360" y="1170432"/>
            <a:ext cx="2331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Georgia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5–8%+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2"/>
          <p:cNvSpPr/>
          <p:nvPr/>
        </p:nvSpPr>
        <p:spPr>
          <a:xfrm>
            <a:off x="594360" y="1554480"/>
            <a:ext cx="23317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DDEE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Conservative estimate per trade. We buy commodities at origin and sell at destination. Multiple cycles per year multiply annualized returns significantly.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2"/>
          <p:cNvSpPr/>
          <p:nvPr/>
        </p:nvSpPr>
        <p:spPr>
          <a:xfrm>
            <a:off x="3291840" y="777240"/>
            <a:ext cx="2606040" cy="1965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22"/>
          <p:cNvSpPr/>
          <p:nvPr/>
        </p:nvSpPr>
        <p:spPr>
          <a:xfrm>
            <a:off x="3429000" y="868680"/>
            <a:ext cx="2331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8A7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Transaction Fees</a:t>
            </a:r>
            <a:endParaRPr b="0" i="0" sz="1200" u="none" cap="none" strike="noStrike">
              <a:solidFill>
                <a:srgbClr val="CCDDE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2"/>
          <p:cNvSpPr/>
          <p:nvPr/>
        </p:nvSpPr>
        <p:spPr>
          <a:xfrm>
            <a:off x="3429000" y="1170432"/>
            <a:ext cx="2331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Georgia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1.5–2.5%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2"/>
          <p:cNvSpPr/>
          <p:nvPr/>
        </p:nvSpPr>
        <p:spPr>
          <a:xfrm>
            <a:off x="3429000" y="1554480"/>
            <a:ext cx="23317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DDEE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Platform fee per trade. Covers KYC verification, data integrity, document processing, and settlement infrastructure.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2"/>
          <p:cNvSpPr/>
          <p:nvPr/>
        </p:nvSpPr>
        <p:spPr>
          <a:xfrm>
            <a:off x="6126480" y="777240"/>
            <a:ext cx="2606040" cy="1965960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22"/>
          <p:cNvSpPr/>
          <p:nvPr/>
        </p:nvSpPr>
        <p:spPr>
          <a:xfrm>
            <a:off x="6263640" y="868680"/>
            <a:ext cx="2331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8A7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Capital Participation</a:t>
            </a:r>
            <a:endParaRPr b="0" i="0" sz="1200" u="none" cap="none" strike="noStrike">
              <a:solidFill>
                <a:srgbClr val="CCDDE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2"/>
          <p:cNvSpPr/>
          <p:nvPr/>
        </p:nvSpPr>
        <p:spPr>
          <a:xfrm>
            <a:off x="6263640" y="1170432"/>
            <a:ext cx="2331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Georgia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3–4%/cycle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2"/>
          <p:cNvSpPr/>
          <p:nvPr/>
        </p:nvSpPr>
        <p:spPr>
          <a:xfrm>
            <a:off x="6263640" y="1554480"/>
            <a:ext cx="23317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DDEE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Investors earn returns per trade cycle (45–60 days). Multiple cycles per year. Backed by real commodities, not speculation.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2"/>
          <p:cNvSpPr/>
          <p:nvPr/>
        </p:nvSpPr>
        <p:spPr>
          <a:xfrm>
            <a:off x="457200" y="2926080"/>
            <a:ext cx="8229600" cy="640080"/>
          </a:xfrm>
          <a:prstGeom prst="rect">
            <a:avLst/>
          </a:prstGeom>
          <a:solidFill>
            <a:srgbClr val="F0F7F5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22"/>
          <p:cNvSpPr/>
          <p:nvPr/>
        </p:nvSpPr>
        <p:spPr>
          <a:xfrm>
            <a:off x="640080" y="2926080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Annualized Returns: </a:t>
            </a:r>
            <a:r>
              <a:rPr b="0" i="0" lang="en-US" sz="11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5–8% margin per trade × 6–8 cycles/year = </a:t>
            </a:r>
            <a:r>
              <a:rPr b="1" i="0" lang="en-US" sz="110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30–60%+ annualized returns on deployed capital. </a:t>
            </a:r>
            <a:r>
              <a:rPr b="0" i="0" lang="en-US" sz="11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Pilot program data from Sudan projects 15–25% per trade in high-demand markets.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2"/>
          <p:cNvSpPr/>
          <p:nvPr/>
        </p:nvSpPr>
        <p:spPr>
          <a:xfrm>
            <a:off x="457200" y="37033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Pilot Program Revenue Projections (Initial Corridors Only)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2"/>
          <p:cNvSpPr/>
          <p:nvPr/>
        </p:nvSpPr>
        <p:spPr>
          <a:xfrm>
            <a:off x="457200" y="3977640"/>
            <a:ext cx="8229600" cy="256032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22"/>
          <p:cNvSpPr/>
          <p:nvPr/>
        </p:nvSpPr>
        <p:spPr>
          <a:xfrm>
            <a:off x="502920" y="39776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Period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2"/>
          <p:cNvSpPr/>
          <p:nvPr/>
        </p:nvSpPr>
        <p:spPr>
          <a:xfrm>
            <a:off x="1874520" y="39776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Trade Volume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2"/>
          <p:cNvSpPr/>
          <p:nvPr/>
        </p:nvSpPr>
        <p:spPr>
          <a:xfrm>
            <a:off x="3246120" y="397764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Trades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22"/>
          <p:cNvSpPr/>
          <p:nvPr/>
        </p:nvSpPr>
        <p:spPr>
          <a:xfrm>
            <a:off x="3977640" y="3977640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Revenue Est.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2"/>
          <p:cNvSpPr/>
          <p:nvPr/>
        </p:nvSpPr>
        <p:spPr>
          <a:xfrm>
            <a:off x="5166360" y="3977640"/>
            <a:ext cx="3474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Milestone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2"/>
          <p:cNvSpPr/>
          <p:nvPr/>
        </p:nvSpPr>
        <p:spPr>
          <a:xfrm>
            <a:off x="457200" y="4233672"/>
            <a:ext cx="82296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22"/>
          <p:cNvSpPr/>
          <p:nvPr/>
        </p:nvSpPr>
        <p:spPr>
          <a:xfrm>
            <a:off x="502920" y="423367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Year 1 — Pilot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2"/>
          <p:cNvSpPr/>
          <p:nvPr/>
        </p:nvSpPr>
        <p:spPr>
          <a:xfrm>
            <a:off x="1874520" y="423367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$40M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2"/>
          <p:cNvSpPr/>
          <p:nvPr/>
        </p:nvSpPr>
        <p:spPr>
          <a:xfrm>
            <a:off x="3246120" y="423367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4–6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2"/>
          <p:cNvSpPr/>
          <p:nvPr/>
        </p:nvSpPr>
        <p:spPr>
          <a:xfrm>
            <a:off x="3977640" y="4233672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886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$1–1.6M</a:t>
            </a:r>
            <a:endParaRPr b="0" i="0" sz="90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2"/>
          <p:cNvSpPr/>
          <p:nvPr/>
        </p:nvSpPr>
        <p:spPr>
          <a:xfrm>
            <a:off x="5166360" y="4233672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First trades, prove margins, build track record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2"/>
          <p:cNvSpPr/>
          <p:nvPr/>
        </p:nvSpPr>
        <p:spPr>
          <a:xfrm>
            <a:off x="502920" y="450799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Year 2 — Scale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2"/>
          <p:cNvSpPr/>
          <p:nvPr/>
        </p:nvSpPr>
        <p:spPr>
          <a:xfrm>
            <a:off x="1874520" y="450799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$120M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2"/>
          <p:cNvSpPr/>
          <p:nvPr/>
        </p:nvSpPr>
        <p:spPr>
          <a:xfrm>
            <a:off x="3246120" y="450799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12–15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22"/>
          <p:cNvSpPr/>
          <p:nvPr/>
        </p:nvSpPr>
        <p:spPr>
          <a:xfrm>
            <a:off x="3977640" y="4507992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886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$3.3–5.5M</a:t>
            </a:r>
            <a:endParaRPr b="0" i="0" sz="90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22"/>
          <p:cNvSpPr/>
          <p:nvPr/>
        </p:nvSpPr>
        <p:spPr>
          <a:xfrm>
            <a:off x="5166360" y="4507992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Multi-corridor, 5–7 countries, expand pipeline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2"/>
          <p:cNvSpPr/>
          <p:nvPr/>
        </p:nvSpPr>
        <p:spPr>
          <a:xfrm>
            <a:off x="457200" y="4782312"/>
            <a:ext cx="82296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22"/>
          <p:cNvSpPr/>
          <p:nvPr/>
        </p:nvSpPr>
        <p:spPr>
          <a:xfrm>
            <a:off x="502920" y="478231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Year 3 — Expand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2"/>
          <p:cNvSpPr/>
          <p:nvPr/>
        </p:nvSpPr>
        <p:spPr>
          <a:xfrm>
            <a:off x="1874520" y="478231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$175–200M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2"/>
          <p:cNvSpPr/>
          <p:nvPr/>
        </p:nvSpPr>
        <p:spPr>
          <a:xfrm>
            <a:off x="3246120" y="478231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18–25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22"/>
          <p:cNvSpPr/>
          <p:nvPr/>
        </p:nvSpPr>
        <p:spPr>
          <a:xfrm>
            <a:off x="3977640" y="4782312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886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$8.8–12.3M</a:t>
            </a:r>
            <a:endParaRPr b="0" i="0" sz="90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22"/>
          <p:cNvSpPr/>
          <p:nvPr/>
        </p:nvSpPr>
        <p:spPr>
          <a:xfrm>
            <a:off x="5166360" y="4782312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Institutional partners, new regions, full scale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A"/>
        </a:solid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23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23"/>
          <p:cNvSpPr/>
          <p:nvPr/>
        </p:nvSpPr>
        <p:spPr>
          <a:xfrm>
            <a:off x="731520" y="22860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2800"/>
              <a:buFont typeface="Georgia"/>
              <a:buNone/>
            </a:pPr>
            <a:r>
              <a:rPr b="1" i="0" lang="en-US" sz="2800" u="none" cap="none" strike="noStrike">
                <a:solidFill>
                  <a:srgbClr val="0F2B46"/>
                </a:solidFill>
                <a:latin typeface="Georgia"/>
                <a:ea typeface="Georgia"/>
                <a:cs typeface="Georgia"/>
                <a:sym typeface="Georgia"/>
              </a:rPr>
              <a:t>Market Opportunity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3"/>
          <p:cNvSpPr/>
          <p:nvPr/>
        </p:nvSpPr>
        <p:spPr>
          <a:xfrm>
            <a:off x="457200" y="822960"/>
            <a:ext cx="2606040" cy="164592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23"/>
          <p:cNvSpPr/>
          <p:nvPr/>
        </p:nvSpPr>
        <p:spPr>
          <a:xfrm>
            <a:off x="594360" y="914400"/>
            <a:ext cx="2331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Georgia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$2.6T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23"/>
          <p:cNvSpPr/>
          <p:nvPr/>
        </p:nvSpPr>
        <p:spPr>
          <a:xfrm>
            <a:off x="594360" y="1417320"/>
            <a:ext cx="2331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8A7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TAM</a:t>
            </a:r>
            <a:endParaRPr b="0" i="0" sz="1400" u="none" cap="none" strike="noStrike">
              <a:solidFill>
                <a:srgbClr val="CCDDE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3"/>
          <p:cNvSpPr/>
          <p:nvPr/>
        </p:nvSpPr>
        <p:spPr>
          <a:xfrm>
            <a:off x="594360" y="1691640"/>
            <a:ext cx="23317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DDE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Global SME trade finance gap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DDE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ICC Banking Commission 2024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3"/>
          <p:cNvSpPr/>
          <p:nvPr/>
        </p:nvSpPr>
        <p:spPr>
          <a:xfrm>
            <a:off x="3291840" y="822960"/>
            <a:ext cx="2606040" cy="16459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23"/>
          <p:cNvSpPr/>
          <p:nvPr/>
        </p:nvSpPr>
        <p:spPr>
          <a:xfrm>
            <a:off x="3429000" y="914400"/>
            <a:ext cx="2331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Georgia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$260B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23"/>
          <p:cNvSpPr/>
          <p:nvPr/>
        </p:nvSpPr>
        <p:spPr>
          <a:xfrm>
            <a:off x="3429000" y="1417320"/>
            <a:ext cx="2331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8A7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SAM</a:t>
            </a:r>
            <a:endParaRPr b="0" i="0" sz="1400" u="none" cap="none" strike="noStrike">
              <a:solidFill>
                <a:srgbClr val="CCDDE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3"/>
          <p:cNvSpPr/>
          <p:nvPr/>
        </p:nvSpPr>
        <p:spPr>
          <a:xfrm>
            <a:off x="3429000" y="1691640"/>
            <a:ext cx="23317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DDE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EU ↔ emerging market corridors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DDE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addressable from our platform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3"/>
          <p:cNvSpPr/>
          <p:nvPr/>
        </p:nvSpPr>
        <p:spPr>
          <a:xfrm>
            <a:off x="6126480" y="822960"/>
            <a:ext cx="2606040" cy="1645920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23"/>
          <p:cNvSpPr/>
          <p:nvPr/>
        </p:nvSpPr>
        <p:spPr>
          <a:xfrm>
            <a:off x="6263640" y="914400"/>
            <a:ext cx="2331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Georgia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$52–65B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3"/>
          <p:cNvSpPr/>
          <p:nvPr/>
        </p:nvSpPr>
        <p:spPr>
          <a:xfrm>
            <a:off x="6263640" y="1417320"/>
            <a:ext cx="2331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8A7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SOM</a:t>
            </a:r>
            <a:endParaRPr b="0" i="0" sz="1400" u="none" cap="none" strike="noStrike">
              <a:solidFill>
                <a:srgbClr val="CCDDE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3"/>
          <p:cNvSpPr/>
          <p:nvPr/>
        </p:nvSpPr>
        <p:spPr>
          <a:xfrm>
            <a:off x="6263640" y="1691640"/>
            <a:ext cx="23317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DDE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Africa ↔ EU corridors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DDE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initial target regions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3"/>
          <p:cNvSpPr/>
          <p:nvPr/>
        </p:nvSpPr>
        <p:spPr>
          <a:xfrm>
            <a:off x="457200" y="2651760"/>
            <a:ext cx="8229600" cy="411480"/>
          </a:xfrm>
          <a:prstGeom prst="rect">
            <a:avLst/>
          </a:prstGeom>
          <a:solidFill>
            <a:srgbClr val="F0F7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23"/>
          <p:cNvSpPr/>
          <p:nvPr/>
        </p:nvSpPr>
        <p:spPr>
          <a:xfrm>
            <a:off x="640080" y="2651760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Commodity Focus:  Agricultural Products  |  Essential Goods (FMCG)  |  Industrial Equipment  |  Construction Materials  |  Containerised Cargo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23"/>
          <p:cNvSpPr/>
          <p:nvPr/>
        </p:nvSpPr>
        <p:spPr>
          <a:xfrm>
            <a:off x="457200" y="3246120"/>
            <a:ext cx="8229600" cy="1554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23"/>
          <p:cNvSpPr/>
          <p:nvPr/>
        </p:nvSpPr>
        <p:spPr>
          <a:xfrm>
            <a:off x="685800" y="3337560"/>
            <a:ext cx="7772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Global Platform — Pilot Numbers Represent Launch Phase Only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23"/>
          <p:cNvSpPr/>
          <p:nvPr/>
        </p:nvSpPr>
        <p:spPr>
          <a:xfrm>
            <a:off x="685800" y="3657600"/>
            <a:ext cx="77724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050"/>
              <a:buFont typeface="Arial"/>
              <a:buNone/>
            </a:pPr>
            <a:r>
              <a:t/>
            </a:r>
            <a:endParaRPr b="1" sz="1050">
              <a:solidFill>
                <a:srgbClr val="0F2B46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Pilot corridors (Sudan + Ghana): </a:t>
            </a:r>
            <a:r>
              <a:rPr lang="en-US" sz="1050">
                <a:solidFill>
                  <a:srgbClr val="4A5568"/>
                </a:solidFill>
              </a:rPr>
              <a:t>$21–23M confirmed pipeline, first cycle. Sudan government demand: 30,000 MT wheat/month (~$12M/month). Pipeline is institutional-scale — execution is capital-constrained, not demand-constrained.</a:t>
            </a:r>
            <a:endParaRPr sz="1050">
              <a:solidFill>
                <a:srgbClr val="4A5568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050"/>
              <a:buFont typeface="Arial"/>
              <a:buNone/>
            </a:pPr>
            <a:br>
              <a:rPr b="0" i="0" lang="en-US" sz="10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05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Global platform: </a:t>
            </a:r>
            <a:r>
              <a:rPr lang="en-US" sz="1050">
                <a:solidFill>
                  <a:srgbClr val="4A5568"/>
                </a:solidFill>
              </a:rPr>
              <a:t>Pilot success validates expansion to LATAM, Asia, and additional African markets. Capital scales directly into volume.</a:t>
            </a:r>
            <a:endParaRPr sz="1050">
              <a:solidFill>
                <a:srgbClr val="4A5568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050"/>
              <a:buFont typeface="Arial"/>
              <a:buNone/>
            </a:pPr>
            <a:r>
              <a:t/>
            </a:r>
            <a:endParaRPr sz="1050">
              <a:solidFill>
                <a:srgbClr val="4A5568"/>
              </a:solidFill>
            </a:endParaRPr>
          </a:p>
        </p:txBody>
      </p:sp>
      <p:sp>
        <p:nvSpPr>
          <p:cNvPr id="401" name="Google Shape;401;p23"/>
          <p:cNvSpPr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Sources: ADB 2023, ICC 2024, WTO 2023, World Bank 2023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24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24"/>
          <p:cNvSpPr/>
          <p:nvPr/>
        </p:nvSpPr>
        <p:spPr>
          <a:xfrm>
            <a:off x="731520" y="22860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2800"/>
              <a:buFont typeface="Georgia"/>
              <a:buNone/>
            </a:pPr>
            <a:r>
              <a:rPr b="1" i="0" lang="en-US" sz="2800" u="none" cap="none" strike="noStrike">
                <a:solidFill>
                  <a:srgbClr val="0F2B46"/>
                </a:solidFill>
                <a:latin typeface="Georgia"/>
                <a:ea typeface="Georgia"/>
                <a:cs typeface="Georgia"/>
                <a:sym typeface="Georgia"/>
              </a:rPr>
              <a:t>Competitive Positioning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24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24"/>
          <p:cNvSpPr/>
          <p:nvPr/>
        </p:nvSpPr>
        <p:spPr>
          <a:xfrm>
            <a:off x="457200" y="82296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Capability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24"/>
          <p:cNvSpPr/>
          <p:nvPr/>
        </p:nvSpPr>
        <p:spPr>
          <a:xfrm>
            <a:off x="2377440" y="82296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Skyocean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24"/>
          <p:cNvSpPr/>
          <p:nvPr/>
        </p:nvSpPr>
        <p:spPr>
          <a:xfrm>
            <a:off x="4297680" y="822960"/>
            <a:ext cx="1325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Drip Capital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4"/>
          <p:cNvSpPr/>
          <p:nvPr/>
        </p:nvSpPr>
        <p:spPr>
          <a:xfrm>
            <a:off x="5623560" y="822960"/>
            <a:ext cx="1600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Centrifuge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24"/>
          <p:cNvSpPr/>
          <p:nvPr/>
        </p:nvSpPr>
        <p:spPr>
          <a:xfrm>
            <a:off x="7223760" y="82296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Banks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24"/>
          <p:cNvSpPr/>
          <p:nvPr/>
        </p:nvSpPr>
        <p:spPr>
          <a:xfrm>
            <a:off x="457200" y="1188720"/>
            <a:ext cx="8229600" cy="3383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24"/>
          <p:cNvSpPr/>
          <p:nvPr/>
        </p:nvSpPr>
        <p:spPr>
          <a:xfrm>
            <a:off x="502920" y="1188720"/>
            <a:ext cx="18288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Quick SME Financing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17" name="Google Shape;417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46120" y="1261872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18" name="Google Shape;41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69180" y="1261872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19" name="Google Shape;41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2220" y="1261872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20" name="Google Shape;420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863840" y="1261872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p24"/>
          <p:cNvSpPr/>
          <p:nvPr/>
        </p:nvSpPr>
        <p:spPr>
          <a:xfrm>
            <a:off x="502920" y="1527048"/>
            <a:ext cx="18288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Owns the Supply Chain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22" name="Google Shape;42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46120" y="1600200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23" name="Google Shape;423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69180" y="1600200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24" name="Google Shape;424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2220" y="1600200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25" name="Google Shape;425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863840" y="16002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24"/>
          <p:cNvSpPr/>
          <p:nvPr/>
        </p:nvSpPr>
        <p:spPr>
          <a:xfrm>
            <a:off x="457200" y="1865376"/>
            <a:ext cx="8229600" cy="3383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24"/>
          <p:cNvSpPr/>
          <p:nvPr/>
        </p:nvSpPr>
        <p:spPr>
          <a:xfrm>
            <a:off x="502920" y="1865376"/>
            <a:ext cx="18288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Earns Trade Margins (not interest)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28" name="Google Shape;4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46120" y="1938528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29" name="Google Shape;4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69180" y="1938528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30" name="Google Shape;430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2220" y="1938528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31" name="Google Shape;431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863840" y="1938528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32" name="Google Shape;432;p24"/>
          <p:cNvSpPr/>
          <p:nvPr/>
        </p:nvSpPr>
        <p:spPr>
          <a:xfrm>
            <a:off x="502920" y="2203704"/>
            <a:ext cx="18288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Digital Verification &amp; Transparency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33" name="Google Shape;433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46120" y="2276856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34" name="Google Shape;434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69180" y="2276856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35" name="Google Shape;435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2220" y="2276856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36" name="Google Shape;43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863840" y="2276856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24"/>
          <p:cNvSpPr/>
          <p:nvPr/>
        </p:nvSpPr>
        <p:spPr>
          <a:xfrm>
            <a:off x="457200" y="2542032"/>
            <a:ext cx="8229600" cy="3383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p24"/>
          <p:cNvSpPr/>
          <p:nvPr/>
        </p:nvSpPr>
        <p:spPr>
          <a:xfrm>
            <a:off x="502920" y="2542032"/>
            <a:ext cx="18288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Lower Collateral Requirements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39" name="Google Shape;439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46120" y="2615184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40" name="Google Shape;440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69180" y="2615184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41" name="Google Shape;441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2220" y="2615184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42" name="Google Shape;442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863840" y="2615184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24"/>
          <p:cNvSpPr/>
          <p:nvPr/>
        </p:nvSpPr>
        <p:spPr>
          <a:xfrm>
            <a:off x="502920" y="2880360"/>
            <a:ext cx="18288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No Interest Charged to SMEs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44" name="Google Shape;44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46120" y="2953512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45" name="Google Shape;445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69180" y="2953512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46" name="Google Shape;44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2220" y="2953512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47" name="Google Shape;447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863840" y="2953512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24"/>
          <p:cNvSpPr/>
          <p:nvPr/>
        </p:nvSpPr>
        <p:spPr>
          <a:xfrm>
            <a:off x="457200" y="3218688"/>
            <a:ext cx="8229600" cy="3383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9" name="Google Shape;449;p24"/>
          <p:cNvSpPr/>
          <p:nvPr/>
        </p:nvSpPr>
        <p:spPr>
          <a:xfrm>
            <a:off x="502920" y="3218688"/>
            <a:ext cx="18288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Global Payment Connectivity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50" name="Google Shape;450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46120" y="3291840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51" name="Google Shape;451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69180" y="3291840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52" name="Google Shape;452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2220" y="3291840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53" name="Google Shape;453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63840" y="329184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54" name="Google Shape;454;p24"/>
          <p:cNvSpPr/>
          <p:nvPr/>
        </p:nvSpPr>
        <p:spPr>
          <a:xfrm>
            <a:off x="502920" y="3557016"/>
            <a:ext cx="18288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Direct Merchant Access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55" name="Google Shape;455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46120" y="3630168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56" name="Google Shape;45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69180" y="3630168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57" name="Google Shape;457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2220" y="3630168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58" name="Google Shape;458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863840" y="3630168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59" name="Google Shape;459;p24"/>
          <p:cNvSpPr/>
          <p:nvPr/>
        </p:nvSpPr>
        <p:spPr>
          <a:xfrm>
            <a:off x="457200" y="3895344"/>
            <a:ext cx="8229600" cy="3383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24"/>
          <p:cNvSpPr/>
          <p:nvPr/>
        </p:nvSpPr>
        <p:spPr>
          <a:xfrm>
            <a:off x="502920" y="3895344"/>
            <a:ext cx="18288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Hybrid (Crypto &amp; Non-Crypto)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61" name="Google Shape;46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46120" y="3968496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62" name="Google Shape;462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69180" y="3968496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63" name="Google Shape;463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2220" y="3968496"/>
            <a:ext cx="182880" cy="1828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64" name="Google Shape;464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863840" y="3968496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65" name="Google Shape;465;p24"/>
          <p:cNvSpPr/>
          <p:nvPr/>
        </p:nvSpPr>
        <p:spPr>
          <a:xfrm>
            <a:off x="457200" y="4297680"/>
            <a:ext cx="8229600" cy="64008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24"/>
          <p:cNvSpPr/>
          <p:nvPr/>
        </p:nvSpPr>
        <p:spPr>
          <a:xfrm>
            <a:off x="640080" y="4297680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8A7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Key Differentiator: </a:t>
            </a:r>
            <a:r>
              <a:rPr b="0" i="0" lang="en-US" sz="100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Competitors either lend capital (Drip Capital, banks) or facilitate others’ financing (Centrifuge). Skyocean owns the commodity, controls the supply chain, and earns margin from trading — not interest. Failed platforms (TradeLens, Marco Polo, we.trade) didn’t own the value chain. We do.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A"/>
        </a:solidFill>
      </p:bgPr>
    </p:bg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25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25"/>
          <p:cNvSpPr/>
          <p:nvPr/>
        </p:nvSpPr>
        <p:spPr>
          <a:xfrm>
            <a:off x="731520" y="22860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2800"/>
              <a:buFont typeface="Georgia"/>
              <a:buNone/>
            </a:pPr>
            <a:r>
              <a:rPr b="1" i="0" lang="en-US" sz="2800" u="none" cap="none" strike="noStrike">
                <a:solidFill>
                  <a:srgbClr val="0F2B46"/>
                </a:solidFill>
                <a:latin typeface="Georgia"/>
                <a:ea typeface="Georgia"/>
                <a:cs typeface="Georgia"/>
                <a:sym typeface="Georgia"/>
              </a:rPr>
              <a:t>Risk Management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25"/>
          <p:cNvSpPr/>
          <p:nvPr/>
        </p:nvSpPr>
        <p:spPr>
          <a:xfrm>
            <a:off x="457200" y="822960"/>
            <a:ext cx="2606040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5" name="Google Shape;475;p25"/>
          <p:cNvSpPr/>
          <p:nvPr/>
        </p:nvSpPr>
        <p:spPr>
          <a:xfrm>
            <a:off x="457200" y="822960"/>
            <a:ext cx="2606040" cy="54864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25"/>
          <p:cNvSpPr/>
          <p:nvPr/>
        </p:nvSpPr>
        <p:spPr>
          <a:xfrm>
            <a:off x="594360" y="1005840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Buyer Default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25"/>
          <p:cNvSpPr/>
          <p:nvPr/>
        </p:nvSpPr>
        <p:spPr>
          <a:xfrm>
            <a:off x="594360" y="1325880"/>
            <a:ext cx="23317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Self-consignment: Skyocean retains title to goods. Buyer defaults = goods resold to next buyer. No capital loss.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25"/>
          <p:cNvSpPr/>
          <p:nvPr/>
        </p:nvSpPr>
        <p:spPr>
          <a:xfrm>
            <a:off x="3291840" y="822960"/>
            <a:ext cx="2606040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25"/>
          <p:cNvSpPr/>
          <p:nvPr/>
        </p:nvSpPr>
        <p:spPr>
          <a:xfrm>
            <a:off x="3291840" y="822960"/>
            <a:ext cx="2606040" cy="54864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25"/>
          <p:cNvSpPr/>
          <p:nvPr/>
        </p:nvSpPr>
        <p:spPr>
          <a:xfrm>
            <a:off x="3429000" y="1005840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Security (Sudan)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25"/>
          <p:cNvSpPr/>
          <p:nvPr/>
        </p:nvSpPr>
        <p:spPr>
          <a:xfrm>
            <a:off x="3429000" y="1325880"/>
            <a:ext cx="23317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Port Sudan under SAF control. War risk + marine cargo insurance. Egypt backup route verified. First-come-first-serve model.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25"/>
          <p:cNvSpPr/>
          <p:nvPr/>
        </p:nvSpPr>
        <p:spPr>
          <a:xfrm>
            <a:off x="6126480" y="822960"/>
            <a:ext cx="2606040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25"/>
          <p:cNvSpPr/>
          <p:nvPr/>
        </p:nvSpPr>
        <p:spPr>
          <a:xfrm>
            <a:off x="6126480" y="822960"/>
            <a:ext cx="2606040" cy="54864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25"/>
          <p:cNvSpPr/>
          <p:nvPr/>
        </p:nvSpPr>
        <p:spPr>
          <a:xfrm>
            <a:off x="6263640" y="1005840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Commodity Price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25"/>
          <p:cNvSpPr/>
          <p:nvPr/>
        </p:nvSpPr>
        <p:spPr>
          <a:xfrm>
            <a:off x="6263640" y="1325880"/>
            <a:ext cx="23317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Short cycles (45–60 days). Essential goods with stable demand (wheat, sugar, dairy). Minimal price exposure window.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25"/>
          <p:cNvSpPr/>
          <p:nvPr/>
        </p:nvSpPr>
        <p:spPr>
          <a:xfrm>
            <a:off x="457200" y="2788920"/>
            <a:ext cx="2606040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7" name="Google Shape;487;p25"/>
          <p:cNvSpPr/>
          <p:nvPr/>
        </p:nvSpPr>
        <p:spPr>
          <a:xfrm>
            <a:off x="457200" y="2788920"/>
            <a:ext cx="2606040" cy="54864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p25"/>
          <p:cNvSpPr/>
          <p:nvPr/>
        </p:nvSpPr>
        <p:spPr>
          <a:xfrm>
            <a:off x="594360" y="2971800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Financial / FX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25"/>
          <p:cNvSpPr/>
          <p:nvPr/>
        </p:nvSpPr>
        <p:spPr>
          <a:xfrm>
            <a:off x="594360" y="3291840"/>
            <a:ext cx="23317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All contracts USD-denominated. No local currency exposure. Gold accepted as alternative in select markets.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25"/>
          <p:cNvSpPr/>
          <p:nvPr/>
        </p:nvSpPr>
        <p:spPr>
          <a:xfrm>
            <a:off x="3291840" y="2788920"/>
            <a:ext cx="2606040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p25"/>
          <p:cNvSpPr/>
          <p:nvPr/>
        </p:nvSpPr>
        <p:spPr>
          <a:xfrm>
            <a:off x="3291840" y="2788920"/>
            <a:ext cx="2606040" cy="54864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25"/>
          <p:cNvSpPr/>
          <p:nvPr/>
        </p:nvSpPr>
        <p:spPr>
          <a:xfrm>
            <a:off x="3429000" y="2971800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Quality / Dispute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25"/>
          <p:cNvSpPr/>
          <p:nvPr/>
        </p:nvSpPr>
        <p:spPr>
          <a:xfrm>
            <a:off x="3429000" y="3291840"/>
            <a:ext cx="23317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Pre-shipment inspection (SGS/Bureau Veritas). Independent surveyor. ICC arbitration clause. Digital verification.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25"/>
          <p:cNvSpPr/>
          <p:nvPr/>
        </p:nvSpPr>
        <p:spPr>
          <a:xfrm>
            <a:off x="6126480" y="2788920"/>
            <a:ext cx="2606040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25"/>
          <p:cNvSpPr/>
          <p:nvPr/>
        </p:nvSpPr>
        <p:spPr>
          <a:xfrm>
            <a:off x="6126480" y="2788920"/>
            <a:ext cx="2606040" cy="54864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25"/>
          <p:cNvSpPr/>
          <p:nvPr/>
        </p:nvSpPr>
        <p:spPr>
          <a:xfrm>
            <a:off x="6263640" y="2971800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Sanctions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25"/>
          <p:cNvSpPr/>
          <p:nvPr/>
        </p:nvSpPr>
        <p:spPr>
          <a:xfrm>
            <a:off x="6263640" y="3291840"/>
            <a:ext cx="23317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Food/essential goods exempt from most sanctions. Rigorous KYC/KYB on all parties. SDN list screening. Full compliance framework.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25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9" name="Google Shape;499;p25"/>
          <p:cNvSpPr/>
          <p:nvPr/>
        </p:nvSpPr>
        <p:spPr>
          <a:xfrm>
            <a:off x="640080" y="4709160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8A7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Insurance:  Marine Cargo ~1.5%  +  War Risk ~3%  +  Warehouse ~0.5%  =  ~5% of cargo value (fully covered)</a:t>
            </a:r>
            <a:endParaRPr b="0" i="0" sz="1000" u="none" cap="none" strike="noStrike">
              <a:solidFill>
                <a:srgbClr val="CCDDE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A"/>
        </a:solidFill>
      </p:bgPr>
    </p:bg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26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6" name="Google Shape;506;p26"/>
          <p:cNvSpPr/>
          <p:nvPr/>
        </p:nvSpPr>
        <p:spPr>
          <a:xfrm>
            <a:off x="731520" y="22860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2800"/>
              <a:buFont typeface="Georgia"/>
              <a:buNone/>
            </a:pPr>
            <a:r>
              <a:rPr b="1" i="0" lang="en-US" sz="2800" u="none" cap="none" strike="noStrike">
                <a:solidFill>
                  <a:srgbClr val="0F2B46"/>
                </a:solidFill>
                <a:latin typeface="Georgia"/>
                <a:ea typeface="Georgia"/>
                <a:cs typeface="Georgia"/>
                <a:sym typeface="Georgia"/>
              </a:rPr>
              <a:t>Team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26"/>
          <p:cNvSpPr/>
          <p:nvPr/>
        </p:nvSpPr>
        <p:spPr>
          <a:xfrm>
            <a:off x="1219049" y="923549"/>
            <a:ext cx="6705900" cy="3796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1076D2"/>
              </a:gs>
              <a:gs pos="100000">
                <a:srgbClr val="093053"/>
              </a:gs>
            </a:gsLst>
            <a:path path="circle">
              <a:fillToRect b="50%" l="50%" r="50%" t="50%"/>
            </a:path>
            <a:tileRect/>
          </a:gradFill>
          <a:ln cap="flat" cmpd="sng" w="180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73050" lIns="173050" spcFirstLastPara="1" rIns="173050" wrap="square" tIns="173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49"/>
          </a:p>
        </p:txBody>
      </p:sp>
      <p:sp>
        <p:nvSpPr>
          <p:cNvPr id="508" name="Google Shape;508;p26"/>
          <p:cNvSpPr txBox="1"/>
          <p:nvPr/>
        </p:nvSpPr>
        <p:spPr>
          <a:xfrm>
            <a:off x="2815065" y="3441894"/>
            <a:ext cx="1731900" cy="7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79050" lIns="79050" spcFirstLastPara="1" rIns="79050" wrap="square" tIns="790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26">
                <a:solidFill>
                  <a:srgbClr val="FFFFFF"/>
                </a:solidFill>
                <a:latin typeface="Nunito Sans"/>
                <a:ea typeface="Nunito Sans"/>
                <a:cs typeface="Nunito Sans"/>
                <a:sym typeface="Nunito Sans"/>
              </a:rPr>
              <a:t>Alexey Deshin</a:t>
            </a:r>
            <a:br>
              <a:rPr b="1" lang="en-US" sz="1226">
                <a:solidFill>
                  <a:srgbClr val="FFFFFF"/>
                </a:solidFill>
                <a:latin typeface="Nunito Sans"/>
                <a:ea typeface="Nunito Sans"/>
                <a:cs typeface="Nunito Sans"/>
                <a:sym typeface="Nunito Sans"/>
              </a:rPr>
            </a:br>
            <a:r>
              <a:rPr b="1" lang="en-US" sz="1226">
                <a:solidFill>
                  <a:srgbClr val="FFFFFF"/>
                </a:solidFill>
                <a:latin typeface="Nunito Sans"/>
                <a:ea typeface="Nunito Sans"/>
                <a:cs typeface="Nunito Sans"/>
                <a:sym typeface="Nunito Sans"/>
              </a:rPr>
              <a:t>CGO/Co-founder</a:t>
            </a:r>
            <a:endParaRPr b="1" sz="1226">
              <a:solidFill>
                <a:srgbClr val="FFFFFF"/>
              </a:solidFill>
              <a:latin typeface="Nunito Sans"/>
              <a:ea typeface="Nunito Sans"/>
              <a:cs typeface="Nunito Sans"/>
              <a:sym typeface="Nunito Sans"/>
            </a:endParaRPr>
          </a:p>
        </p:txBody>
      </p:sp>
      <p:pic>
        <p:nvPicPr>
          <p:cNvPr id="509" name="Google Shape;509;p26" title="seb pic Larg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2769" y="2076004"/>
            <a:ext cx="1283700" cy="12837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10" name="Google Shape;510;p26" title="andrius pic Larg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69219" y="1125163"/>
            <a:ext cx="1062900" cy="10629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11" name="Google Shape;511;p26" title="gaurav pic Large.png"/>
          <p:cNvPicPr preferRelativeResize="0"/>
          <p:nvPr/>
        </p:nvPicPr>
        <p:blipFill rotWithShape="1">
          <a:blip r:embed="rId5">
            <a:alphaModFix/>
          </a:blip>
          <a:srcRect b="20431" l="0" r="0" t="4758"/>
          <a:stretch/>
        </p:blipFill>
        <p:spPr>
          <a:xfrm>
            <a:off x="4654141" y="1016865"/>
            <a:ext cx="1283700" cy="12795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512" name="Google Shape;512;p26"/>
          <p:cNvSpPr txBox="1"/>
          <p:nvPr/>
        </p:nvSpPr>
        <p:spPr>
          <a:xfrm>
            <a:off x="1258738" y="3441908"/>
            <a:ext cx="1731900" cy="7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79050" lIns="79050" spcFirstLastPara="1" rIns="79050" wrap="square" tIns="790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26">
                <a:solidFill>
                  <a:srgbClr val="FFFFFF"/>
                </a:solidFill>
                <a:latin typeface="Nunito Sans"/>
                <a:ea typeface="Nunito Sans"/>
                <a:cs typeface="Nunito Sans"/>
                <a:sym typeface="Nunito Sans"/>
              </a:rPr>
              <a:t>Sebastian Gonzalez</a:t>
            </a:r>
            <a:br>
              <a:rPr b="1" lang="en-US" sz="1226">
                <a:solidFill>
                  <a:srgbClr val="FFFFFF"/>
                </a:solidFill>
                <a:latin typeface="Nunito Sans"/>
                <a:ea typeface="Nunito Sans"/>
                <a:cs typeface="Nunito Sans"/>
                <a:sym typeface="Nunito Sans"/>
              </a:rPr>
            </a:br>
            <a:r>
              <a:rPr b="1" lang="en-US" sz="1226">
                <a:solidFill>
                  <a:srgbClr val="FFFFFF"/>
                </a:solidFill>
                <a:latin typeface="Nunito Sans"/>
                <a:ea typeface="Nunito Sans"/>
                <a:cs typeface="Nunito Sans"/>
                <a:sym typeface="Nunito Sans"/>
              </a:rPr>
              <a:t>CEO/Co-founder</a:t>
            </a:r>
            <a:endParaRPr b="1" sz="1226">
              <a:solidFill>
                <a:srgbClr val="FFFFFF"/>
              </a:solidFill>
              <a:latin typeface="Nunito Sans"/>
              <a:ea typeface="Nunito Sans"/>
              <a:cs typeface="Nunito Sans"/>
              <a:sym typeface="Nunito Sans"/>
            </a:endParaRPr>
          </a:p>
        </p:txBody>
      </p:sp>
      <p:sp>
        <p:nvSpPr>
          <p:cNvPr id="513" name="Google Shape;513;p26"/>
          <p:cNvSpPr txBox="1"/>
          <p:nvPr/>
        </p:nvSpPr>
        <p:spPr>
          <a:xfrm>
            <a:off x="4333409" y="2306353"/>
            <a:ext cx="1731900" cy="7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79050" lIns="79050" spcFirstLastPara="1" rIns="79050" wrap="square" tIns="790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26">
                <a:solidFill>
                  <a:srgbClr val="FFFFFF"/>
                </a:solidFill>
                <a:latin typeface="Nunito Sans"/>
                <a:ea typeface="Nunito Sans"/>
                <a:cs typeface="Nunito Sans"/>
                <a:sym typeface="Nunito Sans"/>
              </a:rPr>
              <a:t>Gaurav Yadav</a:t>
            </a:r>
            <a:br>
              <a:rPr b="1" lang="en-US" sz="1226">
                <a:solidFill>
                  <a:srgbClr val="FFFFFF"/>
                </a:solidFill>
                <a:latin typeface="Nunito Sans"/>
                <a:ea typeface="Nunito Sans"/>
                <a:cs typeface="Nunito Sans"/>
                <a:sym typeface="Nunito Sans"/>
              </a:rPr>
            </a:br>
            <a:r>
              <a:rPr b="1" lang="en-US" sz="1226">
                <a:solidFill>
                  <a:srgbClr val="FFFFFF"/>
                </a:solidFill>
                <a:latin typeface="Nunito Sans"/>
                <a:ea typeface="Nunito Sans"/>
                <a:cs typeface="Nunito Sans"/>
                <a:sym typeface="Nunito Sans"/>
              </a:rPr>
              <a:t>CTO</a:t>
            </a:r>
            <a:endParaRPr b="1" sz="1226">
              <a:solidFill>
                <a:srgbClr val="FFFFFF"/>
              </a:solidFill>
              <a:latin typeface="Nunito Sans"/>
              <a:ea typeface="Nunito Sans"/>
              <a:cs typeface="Nunito Sans"/>
              <a:sym typeface="Nunito Sans"/>
            </a:endParaRPr>
          </a:p>
        </p:txBody>
      </p:sp>
      <p:sp>
        <p:nvSpPr>
          <p:cNvPr id="514" name="Google Shape;514;p26"/>
          <p:cNvSpPr txBox="1"/>
          <p:nvPr/>
        </p:nvSpPr>
        <p:spPr>
          <a:xfrm>
            <a:off x="5917124" y="2306349"/>
            <a:ext cx="1731900" cy="7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79050" lIns="79050" spcFirstLastPara="1" rIns="79050" wrap="square" tIns="790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26">
                <a:solidFill>
                  <a:srgbClr val="FFFFFF"/>
                </a:solidFill>
                <a:latin typeface="Nunito Sans"/>
                <a:ea typeface="Nunito Sans"/>
                <a:cs typeface="Nunito Sans"/>
                <a:sym typeface="Nunito Sans"/>
              </a:rPr>
              <a:t>Andrius Petkevicius</a:t>
            </a:r>
            <a:br>
              <a:rPr b="1" lang="en-US" sz="1226">
                <a:solidFill>
                  <a:srgbClr val="FFFFFF"/>
                </a:solidFill>
                <a:latin typeface="Nunito Sans"/>
                <a:ea typeface="Nunito Sans"/>
                <a:cs typeface="Nunito Sans"/>
                <a:sym typeface="Nunito Sans"/>
              </a:rPr>
            </a:br>
            <a:r>
              <a:rPr b="1" lang="en-US" sz="1226">
                <a:solidFill>
                  <a:srgbClr val="FFFFFF"/>
                </a:solidFill>
                <a:latin typeface="Nunito Sans"/>
                <a:ea typeface="Nunito Sans"/>
                <a:cs typeface="Nunito Sans"/>
                <a:sym typeface="Nunito Sans"/>
              </a:rPr>
              <a:t>Legal Advisory</a:t>
            </a:r>
            <a:endParaRPr b="1" sz="1226">
              <a:solidFill>
                <a:srgbClr val="FFFFFF"/>
              </a:solidFill>
              <a:latin typeface="Nunito Sans"/>
              <a:ea typeface="Nunito Sans"/>
              <a:cs typeface="Nunito Sans"/>
              <a:sym typeface="Nunito Sans"/>
            </a:endParaRPr>
          </a:p>
        </p:txBody>
      </p:sp>
      <p:pic>
        <p:nvPicPr>
          <p:cNvPr id="515" name="Google Shape;515;p26" title="ChatGPT_Image_Feb_26__2026__11_01_37_PM-removebg-preview.png"/>
          <p:cNvPicPr preferRelativeResize="0"/>
          <p:nvPr/>
        </p:nvPicPr>
        <p:blipFill rotWithShape="1">
          <a:blip r:embed="rId6">
            <a:alphaModFix/>
          </a:blip>
          <a:srcRect b="0" l="17771" r="17771" t="0"/>
          <a:stretch/>
        </p:blipFill>
        <p:spPr>
          <a:xfrm>
            <a:off x="3039065" y="2050846"/>
            <a:ext cx="1283700" cy="13281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16" name="Google Shape;516;p26" title="photo_2026-02-28_17.41.04-removebg-preview.png"/>
          <p:cNvPicPr preferRelativeResize="0"/>
          <p:nvPr/>
        </p:nvPicPr>
        <p:blipFill rotWithShape="1">
          <a:blip r:embed="rId7">
            <a:alphaModFix/>
          </a:blip>
          <a:srcRect b="41530" l="20856" r="13763" t="-6911"/>
          <a:stretch/>
        </p:blipFill>
        <p:spPr>
          <a:xfrm>
            <a:off x="4558544" y="2840075"/>
            <a:ext cx="1347000" cy="13332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17" name="Google Shape;517;p26" title="photo_2026-02-28_17.41.01-removebg-preview.png"/>
          <p:cNvPicPr preferRelativeResize="0"/>
          <p:nvPr/>
        </p:nvPicPr>
        <p:blipFill rotWithShape="1">
          <a:blip r:embed="rId8">
            <a:alphaModFix/>
          </a:blip>
          <a:srcRect b="12298" l="0" r="0" t="14416"/>
          <a:stretch/>
        </p:blipFill>
        <p:spPr>
          <a:xfrm>
            <a:off x="6141330" y="3002967"/>
            <a:ext cx="1198200" cy="1170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A"/>
        </a:solidFill>
      </p:bgPr>
    </p:bg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27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4" name="Google Shape;524;p27"/>
          <p:cNvSpPr/>
          <p:nvPr/>
        </p:nvSpPr>
        <p:spPr>
          <a:xfrm>
            <a:off x="731520" y="22860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2800"/>
              <a:buFont typeface="Georgia"/>
              <a:buNone/>
            </a:pPr>
            <a:r>
              <a:rPr b="1" i="0" lang="en-US" sz="2800" u="none" cap="none" strike="noStrike">
                <a:solidFill>
                  <a:srgbClr val="0F2B46"/>
                </a:solidFill>
                <a:latin typeface="Georgia"/>
                <a:ea typeface="Georgia"/>
                <a:cs typeface="Georgia"/>
                <a:sym typeface="Georgia"/>
              </a:rPr>
              <a:t>Roadmap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7"/>
          <p:cNvSpPr/>
          <p:nvPr/>
        </p:nvSpPr>
        <p:spPr>
          <a:xfrm>
            <a:off x="457200" y="8229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27"/>
          <p:cNvSpPr/>
          <p:nvPr/>
        </p:nvSpPr>
        <p:spPr>
          <a:xfrm>
            <a:off x="457200" y="822960"/>
            <a:ext cx="2606040" cy="594360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27"/>
          <p:cNvSpPr/>
          <p:nvPr/>
        </p:nvSpPr>
        <p:spPr>
          <a:xfrm>
            <a:off x="594360" y="850392"/>
            <a:ext cx="2331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Q2 2026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27"/>
          <p:cNvSpPr/>
          <p:nvPr/>
        </p:nvSpPr>
        <p:spPr>
          <a:xfrm>
            <a:off x="594360" y="1097280"/>
            <a:ext cx="2331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Georgia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Launch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29" name="Google Shape;529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600200"/>
            <a:ext cx="164592" cy="164592"/>
          </a:xfrm>
          <a:prstGeom prst="rect">
            <a:avLst/>
          </a:prstGeom>
          <a:noFill/>
          <a:ln>
            <a:noFill/>
          </a:ln>
        </p:spPr>
      </p:pic>
      <p:sp>
        <p:nvSpPr>
          <p:cNvPr id="530" name="Google Shape;530;p27"/>
          <p:cNvSpPr/>
          <p:nvPr/>
        </p:nvSpPr>
        <p:spPr>
          <a:xfrm>
            <a:off x="914400" y="1554480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MVP live with first trade cycles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31" name="Google Shape;531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2103120"/>
            <a:ext cx="164592" cy="164592"/>
          </a:xfrm>
          <a:prstGeom prst="rect">
            <a:avLst/>
          </a:prstGeom>
          <a:noFill/>
          <a:ln>
            <a:noFill/>
          </a:ln>
        </p:spPr>
      </p:pic>
      <p:sp>
        <p:nvSpPr>
          <p:cNvPr id="532" name="Google Shape;532;p27"/>
          <p:cNvSpPr/>
          <p:nvPr/>
        </p:nvSpPr>
        <p:spPr>
          <a:xfrm>
            <a:off x="914400" y="2057400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Pilot program — Sudan &amp; Ghana corridors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33" name="Google Shape;533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2606040"/>
            <a:ext cx="164592" cy="164592"/>
          </a:xfrm>
          <a:prstGeom prst="rect">
            <a:avLst/>
          </a:prstGeom>
          <a:noFill/>
          <a:ln>
            <a:noFill/>
          </a:ln>
        </p:spPr>
      </p:pic>
      <p:sp>
        <p:nvSpPr>
          <p:cNvPr id="534" name="Google Shape;534;p27"/>
          <p:cNvSpPr/>
          <p:nvPr/>
        </p:nvSpPr>
        <p:spPr>
          <a:xfrm>
            <a:off x="914400" y="2560320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First revenue from trading operations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35" name="Google Shape;535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3108960"/>
            <a:ext cx="164592" cy="164592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27"/>
          <p:cNvSpPr/>
          <p:nvPr/>
        </p:nvSpPr>
        <p:spPr>
          <a:xfrm>
            <a:off x="914400" y="3063240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Active fundraising (pre-seed)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27"/>
          <p:cNvSpPr/>
          <p:nvPr/>
        </p:nvSpPr>
        <p:spPr>
          <a:xfrm>
            <a:off x="3291840" y="8229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27"/>
          <p:cNvSpPr/>
          <p:nvPr/>
        </p:nvSpPr>
        <p:spPr>
          <a:xfrm>
            <a:off x="3291840" y="822960"/>
            <a:ext cx="2606040" cy="594360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27"/>
          <p:cNvSpPr/>
          <p:nvPr/>
        </p:nvSpPr>
        <p:spPr>
          <a:xfrm>
            <a:off x="3429000" y="850392"/>
            <a:ext cx="2331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Q4 2026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27"/>
          <p:cNvSpPr/>
          <p:nvPr/>
        </p:nvSpPr>
        <p:spPr>
          <a:xfrm>
            <a:off x="3429000" y="1097280"/>
            <a:ext cx="2331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Georgia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Scale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41" name="Google Shape;541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74720" y="1600200"/>
            <a:ext cx="164592" cy="164592"/>
          </a:xfrm>
          <a:prstGeom prst="rect">
            <a:avLst/>
          </a:prstGeom>
          <a:noFill/>
          <a:ln>
            <a:noFill/>
          </a:ln>
        </p:spPr>
      </p:pic>
      <p:sp>
        <p:nvSpPr>
          <p:cNvPr id="542" name="Google Shape;542;p27"/>
          <p:cNvSpPr/>
          <p:nvPr/>
        </p:nvSpPr>
        <p:spPr>
          <a:xfrm>
            <a:off x="3749040" y="1554480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~$40M trade pipeline active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43" name="Google Shape;543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74720" y="2103120"/>
            <a:ext cx="164592" cy="164592"/>
          </a:xfrm>
          <a:prstGeom prst="rect">
            <a:avLst/>
          </a:prstGeom>
          <a:noFill/>
          <a:ln>
            <a:noFill/>
          </a:ln>
        </p:spPr>
      </p:pic>
      <p:sp>
        <p:nvSpPr>
          <p:cNvPr id="544" name="Google Shape;544;p27"/>
          <p:cNvSpPr/>
          <p:nvPr/>
        </p:nvSpPr>
        <p:spPr>
          <a:xfrm>
            <a:off x="3749040" y="2057400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Multiple corridors operational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45" name="Google Shape;545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74720" y="2606040"/>
            <a:ext cx="164592" cy="164592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27"/>
          <p:cNvSpPr/>
          <p:nvPr/>
        </p:nvSpPr>
        <p:spPr>
          <a:xfrm>
            <a:off x="3749040" y="2560320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Technology infrastructure scaled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47" name="Google Shape;547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74720" y="3108960"/>
            <a:ext cx="164592" cy="164592"/>
          </a:xfrm>
          <a:prstGeom prst="rect">
            <a:avLst/>
          </a:prstGeom>
          <a:noFill/>
          <a:ln>
            <a:noFill/>
          </a:ln>
        </p:spPr>
      </p:pic>
      <p:sp>
        <p:nvSpPr>
          <p:cNvPr id="548" name="Google Shape;548;p27"/>
          <p:cNvSpPr/>
          <p:nvPr/>
        </p:nvSpPr>
        <p:spPr>
          <a:xfrm>
            <a:off x="3749040" y="3063240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EU regulatory compliance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27"/>
          <p:cNvSpPr/>
          <p:nvPr/>
        </p:nvSpPr>
        <p:spPr>
          <a:xfrm>
            <a:off x="6126480" y="8229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27"/>
          <p:cNvSpPr/>
          <p:nvPr/>
        </p:nvSpPr>
        <p:spPr>
          <a:xfrm>
            <a:off x="6126480" y="822960"/>
            <a:ext cx="2606040" cy="59436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1" name="Google Shape;551;p27"/>
          <p:cNvSpPr/>
          <p:nvPr/>
        </p:nvSpPr>
        <p:spPr>
          <a:xfrm>
            <a:off x="6263640" y="850392"/>
            <a:ext cx="2331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Q3 2027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27"/>
          <p:cNvSpPr/>
          <p:nvPr/>
        </p:nvSpPr>
        <p:spPr>
          <a:xfrm>
            <a:off x="6263640" y="1097280"/>
            <a:ext cx="2331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Georgia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Expand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53" name="Google Shape;553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09360" y="1600200"/>
            <a:ext cx="164592" cy="164592"/>
          </a:xfrm>
          <a:prstGeom prst="rect">
            <a:avLst/>
          </a:prstGeom>
          <a:noFill/>
          <a:ln>
            <a:noFill/>
          </a:ln>
        </p:spPr>
      </p:pic>
      <p:sp>
        <p:nvSpPr>
          <p:cNvPr id="554" name="Google Shape;554;p27"/>
          <p:cNvSpPr/>
          <p:nvPr/>
        </p:nvSpPr>
        <p:spPr>
          <a:xfrm>
            <a:off x="6583680" y="1554480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Full pipeline scale ($120M+)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55" name="Google Shape;555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09360" y="2103120"/>
            <a:ext cx="164592" cy="164592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p27"/>
          <p:cNvSpPr/>
          <p:nvPr/>
        </p:nvSpPr>
        <p:spPr>
          <a:xfrm>
            <a:off x="6583680" y="2057400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Africa + LATAM corridors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57" name="Google Shape;557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09360" y="2606040"/>
            <a:ext cx="164592" cy="164592"/>
          </a:xfrm>
          <a:prstGeom prst="rect">
            <a:avLst/>
          </a:prstGeom>
          <a:noFill/>
          <a:ln>
            <a:noFill/>
          </a:ln>
        </p:spPr>
      </p:pic>
      <p:sp>
        <p:nvSpPr>
          <p:cNvPr id="558" name="Google Shape;558;p27"/>
          <p:cNvSpPr/>
          <p:nvPr/>
        </p:nvSpPr>
        <p:spPr>
          <a:xfrm>
            <a:off x="6583680" y="2560320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Institutional partnerships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59" name="Google Shape;559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09360" y="3108960"/>
            <a:ext cx="164592" cy="164592"/>
          </a:xfrm>
          <a:prstGeom prst="rect">
            <a:avLst/>
          </a:prstGeom>
          <a:noFill/>
          <a:ln>
            <a:noFill/>
          </a:ln>
        </p:spPr>
      </p:pic>
      <p:sp>
        <p:nvSpPr>
          <p:cNvPr id="560" name="Google Shape;560;p27"/>
          <p:cNvSpPr/>
          <p:nvPr/>
        </p:nvSpPr>
        <p:spPr>
          <a:xfrm>
            <a:off x="6583680" y="3063240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B2B yield platform integration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A"/>
        </a:solidFill>
      </p:bgPr>
    </p:bg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28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p28"/>
          <p:cNvSpPr/>
          <p:nvPr/>
        </p:nvSpPr>
        <p:spPr>
          <a:xfrm>
            <a:off x="731520" y="22860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2800"/>
              <a:buFont typeface="Georgia"/>
              <a:buNone/>
            </a:pPr>
            <a:r>
              <a:rPr b="1" i="0" lang="en-US" sz="2800" u="none" cap="none" strike="noStrike">
                <a:solidFill>
                  <a:srgbClr val="0F2B46"/>
                </a:solidFill>
                <a:latin typeface="Georgia"/>
                <a:ea typeface="Georgia"/>
                <a:cs typeface="Georgia"/>
                <a:sym typeface="Georgia"/>
              </a:rPr>
              <a:t>Use of Funds &amp; Investment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28"/>
          <p:cNvSpPr/>
          <p:nvPr/>
        </p:nvSpPr>
        <p:spPr>
          <a:xfrm>
            <a:off x="457200" y="822960"/>
            <a:ext cx="3931920" cy="109728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9" name="Google Shape;569;p28"/>
          <p:cNvSpPr/>
          <p:nvPr/>
        </p:nvSpPr>
        <p:spPr>
          <a:xfrm>
            <a:off x="685800" y="896112"/>
            <a:ext cx="3474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8A7D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CCDDEE"/>
                </a:solidFill>
                <a:latin typeface="Arial"/>
                <a:ea typeface="Arial"/>
                <a:cs typeface="Arial"/>
                <a:sym typeface="Arial"/>
              </a:rPr>
              <a:t>Pre-Seed Round</a:t>
            </a:r>
            <a:endParaRPr b="0" i="0" sz="1300" u="none" cap="none" strike="noStrike">
              <a:solidFill>
                <a:srgbClr val="CCDDE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28"/>
          <p:cNvSpPr/>
          <p:nvPr/>
        </p:nvSpPr>
        <p:spPr>
          <a:xfrm>
            <a:off x="685800" y="1170432"/>
            <a:ext cx="3474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$2M Target  |  $15M Pre-Money Valuation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28"/>
          <p:cNvSpPr/>
          <p:nvPr/>
        </p:nvSpPr>
        <p:spPr>
          <a:xfrm>
            <a:off x="685800" y="1417320"/>
            <a:ext cx="3474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Bootstrapped to date  |  Founder-owned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28"/>
          <p:cNvSpPr/>
          <p:nvPr/>
        </p:nvSpPr>
        <p:spPr>
          <a:xfrm>
            <a:off x="1234440" y="2148840"/>
            <a:ext cx="2286000" cy="2286000"/>
          </a:xfrm>
          <a:prstGeom prst="ellipse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3" name="Google Shape;573;p28"/>
          <p:cNvSpPr/>
          <p:nvPr/>
        </p:nvSpPr>
        <p:spPr>
          <a:xfrm>
            <a:off x="1691640" y="2606040"/>
            <a:ext cx="1371600" cy="1371600"/>
          </a:xfrm>
          <a:prstGeom prst="ellipse">
            <a:avLst/>
          </a:prstGeom>
          <a:solidFill>
            <a:srgbClr val="F7FA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4" name="Google Shape;574;p28"/>
          <p:cNvSpPr/>
          <p:nvPr/>
        </p:nvSpPr>
        <p:spPr>
          <a:xfrm>
            <a:off x="2743200" y="2286000"/>
            <a:ext cx="1463040" cy="365760"/>
          </a:xfrm>
          <a:prstGeom prst="rect">
            <a:avLst/>
          </a:prstGeom>
          <a:solidFill>
            <a:srgbClr val="F0F7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5" name="Google Shape;575;p28"/>
          <p:cNvSpPr/>
          <p:nvPr/>
        </p:nvSpPr>
        <p:spPr>
          <a:xfrm>
            <a:off x="2788920" y="2286000"/>
            <a:ext cx="1417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8A7D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● </a:t>
            </a:r>
            <a:r>
              <a:rPr b="0" i="0" lang="en-US" sz="9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Working Capital 85% ($1.7M)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28"/>
          <p:cNvSpPr/>
          <p:nvPr/>
        </p:nvSpPr>
        <p:spPr>
          <a:xfrm>
            <a:off x="2743200" y="2651760"/>
            <a:ext cx="1463040" cy="365760"/>
          </a:xfrm>
          <a:prstGeom prst="rect">
            <a:avLst/>
          </a:prstGeom>
          <a:solidFill>
            <a:srgbClr val="F0F7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7" name="Google Shape;577;p28"/>
          <p:cNvSpPr/>
          <p:nvPr/>
        </p:nvSpPr>
        <p:spPr>
          <a:xfrm>
            <a:off x="2788920" y="2651760"/>
            <a:ext cx="1417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● </a:t>
            </a:r>
            <a:r>
              <a:rPr b="0" i="0" lang="en-US" sz="95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SG&amp;A 15% ($300K)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28"/>
          <p:cNvSpPr/>
          <p:nvPr/>
        </p:nvSpPr>
        <p:spPr>
          <a:xfrm>
            <a:off x="4754880" y="822960"/>
            <a:ext cx="3931800" cy="16917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9" name="Google Shape;579;p28"/>
          <p:cNvSpPr/>
          <p:nvPr/>
        </p:nvSpPr>
        <p:spPr>
          <a:xfrm>
            <a:off x="4983480" y="914400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Equity Tiers at $15M Pre-Money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28"/>
          <p:cNvSpPr/>
          <p:nvPr/>
        </p:nvSpPr>
        <p:spPr>
          <a:xfrm>
            <a:off x="4937760" y="1280160"/>
            <a:ext cx="3566160" cy="23774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1" name="Google Shape;581;p28"/>
          <p:cNvSpPr/>
          <p:nvPr/>
        </p:nvSpPr>
        <p:spPr>
          <a:xfrm>
            <a:off x="5074920" y="1280160"/>
            <a:ext cx="1371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$150K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28"/>
          <p:cNvSpPr/>
          <p:nvPr/>
        </p:nvSpPr>
        <p:spPr>
          <a:xfrm>
            <a:off x="6446520" y="1280160"/>
            <a:ext cx="1828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886E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= 1.0% equity</a:t>
            </a:r>
            <a:endParaRPr b="0" i="0" sz="100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28"/>
          <p:cNvSpPr/>
          <p:nvPr/>
        </p:nvSpPr>
        <p:spPr>
          <a:xfrm>
            <a:off x="5074920" y="1517904"/>
            <a:ext cx="1371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$250K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28"/>
          <p:cNvSpPr/>
          <p:nvPr/>
        </p:nvSpPr>
        <p:spPr>
          <a:xfrm>
            <a:off x="6446520" y="1517904"/>
            <a:ext cx="1828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886E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= 1.6% equity</a:t>
            </a:r>
            <a:endParaRPr b="0" i="0" sz="100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28"/>
          <p:cNvSpPr/>
          <p:nvPr/>
        </p:nvSpPr>
        <p:spPr>
          <a:xfrm>
            <a:off x="4937760" y="1755648"/>
            <a:ext cx="3566160" cy="23774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28"/>
          <p:cNvSpPr/>
          <p:nvPr/>
        </p:nvSpPr>
        <p:spPr>
          <a:xfrm>
            <a:off x="5074920" y="1755648"/>
            <a:ext cx="1371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$500K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28"/>
          <p:cNvSpPr/>
          <p:nvPr/>
        </p:nvSpPr>
        <p:spPr>
          <a:xfrm>
            <a:off x="6446520" y="1755648"/>
            <a:ext cx="1828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886E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= 3.2% equity</a:t>
            </a:r>
            <a:endParaRPr b="0" i="0" sz="100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28"/>
          <p:cNvSpPr/>
          <p:nvPr/>
        </p:nvSpPr>
        <p:spPr>
          <a:xfrm>
            <a:off x="5074920" y="1993392"/>
            <a:ext cx="1371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$750K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28"/>
          <p:cNvSpPr/>
          <p:nvPr/>
        </p:nvSpPr>
        <p:spPr>
          <a:xfrm>
            <a:off x="6446520" y="1993392"/>
            <a:ext cx="1828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886E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= 4.8% equity</a:t>
            </a:r>
            <a:endParaRPr b="0" i="0" sz="100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28"/>
          <p:cNvSpPr/>
          <p:nvPr/>
        </p:nvSpPr>
        <p:spPr>
          <a:xfrm>
            <a:off x="4937760" y="2231136"/>
            <a:ext cx="3566160" cy="23774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1" name="Google Shape;591;p28"/>
          <p:cNvSpPr/>
          <p:nvPr/>
        </p:nvSpPr>
        <p:spPr>
          <a:xfrm>
            <a:off x="5074920" y="2231136"/>
            <a:ext cx="1371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$1.0M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28"/>
          <p:cNvSpPr/>
          <p:nvPr/>
        </p:nvSpPr>
        <p:spPr>
          <a:xfrm>
            <a:off x="6446520" y="2231136"/>
            <a:ext cx="1828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886E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= 6.3% equity</a:t>
            </a:r>
            <a:endParaRPr b="0" i="0" sz="100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28"/>
          <p:cNvSpPr/>
          <p:nvPr/>
        </p:nvSpPr>
        <p:spPr>
          <a:xfrm>
            <a:off x="4754875" y="2606075"/>
            <a:ext cx="3931800" cy="2169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4" name="Google Shape;594;p28"/>
          <p:cNvSpPr/>
          <p:nvPr/>
        </p:nvSpPr>
        <p:spPr>
          <a:xfrm>
            <a:off x="4983480" y="2697515"/>
            <a:ext cx="3474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B46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F2B46"/>
                </a:solidFill>
                <a:latin typeface="Arial"/>
                <a:ea typeface="Arial"/>
                <a:cs typeface="Arial"/>
                <a:sym typeface="Arial"/>
              </a:rPr>
              <a:t>Why Now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95" name="Google Shape;595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83480" y="3044987"/>
            <a:ext cx="155448" cy="155448"/>
          </a:xfrm>
          <a:prstGeom prst="rect">
            <a:avLst/>
          </a:prstGeom>
          <a:noFill/>
          <a:ln>
            <a:noFill/>
          </a:ln>
        </p:spPr>
      </p:pic>
      <p:sp>
        <p:nvSpPr>
          <p:cNvPr id="596" name="Google Shape;596;p28"/>
          <p:cNvSpPr/>
          <p:nvPr/>
        </p:nvSpPr>
        <p:spPr>
          <a:xfrm>
            <a:off x="5230368" y="3008411"/>
            <a:ext cx="3200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MVP live — platform operational today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97" name="Google Shape;597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83480" y="3346739"/>
            <a:ext cx="155448" cy="155448"/>
          </a:xfrm>
          <a:prstGeom prst="rect">
            <a:avLst/>
          </a:prstGeom>
          <a:noFill/>
          <a:ln>
            <a:noFill/>
          </a:ln>
        </p:spPr>
      </p:pic>
      <p:sp>
        <p:nvSpPr>
          <p:cNvPr id="598" name="Google Shape;598;p28"/>
          <p:cNvSpPr/>
          <p:nvPr/>
        </p:nvSpPr>
        <p:spPr>
          <a:xfrm>
            <a:off x="5230368" y="3310163"/>
            <a:ext cx="3200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Government partnership signed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99" name="Google Shape;59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83480" y="3648491"/>
            <a:ext cx="155448" cy="155448"/>
          </a:xfrm>
          <a:prstGeom prst="rect">
            <a:avLst/>
          </a:prstGeom>
          <a:noFill/>
          <a:ln>
            <a:noFill/>
          </a:ln>
        </p:spPr>
      </p:pic>
      <p:sp>
        <p:nvSpPr>
          <p:cNvPr id="600" name="Google Shape;600;p28"/>
          <p:cNvSpPr/>
          <p:nvPr/>
        </p:nvSpPr>
        <p:spPr>
          <a:xfrm>
            <a:off x="5230368" y="3611915"/>
            <a:ext cx="3200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Pilot pipeline ready — real demand confirmed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01" name="Google Shape;601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83480" y="3950243"/>
            <a:ext cx="155448" cy="155448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28"/>
          <p:cNvSpPr/>
          <p:nvPr/>
        </p:nvSpPr>
        <p:spPr>
          <a:xfrm>
            <a:off x="5230368" y="3913667"/>
            <a:ext cx="3200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Global payment connectivity built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03" name="Google Shape;603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83480" y="4251995"/>
            <a:ext cx="155448" cy="155448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28"/>
          <p:cNvSpPr/>
          <p:nvPr/>
        </p:nvSpPr>
        <p:spPr>
          <a:xfrm>
            <a:off x="5230368" y="4215419"/>
            <a:ext cx="3200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332"/>
                </a:solidFill>
                <a:latin typeface="Arial"/>
                <a:ea typeface="Arial"/>
                <a:cs typeface="Arial"/>
                <a:sym typeface="Arial"/>
              </a:rPr>
              <a:t>Trading company profitable from Year 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28"/>
          <p:cNvSpPr/>
          <p:nvPr/>
        </p:nvSpPr>
        <p:spPr>
          <a:xfrm>
            <a:off x="457200" y="4775905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800"/>
              <a:buFont typeface="Arial"/>
              <a:buNone/>
            </a:pPr>
            <a:r>
              <a:rPr b="0" i="1" lang="en-US" sz="80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Revenue projections based on analysis and assumptions. Actual results may vary. Consultation with financial experts is advised.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06" name="Google Shape;606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83480" y="4513945"/>
            <a:ext cx="155448" cy="155448"/>
          </a:xfrm>
          <a:prstGeom prst="rect">
            <a:avLst/>
          </a:prstGeom>
          <a:noFill/>
          <a:ln>
            <a:noFill/>
          </a:ln>
        </p:spPr>
      </p:pic>
      <p:sp>
        <p:nvSpPr>
          <p:cNvPr id="607" name="Google Shape;607;p28"/>
          <p:cNvSpPr/>
          <p:nvPr/>
        </p:nvSpPr>
        <p:spPr>
          <a:xfrm>
            <a:off x="5230376" y="4480525"/>
            <a:ext cx="3474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32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1A2332"/>
                </a:solidFill>
              </a:rPr>
              <a:t>Pre-seed pricing — Series A won't be at this valuation.</a:t>
            </a:r>
            <a:endParaRPr sz="1000">
              <a:solidFill>
                <a:srgbClr val="1A233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2B46"/>
        </a:solidFill>
      </p:bgPr>
    </p:bg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2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4" name="Google Shape;614;p29"/>
          <p:cNvSpPr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Georgia"/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Let’s Talk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29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AABBCC"/>
                </a:solidFill>
                <a:latin typeface="Arial"/>
                <a:ea typeface="Arial"/>
                <a:cs typeface="Arial"/>
                <a:sym typeface="Arial"/>
              </a:rPr>
              <a:t>Skyocean is bridging the $2.6 trillion trade finance gap by doing what banks can’t: owning the commodity, controlling the supply chain, and sharing the profits with investors. Our global platform connects merchants and retail buyers directly — through any payment method, in any market.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29"/>
          <p:cNvSpPr/>
          <p:nvPr/>
        </p:nvSpPr>
        <p:spPr>
          <a:xfrm>
            <a:off x="731520" y="20116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8A7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Next Steps</a:t>
            </a:r>
            <a:endParaRPr b="0" i="0" sz="140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29"/>
          <p:cNvSpPr/>
          <p:nvPr/>
        </p:nvSpPr>
        <p:spPr>
          <a:xfrm>
            <a:off x="731520" y="2377440"/>
            <a:ext cx="292608" cy="292608"/>
          </a:xfrm>
          <a:prstGeom prst="ellipse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8" name="Google Shape;618;p29"/>
          <p:cNvSpPr/>
          <p:nvPr/>
        </p:nvSpPr>
        <p:spPr>
          <a:xfrm>
            <a:off x="731520" y="2377440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29"/>
          <p:cNvSpPr/>
          <p:nvPr/>
        </p:nvSpPr>
        <p:spPr>
          <a:xfrm>
            <a:off x="1143000" y="2359152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Introductory meeting  </a:t>
            </a:r>
            <a:r>
              <a:rPr b="0" i="0" lang="en-US" sz="100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— Discuss corridors, model, pipeline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29"/>
          <p:cNvSpPr/>
          <p:nvPr/>
        </p:nvSpPr>
        <p:spPr>
          <a:xfrm>
            <a:off x="731520" y="2761488"/>
            <a:ext cx="292608" cy="292608"/>
          </a:xfrm>
          <a:prstGeom prst="ellipse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29"/>
          <p:cNvSpPr/>
          <p:nvPr/>
        </p:nvSpPr>
        <p:spPr>
          <a:xfrm>
            <a:off x="731520" y="2761488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29"/>
          <p:cNvSpPr/>
          <p:nvPr/>
        </p:nvSpPr>
        <p:spPr>
          <a:xfrm>
            <a:off x="1143000" y="274320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Structure discussion  </a:t>
            </a:r>
            <a:r>
              <a:rPr b="0" i="0" lang="en-US" sz="100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— Equity, trade finance, or hybrid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29"/>
          <p:cNvSpPr/>
          <p:nvPr/>
        </p:nvSpPr>
        <p:spPr>
          <a:xfrm>
            <a:off x="731520" y="3145536"/>
            <a:ext cx="292608" cy="292608"/>
          </a:xfrm>
          <a:prstGeom prst="ellipse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4" name="Google Shape;624;p29"/>
          <p:cNvSpPr/>
          <p:nvPr/>
        </p:nvSpPr>
        <p:spPr>
          <a:xfrm>
            <a:off x="731520" y="3145536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29"/>
          <p:cNvSpPr/>
          <p:nvPr/>
        </p:nvSpPr>
        <p:spPr>
          <a:xfrm>
            <a:off x="1143000" y="3127248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Due diligence  </a:t>
            </a:r>
            <a:r>
              <a:rPr b="0" i="0" lang="en-US" sz="100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— Full data room access, platform demo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29"/>
          <p:cNvSpPr/>
          <p:nvPr/>
        </p:nvSpPr>
        <p:spPr>
          <a:xfrm>
            <a:off x="731520" y="3529584"/>
            <a:ext cx="292608" cy="292608"/>
          </a:xfrm>
          <a:prstGeom prst="ellipse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29"/>
          <p:cNvSpPr/>
          <p:nvPr/>
        </p:nvSpPr>
        <p:spPr>
          <a:xfrm>
            <a:off x="731520" y="3529584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29"/>
          <p:cNvSpPr/>
          <p:nvPr/>
        </p:nvSpPr>
        <p:spPr>
          <a:xfrm>
            <a:off x="1143000" y="3511296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Term sheet  </a:t>
            </a:r>
            <a:r>
              <a:rPr b="0" i="0" lang="en-US" sz="100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— Commercial terms, governance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29"/>
          <p:cNvSpPr/>
          <p:nvPr/>
        </p:nvSpPr>
        <p:spPr>
          <a:xfrm>
            <a:off x="731520" y="3913632"/>
            <a:ext cx="292608" cy="292608"/>
          </a:xfrm>
          <a:prstGeom prst="ellipse">
            <a:avLst/>
          </a:prstGeom>
          <a:solidFill>
            <a:srgbClr val="0C53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0" name="Google Shape;630;p29"/>
          <p:cNvSpPr/>
          <p:nvPr/>
        </p:nvSpPr>
        <p:spPr>
          <a:xfrm>
            <a:off x="731520" y="3913632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29"/>
          <p:cNvSpPr/>
          <p:nvPr/>
        </p:nvSpPr>
        <p:spPr>
          <a:xfrm>
            <a:off x="1143000" y="3895344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First trade  </a:t>
            </a:r>
            <a:r>
              <a:rPr b="0" i="0" lang="en-US" sz="100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— Capital deployed, trade cycle begins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32" name="Google Shape;632;p29"/>
          <p:cNvCxnSpPr/>
          <p:nvPr/>
        </p:nvCxnSpPr>
        <p:spPr>
          <a:xfrm>
            <a:off x="731520" y="4343400"/>
            <a:ext cx="7680960" cy="0"/>
          </a:xfrm>
          <a:prstGeom prst="straightConnector1">
            <a:avLst/>
          </a:prstGeom>
          <a:noFill/>
          <a:ln cap="flat" cmpd="sng" w="12700">
            <a:solidFill>
              <a:srgbClr val="163B5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29"/>
          <p:cNvSpPr/>
          <p:nvPr/>
        </p:nvSpPr>
        <p:spPr>
          <a:xfrm>
            <a:off x="731520" y="4480560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Sebastian Gonzalez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29"/>
          <p:cNvSpPr/>
          <p:nvPr/>
        </p:nvSpPr>
        <p:spPr>
          <a:xfrm>
            <a:off x="731520" y="4663440"/>
            <a:ext cx="2743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8A7D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CEO / Co-founder</a:t>
            </a:r>
            <a:endParaRPr b="0" i="0" sz="90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29"/>
          <p:cNvSpPr/>
          <p:nvPr/>
        </p:nvSpPr>
        <p:spPr>
          <a:xfrm>
            <a:off x="731520" y="4828032"/>
            <a:ext cx="2743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sebastian@skyocean.io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29"/>
          <p:cNvSpPr/>
          <p:nvPr/>
        </p:nvSpPr>
        <p:spPr>
          <a:xfrm>
            <a:off x="3474720" y="4480560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Alexey Deshin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29"/>
          <p:cNvSpPr/>
          <p:nvPr/>
        </p:nvSpPr>
        <p:spPr>
          <a:xfrm>
            <a:off x="3474720" y="4663440"/>
            <a:ext cx="2743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8A7D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CGO / Co-founder</a:t>
            </a:r>
            <a:endParaRPr b="0" i="0" sz="90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29"/>
          <p:cNvSpPr/>
          <p:nvPr/>
        </p:nvSpPr>
        <p:spPr>
          <a:xfrm>
            <a:off x="3474720" y="4828032"/>
            <a:ext cx="2743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alexey@skyocean.io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29"/>
          <p:cNvSpPr/>
          <p:nvPr/>
        </p:nvSpPr>
        <p:spPr>
          <a:xfrm>
            <a:off x="6217920" y="4480560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Elias Nartey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29"/>
          <p:cNvSpPr/>
          <p:nvPr/>
        </p:nvSpPr>
        <p:spPr>
          <a:xfrm>
            <a:off x="6217920" y="4663440"/>
            <a:ext cx="2743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8A7D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C5392"/>
                </a:solidFill>
                <a:latin typeface="Arial"/>
                <a:ea typeface="Arial"/>
                <a:cs typeface="Arial"/>
                <a:sym typeface="Arial"/>
              </a:rPr>
              <a:t>PR &amp; Communications</a:t>
            </a:r>
            <a:endParaRPr b="0" i="0" sz="900" u="none" cap="none" strike="noStrike">
              <a:solidFill>
                <a:srgbClr val="0C539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" name="Google Shape;641;p29"/>
          <p:cNvSpPr/>
          <p:nvPr/>
        </p:nvSpPr>
        <p:spPr>
          <a:xfrm>
            <a:off x="6217920" y="4828032"/>
            <a:ext cx="2743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elias@skyocean.io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C5392"/>
      </a:dk1>
      <a:lt1>
        <a:srgbClr val="FFFFFF"/>
      </a:lt1>
      <a:dk2>
        <a:srgbClr val="595959"/>
      </a:dk2>
      <a:lt2>
        <a:srgbClr val="EEEEEE"/>
      </a:lt2>
      <a:accent1>
        <a:srgbClr val="3B82F6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41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