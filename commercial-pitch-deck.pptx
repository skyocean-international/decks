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Nuni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-regular.fntdata"/><Relationship Id="rId11" Type="http://schemas.openxmlformats.org/officeDocument/2006/relationships/slide" Target="slides/slide7.xml"/><Relationship Id="rId22" Type="http://schemas.openxmlformats.org/officeDocument/2006/relationships/font" Target="fonts/NunitoSans-italic.fntdata"/><Relationship Id="rId10" Type="http://schemas.openxmlformats.org/officeDocument/2006/relationships/slide" Target="slides/slide6.xml"/><Relationship Id="rId21" Type="http://schemas.openxmlformats.org/officeDocument/2006/relationships/font" Target="fonts/Nunito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Nunito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e9a34a8a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e9a34a8a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4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Relationship Id="rId6" Type="http://schemas.openxmlformats.org/officeDocument/2006/relationships/image" Target="../media/image92.png"/><Relationship Id="rId7" Type="http://schemas.openxmlformats.org/officeDocument/2006/relationships/image" Target="../media/image82.png"/><Relationship Id="rId8" Type="http://schemas.openxmlformats.org/officeDocument/2006/relationships/image" Target="../media/image9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 title="VERTICAL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338" y="524975"/>
            <a:ext cx="2067325" cy="1275675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st="9525">
              <a:srgbClr val="000000">
                <a:alpha val="50000"/>
              </a:srgbClr>
            </a:outerShdw>
          </a:effectLst>
        </p:spPr>
      </p:pic>
      <p:sp>
        <p:nvSpPr>
          <p:cNvPr id="62" name="Google Shape;62;p15"/>
          <p:cNvSpPr/>
          <p:nvPr/>
        </p:nvSpPr>
        <p:spPr>
          <a:xfrm>
            <a:off x="1491150" y="2073675"/>
            <a:ext cx="58680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69"/>
              <a:buFont typeface="Georgia"/>
              <a:buNone/>
            </a:pPr>
            <a:r>
              <a:rPr b="0" i="0" lang="en-US" sz="3369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Global Commodity Trading</a:t>
            </a:r>
            <a:endParaRPr b="0" i="0" sz="3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69"/>
              <a:buFont typeface="Georgia"/>
              <a:buNone/>
            </a:pPr>
            <a:r>
              <a:rPr b="0" i="0" lang="en-US" sz="3369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Supply Chain Finance</a:t>
            </a:r>
            <a:endParaRPr b="0" i="0" sz="3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491150" y="3320672"/>
            <a:ext cx="6161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82"/>
              <a:buFont typeface="Arial"/>
              <a:buNone/>
            </a:pPr>
            <a:r>
              <a:rPr lang="en-US" sz="882">
                <a:solidFill>
                  <a:srgbClr val="8899AA"/>
                </a:solidFill>
              </a:rPr>
              <a:t>Physical</a:t>
            </a:r>
            <a:r>
              <a:rPr b="0" i="0" lang="en-US" sz="1123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82">
                <a:solidFill>
                  <a:srgbClr val="8899AA"/>
                </a:solidFill>
              </a:rPr>
              <a:t>Trading  |  Verified Supply Chains  |  Global Payment Connectivity</a:t>
            </a:r>
            <a:endParaRPr sz="882">
              <a:solidFill>
                <a:srgbClr val="8899AA"/>
              </a:solidFill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1491150" y="3797465"/>
            <a:ext cx="1833900" cy="0"/>
          </a:xfrm>
          <a:prstGeom prst="straightConnector1">
            <a:avLst/>
          </a:prstGeom>
          <a:noFill/>
          <a:ln cap="flat" cmpd="sng" w="203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/>
          <p:nvPr/>
        </p:nvSpPr>
        <p:spPr>
          <a:xfrm>
            <a:off x="1491150" y="3944170"/>
            <a:ext cx="44013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82"/>
              <a:buFont typeface="Arial"/>
              <a:buNone/>
            </a:pPr>
            <a:r>
              <a:rPr b="0" i="0" lang="en-US" sz="882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March 2026  |  Confidential</a:t>
            </a:r>
            <a:endParaRPr b="0" i="0" sz="8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9144000" cy="3660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731520" y="22860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Executive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731520" y="777240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Skyocean is a global commodity trading platform that buys, ships, and sells physical goods. We connect merchants and retail buyers directly to verified supply chains. Our hybrid platform serves both crypto and non-crypto users through any payment method worldwide.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57200" y="1554480"/>
            <a:ext cx="19659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57200" y="1554480"/>
            <a:ext cx="1965900" cy="5490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594360" y="1719072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MVP Live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94360" y="21488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Platform Status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94360" y="23774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Operational &amp; accepting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06040" y="1554480"/>
            <a:ext cx="19659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606040" y="1554480"/>
            <a:ext cx="1965900" cy="5490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743200" y="1719072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5–8%+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743200" y="21488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Margin Per Trade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743200" y="23774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Conservative est. (45–60 day cycle)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754880" y="1554480"/>
            <a:ext cx="19659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754880" y="1554480"/>
            <a:ext cx="1965900" cy="5490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892040" y="1719072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Hybrid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892040" y="21488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Platform Model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92040" y="23774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Crypto &amp; non-crypto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903720" y="1554480"/>
            <a:ext cx="19659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903720" y="1554480"/>
            <a:ext cx="1965900" cy="5490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40880" y="1719072"/>
            <a:ext cx="16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15 yrs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040880" y="21488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Founder Experience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040880" y="2377440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Commodity trading operations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7200" y="3200400"/>
            <a:ext cx="3931800" cy="164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85800" y="329184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Platform Highlights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63931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960120" y="3593592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MVP live — accepting merchants &amp; investors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91363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960120" y="3867912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Hybrid platform — crypto and traditional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18795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960120" y="4142232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Global payment connectivity — any method, any region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46227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960120" y="4416552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Direct merchant access — retail &amp; wholesale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4880" y="3200400"/>
            <a:ext cx="3931800" cy="164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983480" y="329184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Key Partnerships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6576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5230368" y="3602736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Government of Sudan 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Essential commodity imports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400507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5230368" y="395020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Port of Thessaloniki (ThPA) 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EU logistics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435254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5230368" y="42976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World Trade Center Accra 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Ghana trade corridor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Skyocean owns the commodity at every stage. Merchants and retail buyers access goods directly through our platform.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57200" y="1280160"/>
            <a:ext cx="19659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1143000" y="1417320"/>
            <a:ext cx="594360" cy="594360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1143000" y="14173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94360" y="21488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Buyer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94360" y="246888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Merchant or retail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buyer places order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directly on platform.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880" y="2103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2651760" y="1280160"/>
            <a:ext cx="19659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3337560" y="1417320"/>
            <a:ext cx="594360" cy="594360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3337560" y="14173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788920" y="21488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We Procure &amp; 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788920" y="246888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Skyocean buys the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commodity. We retain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title throughout.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2103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4846320" y="1280160"/>
            <a:ext cx="19659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532120" y="1417320"/>
            <a:ext cx="594360" cy="594360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532120" y="14173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983480" y="21488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Verified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983480" y="246888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Quality inspection.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Digital verification.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Payment on delivery.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2103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7040880" y="1280160"/>
            <a:ext cx="19659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726680" y="1417320"/>
            <a:ext cx="594360" cy="594360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726680" y="14173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178040" y="21488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Returns Generated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178040" y="246888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Trade margin earned.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Capital recycled 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next trade cycle.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57200" y="3520440"/>
            <a:ext cx="3931920" cy="12344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40080" y="36118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Traditional Trade Finance</a:t>
            </a:r>
            <a:endParaRPr b="0" i="0" sz="11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40080" y="388620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Bank lends money → charges interest → borrower repays or defaults → bank loses everything. Requires 150%+ collateral. 30–45 day processing.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754880" y="3520440"/>
            <a:ext cx="3931920" cy="123444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937760" y="36118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Skyocean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937760" y="388620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FF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8FFF4"/>
                </a:solidFill>
                <a:latin typeface="Arial"/>
                <a:ea typeface="Arial"/>
                <a:cs typeface="Arial"/>
                <a:sym typeface="Arial"/>
              </a:rPr>
              <a:t>We buy the commodity → ship to buyer → buyer pays trade price → if buyer defaults, we resell. No lending, no interest, no collateral. Goods are the collateral.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The Problem We Solve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$2.6 trillion trade finance gap   |   70% first-time applicants rejected   |   40% rejection rate in Africa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57200" y="1508760"/>
            <a:ext cx="3931920" cy="3246120"/>
          </a:xfrm>
          <a:prstGeom prst="rect">
            <a:avLst/>
          </a:prstGeom>
          <a:solidFill>
            <a:srgbClr val="FFF8F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31520" y="162763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4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C4444"/>
                </a:solidFill>
                <a:latin typeface="Arial"/>
                <a:ea typeface="Arial"/>
                <a:cs typeface="Arial"/>
                <a:sym typeface="Arial"/>
              </a:rPr>
              <a:t>Why Banks Can’t Close the 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0116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1024128" y="1965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No supply chain visibility — betting on strangers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4505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1024128" y="240487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Usury caps (8–15%) make risky trades unprofitable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88950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1024128" y="284378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Credit assessment costs exceed profit on small deals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3284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1024128" y="328269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Binary outcome: borrower pays or total loss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7673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1024128" y="372160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Cannot price high-risk markets appropriately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2062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1024128" y="4160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Seller payment gaps from buyer defaults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754880" y="1508760"/>
            <a:ext cx="3931920" cy="3246120"/>
          </a:xfrm>
          <a:prstGeom prst="rect">
            <a:avLst/>
          </a:prstGeom>
          <a:solidFill>
            <a:srgbClr val="F0FFF8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029200" y="162763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Skyocean’s Approach</a:t>
            </a:r>
            <a:endParaRPr b="0" i="0" sz="13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0116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5321808" y="1965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We own the commodity — full supply chain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4505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5321808" y="240487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Pricing through trade margin, not interest 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88950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5321808" y="284378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Self-consignment eliminates buyer credit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3284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5321808" y="328269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Buyer defaults? We resell to next buyer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7673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5321808" y="372160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Digitally verified supply chain data for all parties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42062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5321808" y="4160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Direct merchant access — no intermediaries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Verification Technology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Every shipment is digitally verified. Documents are tamper-proof. Payments release automatically when conditions are met.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57200" y="1234440"/>
            <a:ext cx="5029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5727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1371600" y="13075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Document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1371600" y="158191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Every document (bill of lading, quality inspection, customs clearance) gets a unique digital fingerprint. Cannot be forged, altered, or disputed. Verified in seconds, not weeks.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57200" y="2404872"/>
            <a:ext cx="5029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432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/>
          <p:nvPr/>
        </p:nvSpPr>
        <p:spPr>
          <a:xfrm>
            <a:off x="1371600" y="24780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Decentralized Data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1371600" y="2752344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Trade data is stored across multiple independent nodes worldwide — not on our servers. No single point of failure. No one can alter records. Enterprise-grade technology used by Walmart, Swiss Railways, and major logistics companies.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57200" y="3575304"/>
            <a:ext cx="5029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3913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1371600" y="36484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Automated Settlement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1371600" y="392277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Payments release automatically when verified milestones are confirmed: goods shipped, quality inspected, customs cleared, delivery confirmed. No manual intervention. No disputes.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715000" y="1234440"/>
            <a:ext cx="3063300" cy="36576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DDE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897880" y="13716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3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897880" y="173736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i="0" lang="en-US" sz="1600" u="none" cap="none" strike="noStrike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US" sz="1600" u="none" cap="none" strike="noStrike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sec</a:t>
            </a:r>
            <a:endParaRPr b="0" i="0" sz="16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897880" y="193852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verification vs 5–10 days at banks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897880" y="2212848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$0.02</a:t>
            </a:r>
            <a:endParaRPr b="1" sz="1600">
              <a:solidFill>
                <a:srgbClr val="CCDDE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897880" y="241401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per verification vs $500+ bank fees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897880" y="268833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0%</a:t>
            </a:r>
            <a:endParaRPr b="0" i="0" sz="16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5897880" y="28895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document fraud — mathematically impossible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897880" y="316382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24/7</a:t>
            </a:r>
            <a:endParaRPr b="0" i="0" sz="16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897880" y="336499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global operation — no office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897880" y="363931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100</a:t>
            </a:r>
            <a:r>
              <a:rPr b="1" i="0" lang="en-US" sz="1600" u="none" cap="none" strike="noStrike">
                <a:solidFill>
                  <a:srgbClr val="CCDDEE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16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897880" y="384048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audit trail — every action recorded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5715000" y="4206240"/>
            <a:ext cx="3063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5897880" y="425196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Hybrid Platform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Crypto &amp; non-crypto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Same verification, same trust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Global Platform &amp; Payments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Merchants and retail buyers access goods directly. We connect to any payment system used in any region worldwide.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57200" y="123444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85800" y="13258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Who Uses the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1907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/>
          <p:nvPr/>
        </p:nvSpPr>
        <p:spPr>
          <a:xfrm>
            <a:off x="932688" y="16459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Retail Merchants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32688" y="1874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SME buyers place orders directly on the platform for commodities at fair market prices. Full KYC onboarding, order tracking, document access.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35915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/>
          <p:nvPr/>
        </p:nvSpPr>
        <p:spPr>
          <a:xfrm>
            <a:off x="932688" y="22860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Wholesale Buyers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32688" y="2514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Government agencies, cooperatives, and large importers access bulk commodities with verified quality and full supply chain transparency.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99923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/>
          <p:nvPr/>
        </p:nvSpPr>
        <p:spPr>
          <a:xfrm>
            <a:off x="932688" y="2926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Investors &amp; Capital Partners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932688" y="3154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Participate in trade financing through the platform. Earn returns from real commodity trade margins on 45–60 day cycles.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754880" y="123444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4983480" y="13258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Global Payment Connectivity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7373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/>
          <p:nvPr/>
        </p:nvSpPr>
        <p:spPr>
          <a:xfrm>
            <a:off x="5230368" y="170078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Bank transfers (SWIFT, SEPA, local rails)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0482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/>
          <p:nvPr/>
        </p:nvSpPr>
        <p:spPr>
          <a:xfrm>
            <a:off x="5230368" y="2011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Mobile money (M-Pesa, MTN, Airtel,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35915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/>
          <p:nvPr/>
        </p:nvSpPr>
        <p:spPr>
          <a:xfrm>
            <a:off x="5230368" y="232257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Cash against documents (CAD)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67004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/>
          <p:nvPr/>
        </p:nvSpPr>
        <p:spPr>
          <a:xfrm>
            <a:off x="5230368" y="26334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Letter of credit (LC)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98094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/>
          <p:nvPr/>
        </p:nvSpPr>
        <p:spPr>
          <a:xfrm>
            <a:off x="5230368" y="2944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Digital stablecoin settlement (optional)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29184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/>
          <p:nvPr/>
        </p:nvSpPr>
        <p:spPr>
          <a:xfrm>
            <a:off x="5230368" y="32552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Gold-backed payment (select markets)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60273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/>
          <p:nvPr/>
        </p:nvSpPr>
        <p:spPr>
          <a:xfrm>
            <a:off x="5230368" y="3566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Multi-currency support (USD, EUR, GHS,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731520" y="397764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Hybrid Platform — Built for Everyone</a:t>
            </a:r>
            <a:endParaRPr b="0" i="0" sz="13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85800" y="427939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Non-Crypto Users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85800" y="44805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Use bank transfers, mobile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money, or cash. No wallets,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no seed phrases needed.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474720" y="427939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Crypto-Native Users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3474720" y="44805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Use digital wallets, stablecoin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settlement, on-chain verification.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Full transparency.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6263640" y="427939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Platform, Same Trust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6263640" y="44805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Both paths get identical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verification, same supply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chain data, same protections.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Pilot Program — Trade Corridors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31520" y="6400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Initial corridors to prove the model. The platform is global — pilot numbers represent launch phase only.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57200" y="1097280"/>
            <a:ext cx="3931920" cy="3337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SUDAN — Flagship Pilot Corridor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94360" y="1572768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Commodity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1645920" y="157276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2423160" y="15727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3063240" y="157276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548640" y="1792224"/>
            <a:ext cx="36576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594360" y="181051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Wheat / Flour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645920" y="181051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10,000 MT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2423160" y="181051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~$4M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3063240" y="181051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Turkey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94360" y="206654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Sugar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645920" y="2066544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10,000 MT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2423160" y="206654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~$4M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3063240" y="2066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Brazil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548640" y="2304288"/>
            <a:ext cx="36576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94360" y="232257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Milk Powder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645920" y="232257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20 containers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423160" y="232257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~$1M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3063240" y="232257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Poland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594360" y="257860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Sunflower Oil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1645920" y="2578608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40 containers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423160" y="25786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~$1.2M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063240" y="25786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Turkey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48640" y="2816352"/>
            <a:ext cx="36576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94360" y="283464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Lentils / Pasta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645920" y="283464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Mixed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2423160" y="283464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~$1.3M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063240" y="2834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Turkey/Italy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594360" y="3154680"/>
            <a:ext cx="361188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21"/>
          <p:cNvSpPr/>
          <p:nvPr/>
        </p:nvSpPr>
        <p:spPr>
          <a:xfrm>
            <a:off x="594360" y="32186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Pilot cycle: ~$14–16M per 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94360" y="34930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Gov't demand: 30,000 MT wheat/month (~$12M/mo)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94360" y="37673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Partnership: Ministry of Investment, Republic of Sudan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594360" y="404164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Status: Government partnership, </a:t>
            </a:r>
            <a:r>
              <a:rPr lang="en-US" sz="900">
                <a:solidFill>
                  <a:srgbClr val="4A5568"/>
                </a:solidFill>
              </a:rPr>
              <a:t>MOU signed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GHANA — Diversification Corridor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937760" y="157276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Commodity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6400800" y="15727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7040880" y="1572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9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85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892040" y="1792224"/>
            <a:ext cx="36576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4937760" y="18105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Dairy / Milk Powder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6400800" y="181051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~$1M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7040880" y="18105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Poland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4937760" y="20665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Chicken / Poultry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6400800" y="206654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~$1M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7040880" y="206654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Brazil / EU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4892040" y="2304288"/>
            <a:ext cx="36576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4937760" y="232257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Sugar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6400800" y="232257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~$4M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7040880" y="232257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Brazil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>
            <a:off x="4937760" y="2633472"/>
            <a:ext cx="361188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1"/>
          <p:cNvSpPr/>
          <p:nvPr/>
        </p:nvSpPr>
        <p:spPr>
          <a:xfrm>
            <a:off x="4937760" y="26974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Pilot cycle: ~$7M  |  0% tariff under EU–Ghana EPA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4937760" y="2907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Lower risk — established port (Tema), proven trade 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4754880" y="3566160"/>
            <a:ext cx="3931920" cy="8686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937760" y="363931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EU Gateway</a:t>
            </a:r>
            <a:endParaRPr b="0" i="0" sz="11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4937760" y="38862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Port of Thessaloniki — shortest transit to East Africa.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Sofia Dry Port for rail consolidation to Central Europe.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Business Model &amp; Revenue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457200" y="777240"/>
            <a:ext cx="2606040" cy="1965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594360" y="8686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Trade Margins</a:t>
            </a:r>
            <a:endParaRPr b="0" i="0" sz="12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594360" y="117043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5–8%+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594360" y="155448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Conservative estimate per trade. We buy commodities at origin and sell at destination. Multiple cycles per year multiply annualized returns significantly.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3291840" y="777240"/>
            <a:ext cx="2606040" cy="1965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3429000" y="8686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Transaction Fees</a:t>
            </a:r>
            <a:endParaRPr b="0" i="0" sz="12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3429000" y="117043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1.5–2.5%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3429000" y="155448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Platform fee per trade. Covers KYC verification, data integrity, document processing, and settlement infrastructure.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6126480" y="777240"/>
            <a:ext cx="2606040" cy="196596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6263640" y="8686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Capital Participation</a:t>
            </a:r>
            <a:endParaRPr b="0" i="0" sz="12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6263640" y="117043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3–4%/cycle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6263640" y="155448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Investors earn returns per trade cycle (45–60 days). Multiple cycles per year. Backed by real commodities, not speculation.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0F7F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Annualized Returns: </a:t>
            </a:r>
            <a:r>
              <a:rPr b="0" i="0" lang="en-US" sz="11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5–8% margin per trade × 6–8 cycles/year = </a:t>
            </a:r>
            <a:r>
              <a:rPr b="1" i="0" lang="en-US" sz="11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30–60%+ annualized returns on deployed capital. </a:t>
            </a:r>
            <a:r>
              <a:rPr b="0" i="0" lang="en-US" sz="11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Pilot program data from Sudan projects 15–25% per trade in high-demand markets.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Pilot Program Revenue Projections (Initial Corridors Only)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502920" y="39776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1874520" y="39776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Trade 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3246120" y="397764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3977640" y="397764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 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5166360" y="39776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Milestone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57200" y="4233672"/>
            <a:ext cx="82296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502920" y="4233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Year 1 — 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1874520" y="4233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$40M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3246120" y="423367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4–6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3977640" y="42336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$1–1.6M</a:t>
            </a:r>
            <a:endParaRPr b="0" i="0" sz="9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166360" y="42336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First trades, prove margins, build track record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502920" y="4507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Year 2 —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1874520" y="4507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$120M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3246120" y="45079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12–15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3977640" y="45079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$3.3–5.5M</a:t>
            </a:r>
            <a:endParaRPr b="0" i="0" sz="9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5166360" y="4507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Multi-corridor, 5–7 countries, expand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502920" y="47823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Year 3 — Expand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1874520" y="47823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$175–200M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3246120" y="478231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18–25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3977640" y="47823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$8.8–12.3M</a:t>
            </a:r>
            <a:endParaRPr b="0" i="0" sz="9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5166360" y="4782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Institutional partners, new regions, full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Market Opportunity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457200" y="822960"/>
            <a:ext cx="260604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594360" y="91440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$2.6T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594360" y="14173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 b="0" i="0" sz="14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94360" y="169164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Global SME trade finance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ICC Banking Commission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3291840" y="822960"/>
            <a:ext cx="260604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3429000" y="91440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$260B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3429000" y="14173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 b="0" i="0" sz="14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3429000" y="169164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EU ↔ emerging market corridors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addressable from our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6126480" y="822960"/>
            <a:ext cx="2606040" cy="164592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6263640" y="91440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$52–65B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6263640" y="14173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SOM</a:t>
            </a:r>
            <a:endParaRPr b="0" i="0" sz="14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6263640" y="169164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Africa ↔ EU corridors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initial target regions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640080" y="26517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Commodity Focus:  Agricultural Products  |  Essential Goods (FMCG)  |  Industrial Equipment  |  Construction Materials  |  Containerised Cargo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457200" y="3246120"/>
            <a:ext cx="8229600" cy="155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685800" y="3337560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Global Platform — Pilot Numbers Represent Launch Phase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685800" y="3657600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050"/>
              <a:buFont typeface="Arial"/>
              <a:buNone/>
            </a:pPr>
            <a:r>
              <a:t/>
            </a:r>
            <a:endParaRPr b="1" sz="1050">
              <a:solidFill>
                <a:srgbClr val="0F2B4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Pilot corridors (Sudan + Ghana): </a:t>
            </a:r>
            <a:r>
              <a:rPr lang="en-US" sz="1050">
                <a:solidFill>
                  <a:srgbClr val="4A5568"/>
                </a:solidFill>
              </a:rPr>
              <a:t>$21–23M confirmed pipeline, first cycle. Sudan government demand: 30,000 MT wheat/month (~$12M/month). Pipeline is institutional-scale — execution is capital-constrained, not demand-constrained.</a:t>
            </a:r>
            <a:endParaRPr sz="1050">
              <a:solidFill>
                <a:srgbClr val="4A556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050"/>
              <a:buFont typeface="Arial"/>
              <a:buNone/>
            </a:pPr>
            <a:b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5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Global platform: </a:t>
            </a:r>
            <a:r>
              <a:rPr lang="en-US" sz="1050">
                <a:solidFill>
                  <a:srgbClr val="4A5568"/>
                </a:solidFill>
              </a:rPr>
              <a:t>Pilot success validates expansion to LATAM, Asia, and additional African markets. Capital scales directly into volume.</a:t>
            </a:r>
            <a:endParaRPr sz="1050">
              <a:solidFill>
                <a:srgbClr val="4A556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rgbClr val="4A5568"/>
              </a:solidFill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Sources: ADB 2023, ICC 2024, WTO 2023, World Bank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Competitive Positioning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457200" y="822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2377440" y="822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Skyocean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4297680" y="8229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Drip Capital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5623560" y="822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Centrifuge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7223760" y="8229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57200" y="1188720"/>
            <a:ext cx="8229600" cy="3383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502920" y="1188720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Quick SME Financing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1261872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8" name="Google Shape;4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9180" y="1261872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9" name="Google Shape;4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1261872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12618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4"/>
          <p:cNvSpPr/>
          <p:nvPr/>
        </p:nvSpPr>
        <p:spPr>
          <a:xfrm>
            <a:off x="502920" y="1527048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Owns the Supply Chain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16002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3" name="Google Shape;4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16002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4" name="Google Shape;4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16002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1600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/>
          <p:nvPr/>
        </p:nvSpPr>
        <p:spPr>
          <a:xfrm>
            <a:off x="457200" y="1865376"/>
            <a:ext cx="8229600" cy="3383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502920" y="1865376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Earns Trade Margins (not interest)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8" name="Google Shape;4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1938528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9" name="Google Shape;4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1938528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0" name="Google Shape;4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1938528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1" name="Google Shape;4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19385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/>
          <p:nvPr/>
        </p:nvSpPr>
        <p:spPr>
          <a:xfrm>
            <a:off x="502920" y="2203704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Digital Verification &amp; Transparency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2276856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2276856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220" y="2276856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6" name="Google Shape;4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22768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4"/>
          <p:cNvSpPr/>
          <p:nvPr/>
        </p:nvSpPr>
        <p:spPr>
          <a:xfrm>
            <a:off x="457200" y="2542032"/>
            <a:ext cx="8229600" cy="3383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502920" y="2542032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Lower Collateral Requirements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2615184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0" name="Google Shape;4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9180" y="2615184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2615184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2" name="Google Shape;4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26151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4"/>
          <p:cNvSpPr/>
          <p:nvPr/>
        </p:nvSpPr>
        <p:spPr>
          <a:xfrm>
            <a:off x="502920" y="2880360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No Interest Charged to SMEs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7" name="Google Shape;4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4"/>
          <p:cNvSpPr/>
          <p:nvPr/>
        </p:nvSpPr>
        <p:spPr>
          <a:xfrm>
            <a:off x="457200" y="3218688"/>
            <a:ext cx="8229600" cy="3383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502920" y="3218688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Global Payment Connectivity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32918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1" name="Google Shape;4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32918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2" name="Google Shape;4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32918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3" name="Google Shape;4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32918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4"/>
          <p:cNvSpPr/>
          <p:nvPr/>
        </p:nvSpPr>
        <p:spPr>
          <a:xfrm>
            <a:off x="502920" y="3557016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Direct Merchant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5" name="Google Shape;4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3630168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6" name="Google Shape;4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3630168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7" name="Google Shape;4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220" y="3630168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8" name="Google Shape;4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36301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4"/>
          <p:cNvSpPr/>
          <p:nvPr/>
        </p:nvSpPr>
        <p:spPr>
          <a:xfrm>
            <a:off x="457200" y="3895344"/>
            <a:ext cx="8229600" cy="3383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502920" y="3895344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Hybrid (Crypto &amp; Non-Crypto)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2" name="Google Shape;4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3" name="Google Shape;4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220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4" name="Google Shape;4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4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Key Differentiator: </a:t>
            </a:r>
            <a:r>
              <a:rPr b="0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Competitors either lend capital (Drip Capital, banks) or facilitate others’ financing (Centrifuge). Skyocean owns the commodity, controls the supply chain, and earns margin from trading — not interest. Failed platforms (TradeLens, Marco Polo, we.trade) didn’t own the value chain. We 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Risk Management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457200" y="822960"/>
            <a:ext cx="26060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457200" y="822960"/>
            <a:ext cx="260604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594360" y="10058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Buyer Default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594360" y="132588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Self-consignment: Skyocean retains title to goods. Buyer defaults = goods resold to next buyer. No capital loss.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3291840" y="822960"/>
            <a:ext cx="26060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3291840" y="822960"/>
            <a:ext cx="260604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3429000" y="10058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Security (Sudan)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3429000" y="132588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Port Sudan under SAF control. War risk + marine cargo insurance. Egypt backup route verified. First-come-first-serve model.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6126480" y="822960"/>
            <a:ext cx="26060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6126480" y="822960"/>
            <a:ext cx="260604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6263640" y="10058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Commodity Price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6263640" y="132588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Short cycles (45–60 days). Essential goods with stable demand (wheat, sugar, dairy). Minimal price exposure window.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457200" y="2788920"/>
            <a:ext cx="26060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457200" y="2788920"/>
            <a:ext cx="260604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Financial / FX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594360" y="329184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All contracts USD-denominated. No local currency exposure. Gold accepted as alternative in select markets.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3291840" y="2788920"/>
            <a:ext cx="26060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/>
          <p:nvPr/>
        </p:nvSpPr>
        <p:spPr>
          <a:xfrm>
            <a:off x="3291840" y="2788920"/>
            <a:ext cx="260604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3429000" y="29718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Quality / Dispute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3429000" y="329184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Pre-shipment inspection (SGS/Bureau Veritas). Independent surveyor. ICC arbitration clause. Digital verification.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6126480" y="2788920"/>
            <a:ext cx="26060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6126480" y="2788920"/>
            <a:ext cx="260604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6263640" y="29718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Sanctions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6263640" y="329184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Food/essential goods exempt from most sanctions. Rigorous KYC/KYB on all parties. SDN list screening. Full compliance framework.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Insurance:  Marine Cargo ~1.5%  +  War Risk ~3%  +  Warehouse ~0.5%  =  ~5% of cargo value (fully covered)</a:t>
            </a:r>
            <a:endParaRPr b="0" i="0" sz="10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1219049" y="923549"/>
            <a:ext cx="6705900" cy="379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path path="circle">
              <a:fillToRect b="50%" l="50%" r="50%" t="50%"/>
            </a:path>
            <a:tileRect/>
          </a:gradFill>
          <a:ln cap="flat" cmpd="sng" w="180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3050" lIns="173050" spcFirstLastPara="1" rIns="173050" wrap="square" tIns="1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/>
          </a:p>
        </p:txBody>
      </p:sp>
      <p:sp>
        <p:nvSpPr>
          <p:cNvPr id="508" name="Google Shape;508;p26"/>
          <p:cNvSpPr txBox="1"/>
          <p:nvPr/>
        </p:nvSpPr>
        <p:spPr>
          <a:xfrm>
            <a:off x="2815065" y="3441894"/>
            <a:ext cx="17319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50" lIns="79050" spcFirstLastPara="1" rIns="79050" wrap="square" tIns="7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Alexey Deshin</a:t>
            </a:r>
            <a:b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CGO/Advisor</a:t>
            </a:r>
            <a:endParaRPr b="1" sz="1226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509" name="Google Shape;509;p26" title="seb pic Lar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769" y="2076004"/>
            <a:ext cx="1283700" cy="1283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10" name="Google Shape;510;p26" title="andrius pic Lar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219" y="1125163"/>
            <a:ext cx="1062900" cy="1062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11" name="Google Shape;511;p26" title="gaurav pic Large.png"/>
          <p:cNvPicPr preferRelativeResize="0"/>
          <p:nvPr/>
        </p:nvPicPr>
        <p:blipFill rotWithShape="1">
          <a:blip r:embed="rId5">
            <a:alphaModFix/>
          </a:blip>
          <a:srcRect b="20431" l="0" r="0" t="4758"/>
          <a:stretch/>
        </p:blipFill>
        <p:spPr>
          <a:xfrm>
            <a:off x="4654141" y="1016865"/>
            <a:ext cx="1283700" cy="1279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2" name="Google Shape;512;p26"/>
          <p:cNvSpPr txBox="1"/>
          <p:nvPr/>
        </p:nvSpPr>
        <p:spPr>
          <a:xfrm>
            <a:off x="1258738" y="3441908"/>
            <a:ext cx="17319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50" lIns="79050" spcFirstLastPara="1" rIns="79050" wrap="square" tIns="7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Sebastian Gonzalez</a:t>
            </a:r>
            <a:b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CEO/Co-founder</a:t>
            </a:r>
            <a:endParaRPr b="1" sz="1226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4333409" y="2306353"/>
            <a:ext cx="17319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50" lIns="79050" spcFirstLastPara="1" rIns="79050" wrap="square" tIns="7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Gaurav Yadav</a:t>
            </a:r>
            <a:b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Head of Tech</a:t>
            </a:r>
            <a:endParaRPr b="1" sz="1226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4" name="Google Shape;514;p26"/>
          <p:cNvSpPr txBox="1"/>
          <p:nvPr/>
        </p:nvSpPr>
        <p:spPr>
          <a:xfrm>
            <a:off x="5917124" y="2306349"/>
            <a:ext cx="17319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50" lIns="79050" spcFirstLastPara="1" rIns="79050" wrap="square" tIns="7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Andrius Petkevicius</a:t>
            </a:r>
            <a:b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en-US" sz="1226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Legal Advisory</a:t>
            </a:r>
            <a:endParaRPr b="1" sz="1226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515" name="Google Shape;515;p26" title="ChatGPT_Image_Feb_26__2026__11_01_37_PM-removebg-preview.png"/>
          <p:cNvPicPr preferRelativeResize="0"/>
          <p:nvPr/>
        </p:nvPicPr>
        <p:blipFill rotWithShape="1">
          <a:blip r:embed="rId6">
            <a:alphaModFix/>
          </a:blip>
          <a:srcRect b="0" l="17771" r="17771" t="0"/>
          <a:stretch/>
        </p:blipFill>
        <p:spPr>
          <a:xfrm>
            <a:off x="3039065" y="2050846"/>
            <a:ext cx="1283700" cy="1328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16" name="Google Shape;516;p26" title="photo_2026-02-28_17.41.04-removebg-preview.png"/>
          <p:cNvPicPr preferRelativeResize="0"/>
          <p:nvPr/>
        </p:nvPicPr>
        <p:blipFill rotWithShape="1">
          <a:blip r:embed="rId7">
            <a:alphaModFix/>
          </a:blip>
          <a:srcRect b="41530" l="20856" r="13763" t="-6911"/>
          <a:stretch/>
        </p:blipFill>
        <p:spPr>
          <a:xfrm>
            <a:off x="4558544" y="2614088"/>
            <a:ext cx="1347000" cy="1333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17" name="Google Shape;517;p26" title="photo_2026-02-28_17.41.01-removebg-preview.png"/>
          <p:cNvPicPr preferRelativeResize="0"/>
          <p:nvPr/>
        </p:nvPicPr>
        <p:blipFill rotWithShape="1">
          <a:blip r:embed="rId8">
            <a:alphaModFix/>
          </a:blip>
          <a:srcRect b="12298" l="0" r="0" t="14416"/>
          <a:stretch/>
        </p:blipFill>
        <p:spPr>
          <a:xfrm>
            <a:off x="6141330" y="2776992"/>
            <a:ext cx="1198200" cy="117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8" name="Google Shape;518;p26"/>
          <p:cNvSpPr txBox="1"/>
          <p:nvPr/>
        </p:nvSpPr>
        <p:spPr>
          <a:xfrm>
            <a:off x="4600250" y="4083350"/>
            <a:ext cx="1198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750" lIns="41750" spcFirstLastPara="1" rIns="41750" wrap="square" tIns="4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Elias Nartey</a:t>
            </a:r>
            <a:br>
              <a:rPr b="1" lang="en-US" sz="1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en-US" sz="1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PR- Ghana  </a:t>
            </a:r>
            <a:endParaRPr b="1" sz="12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9" name="Google Shape;519;p26"/>
          <p:cNvSpPr txBox="1"/>
          <p:nvPr/>
        </p:nvSpPr>
        <p:spPr>
          <a:xfrm>
            <a:off x="6127175" y="4018225"/>
            <a:ext cx="1347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750" lIns="41750" spcFirstLastPara="1" rIns="41750" wrap="square" tIns="41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8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Mustafa Alhamare</a:t>
            </a:r>
            <a:br>
              <a:rPr b="1" lang="en-US" sz="1248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en-US" sz="1248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Manager Sudan</a:t>
            </a:r>
            <a:endParaRPr b="1" sz="1248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457200" y="8229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457200" y="822960"/>
            <a:ext cx="2606040" cy="59436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594360" y="85039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594360" y="10972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Launch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1" name="Google Shape;5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00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7"/>
          <p:cNvSpPr/>
          <p:nvPr/>
        </p:nvSpPr>
        <p:spPr>
          <a:xfrm>
            <a:off x="914400" y="1554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MVP live with first trade cycles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3" name="Google Shape;5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103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7"/>
          <p:cNvSpPr/>
          <p:nvPr/>
        </p:nvSpPr>
        <p:spPr>
          <a:xfrm>
            <a:off x="914400" y="20574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Pilot program — Sudan &amp; Ghana corridors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5" name="Google Shape;5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6060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7"/>
          <p:cNvSpPr/>
          <p:nvPr/>
        </p:nvSpPr>
        <p:spPr>
          <a:xfrm>
            <a:off x="914400" y="25603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First revenue from trading operations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1089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7"/>
          <p:cNvSpPr/>
          <p:nvPr/>
        </p:nvSpPr>
        <p:spPr>
          <a:xfrm>
            <a:off x="914400" y="30632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Active fundraising (pre-seed)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3291840" y="8229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3291840" y="822960"/>
            <a:ext cx="2606040" cy="594360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3429000" y="85039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Q4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3429000" y="10972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3" name="Google Shape;5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600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7"/>
          <p:cNvSpPr/>
          <p:nvPr/>
        </p:nvSpPr>
        <p:spPr>
          <a:xfrm>
            <a:off x="3749040" y="1554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~$40M trade pipeline active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5" name="Google Shape;5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2103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27"/>
          <p:cNvSpPr/>
          <p:nvPr/>
        </p:nvSpPr>
        <p:spPr>
          <a:xfrm>
            <a:off x="3749040" y="20574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Multiple corridors operational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7" name="Google Shape;5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26060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7"/>
          <p:cNvSpPr/>
          <p:nvPr/>
        </p:nvSpPr>
        <p:spPr>
          <a:xfrm>
            <a:off x="3749040" y="25603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Technology infrastructure scaled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9" name="Google Shape;5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31089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7"/>
          <p:cNvSpPr/>
          <p:nvPr/>
        </p:nvSpPr>
        <p:spPr>
          <a:xfrm>
            <a:off x="3749040" y="30632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EU regulatory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6126480" y="8229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6126480" y="822960"/>
            <a:ext cx="2606040" cy="5943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6263640" y="85039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Q3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6263640" y="10972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600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7"/>
          <p:cNvSpPr/>
          <p:nvPr/>
        </p:nvSpPr>
        <p:spPr>
          <a:xfrm>
            <a:off x="6583680" y="1554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Full pipeline scale ($120M+)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7" name="Google Shape;5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2103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7"/>
          <p:cNvSpPr/>
          <p:nvPr/>
        </p:nvSpPr>
        <p:spPr>
          <a:xfrm>
            <a:off x="6583680" y="205740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Africa + LATAM corridors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26060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7"/>
          <p:cNvSpPr/>
          <p:nvPr/>
        </p:nvSpPr>
        <p:spPr>
          <a:xfrm>
            <a:off x="6583680" y="25603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Institutional partnerships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1" name="Google Shape;5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31089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7"/>
          <p:cNvSpPr/>
          <p:nvPr/>
        </p:nvSpPr>
        <p:spPr>
          <a:xfrm>
            <a:off x="6583680" y="30632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B2B yield platform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A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8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Use of Funds &amp; Investment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457200" y="822960"/>
            <a:ext cx="393192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8"/>
          <p:cNvSpPr/>
          <p:nvPr/>
        </p:nvSpPr>
        <p:spPr>
          <a:xfrm>
            <a:off x="685800" y="89611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CDDEE"/>
                </a:solidFill>
                <a:latin typeface="Arial"/>
                <a:ea typeface="Arial"/>
                <a:cs typeface="Arial"/>
                <a:sym typeface="Arial"/>
              </a:rPr>
              <a:t>Pre-Seed Round</a:t>
            </a:r>
            <a:endParaRPr b="0" i="0" sz="1300" u="none" cap="none" strike="noStrike">
              <a:solidFill>
                <a:srgbClr val="CCDD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685800" y="11704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b="1" lang="en-US" sz="1200">
                <a:solidFill>
                  <a:srgbClr val="FFFFFF"/>
                </a:solidFill>
              </a:rPr>
              <a:t>3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 Target  |  $15M Pre-Money 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85800" y="1417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Bootstrapped to date  |  Founder-owned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1234440" y="2148840"/>
            <a:ext cx="2286000" cy="2286000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/>
          <p:nvPr/>
        </p:nvSpPr>
        <p:spPr>
          <a:xfrm>
            <a:off x="1691640" y="2606040"/>
            <a:ext cx="1371600" cy="1371600"/>
          </a:xfrm>
          <a:prstGeom prst="ellipse">
            <a:avLst/>
          </a:prstGeom>
          <a:solidFill>
            <a:srgbClr val="F7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2743200" y="2286000"/>
            <a:ext cx="1463040" cy="36576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2788920" y="228600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Working Capital 85% ($</a:t>
            </a:r>
            <a:r>
              <a:rPr lang="en-US" sz="950">
                <a:solidFill>
                  <a:srgbClr val="1A2332"/>
                </a:solidFill>
              </a:rPr>
              <a:t>2.55</a:t>
            </a: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2743200" y="2651760"/>
            <a:ext cx="1463040" cy="36576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8"/>
          <p:cNvSpPr/>
          <p:nvPr/>
        </p:nvSpPr>
        <p:spPr>
          <a:xfrm>
            <a:off x="2788920" y="26517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SG&amp;A 15% ($</a:t>
            </a:r>
            <a:r>
              <a:rPr lang="en-US" sz="950">
                <a:solidFill>
                  <a:srgbClr val="1A2332"/>
                </a:solidFill>
              </a:rPr>
              <a:t>450</a:t>
            </a:r>
            <a:r>
              <a:rPr b="0" i="0" lang="en-US" sz="9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4754880" y="822960"/>
            <a:ext cx="39318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4983480" y="9144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Equity Tiers at $15M Pre-Money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4937760" y="1280160"/>
            <a:ext cx="356616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8"/>
          <p:cNvSpPr/>
          <p:nvPr/>
        </p:nvSpPr>
        <p:spPr>
          <a:xfrm>
            <a:off x="5074920" y="128016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$150K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6446520" y="12801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= 1.0% equity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5074920" y="151790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$250K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6446520" y="151790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= 1.6% equity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4937760" y="1755648"/>
            <a:ext cx="356616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8"/>
          <p:cNvSpPr/>
          <p:nvPr/>
        </p:nvSpPr>
        <p:spPr>
          <a:xfrm>
            <a:off x="5074920" y="175564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$500K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6446520" y="175564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= 3.2% equity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5074920" y="199339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$750K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6446520" y="199339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= 4.8% equity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4937760" y="2231136"/>
            <a:ext cx="356616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8"/>
          <p:cNvSpPr/>
          <p:nvPr/>
        </p:nvSpPr>
        <p:spPr>
          <a:xfrm>
            <a:off x="5074920" y="223113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$1.0M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6446520" y="22311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886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= 6.3% equity</a:t>
            </a:r>
            <a:endParaRPr b="0" i="0" sz="10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4754875" y="2606075"/>
            <a:ext cx="3931800" cy="216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4983480" y="2697515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Arial"/>
                <a:ea typeface="Arial"/>
                <a:cs typeface="Arial"/>
                <a:sym typeface="Arial"/>
              </a:rPr>
              <a:t>Why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7" name="Google Shape;5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044987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8"/>
          <p:cNvSpPr/>
          <p:nvPr/>
        </p:nvSpPr>
        <p:spPr>
          <a:xfrm>
            <a:off x="5230368" y="3008411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MVP live — platform operational 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9" name="Google Shape;5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346739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8"/>
          <p:cNvSpPr/>
          <p:nvPr/>
        </p:nvSpPr>
        <p:spPr>
          <a:xfrm>
            <a:off x="5230368" y="3310163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Government partnership signed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1" name="Google Shape;6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648491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8"/>
          <p:cNvSpPr/>
          <p:nvPr/>
        </p:nvSpPr>
        <p:spPr>
          <a:xfrm>
            <a:off x="5230368" y="361191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Pilot pipeline ready — real demand confirmed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3" name="Google Shape;6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950243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8"/>
          <p:cNvSpPr/>
          <p:nvPr/>
        </p:nvSpPr>
        <p:spPr>
          <a:xfrm>
            <a:off x="5230368" y="3913667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Global payment connectivity built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5" name="Google Shape;6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4251995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8"/>
          <p:cNvSpPr/>
          <p:nvPr/>
        </p:nvSpPr>
        <p:spPr>
          <a:xfrm>
            <a:off x="5230368" y="421541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Trading company profitable from Year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457200" y="4775905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Revenue projections based on analysis and assumptions. Actual results may vary. Consultation with financial experts is advised.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8" name="Google Shape;6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4513945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8"/>
          <p:cNvSpPr/>
          <p:nvPr/>
        </p:nvSpPr>
        <p:spPr>
          <a:xfrm>
            <a:off x="5230376" y="4480525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A2332"/>
                </a:solidFill>
              </a:rPr>
              <a:t>Pre-seed pricing — Series A won't be at this valuation.</a:t>
            </a:r>
            <a:endParaRPr sz="1000">
              <a:solidFill>
                <a:srgbClr val="1A233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9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Let’s Talk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Skyocean is bridging the $2.6 trillion trade finance gap by doing what banks can’t: owning the commodity, controlling the supply chain, and sharing the profits with investors. Our global platform connects merchants and retail buyers directly — through any payment method, in any market.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4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731520" y="2377440"/>
            <a:ext cx="292608" cy="292608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9"/>
          <p:cNvSpPr/>
          <p:nvPr/>
        </p:nvSpPr>
        <p:spPr>
          <a:xfrm>
            <a:off x="731520" y="2377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1143000" y="235915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Introductory meeting  </a:t>
            </a:r>
            <a:r>
              <a:rPr b="0" i="0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— Discuss corridors, model,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731520" y="2761488"/>
            <a:ext cx="292608" cy="292608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9"/>
          <p:cNvSpPr/>
          <p:nvPr/>
        </p:nvSpPr>
        <p:spPr>
          <a:xfrm>
            <a:off x="731520" y="27614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1143000" y="27432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 discussion  </a:t>
            </a:r>
            <a:r>
              <a:rPr b="0" i="0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— Equity, trade finance, or hybrid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731520" y="3145536"/>
            <a:ext cx="292608" cy="292608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/>
          <p:nvPr/>
        </p:nvSpPr>
        <p:spPr>
          <a:xfrm>
            <a:off x="731520" y="31455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1143000" y="312724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Due diligence  </a:t>
            </a:r>
            <a:r>
              <a:rPr b="0" i="0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— Full data room access, platform demo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731520" y="3529584"/>
            <a:ext cx="292608" cy="292608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731520" y="35295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1143000" y="3511296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 sheet  </a:t>
            </a:r>
            <a:r>
              <a:rPr b="0" i="0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— Commercial terms, governance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731520" y="3913632"/>
            <a:ext cx="292608" cy="292608"/>
          </a:xfrm>
          <a:prstGeom prst="ellipse">
            <a:avLst/>
          </a:prstGeom>
          <a:solidFill>
            <a:srgbClr val="0C53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/>
          <p:nvPr/>
        </p:nvSpPr>
        <p:spPr>
          <a:xfrm>
            <a:off x="731520" y="39136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1143000" y="3895344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 trade  </a:t>
            </a:r>
            <a:r>
              <a:rPr b="0" i="0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— Capital deployed, trade cycle begins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29"/>
          <p:cNvCxnSpPr/>
          <p:nvPr/>
        </p:nvCxnSpPr>
        <p:spPr>
          <a:xfrm>
            <a:off x="731520" y="4343400"/>
            <a:ext cx="7680960" cy="0"/>
          </a:xfrm>
          <a:prstGeom prst="straightConnector1">
            <a:avLst/>
          </a:prstGeom>
          <a:noFill/>
          <a:ln cap="flat" cmpd="sng" w="12700">
            <a:solidFill>
              <a:srgbClr val="163B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29"/>
          <p:cNvSpPr/>
          <p:nvPr/>
        </p:nvSpPr>
        <p:spPr>
          <a:xfrm>
            <a:off x="731520" y="44805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Sebastian Gonzalez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731520" y="466344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CEO / Co-founder</a:t>
            </a:r>
            <a:endParaRPr b="0" i="0" sz="9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731520" y="482803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sebastian@skyocean.io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3474720" y="44805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Alexey Deshin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3474720" y="466344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CGO / Co-founder</a:t>
            </a:r>
            <a:endParaRPr b="0" i="0" sz="9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3474720" y="482803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alexey@skyocean.io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6217920" y="44805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Elias Nartey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6217920" y="466344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A7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C5392"/>
                </a:solidFill>
                <a:latin typeface="Arial"/>
                <a:ea typeface="Arial"/>
                <a:cs typeface="Arial"/>
                <a:sym typeface="Arial"/>
              </a:rPr>
              <a:t>PR &amp; Communications</a:t>
            </a:r>
            <a:endParaRPr b="0" i="0" sz="900" u="none" cap="none" strike="noStrike">
              <a:solidFill>
                <a:srgbClr val="0C53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6217920" y="482803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elias@skyocean.io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C5392"/>
      </a:dk1>
      <a:lt1>
        <a:srgbClr val="FFFFFF"/>
      </a:lt1>
      <a:dk2>
        <a:srgbClr val="595959"/>
      </a:dk2>
      <a:lt2>
        <a:srgbClr val="EEEEEE"/>
      </a:lt2>
      <a:accent1>
        <a:srgbClr val="3B82F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41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