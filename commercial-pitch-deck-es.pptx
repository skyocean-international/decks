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5143500" cy="9144000"/>
  <p:embeddedFontLst>
    <p:embeddedFont>
      <p:font typeface="Nunito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Sans-regular.fntdata"/><Relationship Id="rId11" Type="http://schemas.openxmlformats.org/officeDocument/2006/relationships/slide" Target="slides/slide7.xml"/><Relationship Id="rId22" Type="http://schemas.openxmlformats.org/officeDocument/2006/relationships/font" Target="fonts/NunitoSans-italic.fntdata"/><Relationship Id="rId10" Type="http://schemas.openxmlformats.org/officeDocument/2006/relationships/slide" Target="slides/slide6.xml"/><Relationship Id="rId21" Type="http://schemas.openxmlformats.org/officeDocument/2006/relationships/font" Target="fonts/NunitoSans-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Nunito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ce9a34a8a_0_0: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ce9a34a8a_0_0: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4" name="Shape 54"/>
        <p:cNvGrpSpPr/>
        <p:nvPr/>
      </p:nvGrpSpPr>
      <p:grpSpPr>
        <a:xfrm>
          <a:off x="0" y="0"/>
          <a:ext cx="0" cy="0"/>
          <a:chOff x="0" y="0"/>
          <a:chExt cx="0" cy="0"/>
        </a:xfrm>
      </p:grpSpPr>
      <p:sp>
        <p:nvSpPr>
          <p:cNvPr id="55" name="Google Shape;5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0.png"/><Relationship Id="rId4" Type="http://schemas.openxmlformats.org/officeDocument/2006/relationships/image" Target="../media/image19.png"/><Relationship Id="rId5" Type="http://schemas.openxmlformats.org/officeDocument/2006/relationships/image" Target="../media/image4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4.png"/><Relationship Id="rId4" Type="http://schemas.openxmlformats.org/officeDocument/2006/relationships/image" Target="../media/image93.png"/><Relationship Id="rId5" Type="http://schemas.openxmlformats.org/officeDocument/2006/relationships/image" Target="../media/image95.png"/><Relationship Id="rId6" Type="http://schemas.openxmlformats.org/officeDocument/2006/relationships/image" Target="../media/image92.png"/><Relationship Id="rId7" Type="http://schemas.openxmlformats.org/officeDocument/2006/relationships/image" Target="../media/image82.png"/><Relationship Id="rId8" Type="http://schemas.openxmlformats.org/officeDocument/2006/relationships/image" Target="../media/image9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076D2"/>
            </a:gs>
            <a:gs pos="100000">
              <a:srgbClr val="093053"/>
            </a:gs>
          </a:gsLst>
          <a:path path="circle">
            <a:fillToRect b="50%" l="50%" r="50%" t="50%"/>
          </a:path>
          <a:tileRect/>
        </a:gradFill>
      </p:bgPr>
    </p:bg>
    <p:spTree>
      <p:nvGrpSpPr>
        <p:cNvPr id="60" name="Shape 60"/>
        <p:cNvGrpSpPr/>
        <p:nvPr/>
      </p:nvGrpSpPr>
      <p:grpSpPr>
        <a:xfrm>
          <a:off x="0" y="0"/>
          <a:ext cx="0" cy="0"/>
          <a:chOff x="0" y="0"/>
          <a:chExt cx="0" cy="0"/>
        </a:xfrm>
      </p:grpSpPr>
      <p:pic>
        <p:nvPicPr>
          <p:cNvPr id="61" name="Google Shape;61;p15" title="VERTICAL (1).png"/>
          <p:cNvPicPr preferRelativeResize="0"/>
          <p:nvPr/>
        </p:nvPicPr>
        <p:blipFill>
          <a:blip r:embed="rId3">
            <a:alphaModFix/>
          </a:blip>
          <a:stretch>
            <a:fillRect/>
          </a:stretch>
        </p:blipFill>
        <p:spPr>
          <a:xfrm>
            <a:off x="3538338" y="524975"/>
            <a:ext cx="2067325" cy="1275675"/>
          </a:xfrm>
          <a:prstGeom prst="rect">
            <a:avLst/>
          </a:prstGeom>
          <a:noFill/>
          <a:ln>
            <a:noFill/>
          </a:ln>
          <a:effectLst>
            <a:outerShdw blurRad="414338" rotWithShape="0" algn="bl" dist="9525">
              <a:srgbClr val="000000">
                <a:alpha val="50000"/>
              </a:srgbClr>
            </a:outerShdw>
          </a:effectLst>
        </p:spPr>
      </p:pic>
      <p:sp>
        <p:nvSpPr>
          <p:cNvPr id="62" name="Google Shape;62;p15"/>
          <p:cNvSpPr/>
          <p:nvPr/>
        </p:nvSpPr>
        <p:spPr>
          <a:xfrm>
            <a:off x="1491150" y="2073675"/>
            <a:ext cx="5868000" cy="1173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3369"/>
              <a:buFont typeface="Georgia"/>
              <a:buNone/>
            </a:pPr>
            <a:r>
              <a:rPr b="0" i="0" lang="en-US" sz="3369" u="none" cap="none" strike="noStrike">
                <a:solidFill>
                  <a:srgbClr val="FFFFFF"/>
                </a:solidFill>
                <a:latin typeface="Georgia"/>
                <a:ea typeface="Georgia"/>
                <a:cs typeface="Georgia"/>
                <a:sym typeface="Georgia"/>
              </a:rPr>
              <a:t>Comercio Global de Commodities</a:t>
            </a:r>
            <a:endParaRPr b="0" i="0" sz="3369"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3369"/>
              <a:buFont typeface="Georgia"/>
              <a:buNone/>
            </a:pPr>
            <a:r>
              <a:rPr b="0" i="0" lang="en-US" sz="3369" u="none" cap="none" strike="noStrike">
                <a:solidFill>
                  <a:srgbClr val="FFFFFF"/>
                </a:solidFill>
                <a:latin typeface="Georgia"/>
                <a:ea typeface="Georgia"/>
                <a:cs typeface="Georgia"/>
                <a:sym typeface="Georgia"/>
              </a:rPr>
              <a:t>&amp; Supply Chain Finance</a:t>
            </a:r>
            <a:endParaRPr b="0" i="0" sz="3369" u="none" cap="none" strike="noStrike">
              <a:solidFill>
                <a:schemeClr val="dk1"/>
              </a:solidFill>
              <a:latin typeface="Calibri"/>
              <a:ea typeface="Calibri"/>
              <a:cs typeface="Calibri"/>
              <a:sym typeface="Calibri"/>
            </a:endParaRPr>
          </a:p>
        </p:txBody>
      </p:sp>
      <p:sp>
        <p:nvSpPr>
          <p:cNvPr id="63" name="Google Shape;63;p15"/>
          <p:cNvSpPr/>
          <p:nvPr/>
        </p:nvSpPr>
        <p:spPr>
          <a:xfrm>
            <a:off x="1491150" y="3320672"/>
            <a:ext cx="6161700" cy="33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99AA"/>
              </a:buClr>
              <a:buSzPts val="882"/>
              <a:buFont typeface="Arial"/>
              <a:buNone/>
            </a:pPr>
            <a:r>
              <a:rPr lang="en-US" sz="882">
                <a:solidFill>
                  <a:srgbClr val="8899AA"/>
                </a:solidFill>
              </a:rPr>
              <a:t>Physical</a:t>
            </a:r>
            <a:r>
              <a:rPr b="0" i="0" lang="en-US" sz="1123" u="none" cap="none" strike="noStrike">
                <a:solidFill>
                  <a:srgbClr val="0C5392"/>
                </a:solidFill>
                <a:latin typeface="Arial"/>
                <a:ea typeface="Arial"/>
                <a:cs typeface="Arial"/>
                <a:sym typeface="Arial"/>
              </a:rPr>
              <a:t> </a:t>
            </a:r>
            <a:r>
              <a:rPr lang="en-US" sz="882">
                <a:solidFill>
                  <a:srgbClr val="8899AA"/>
                </a:solidFill>
              </a:rPr>
              <a:t>Trading  |  Verified Supply Chains  |  Conectividad Global de Pagos</a:t>
            </a:r>
            <a:endParaRPr sz="882">
              <a:solidFill>
                <a:srgbClr val="8899AA"/>
              </a:solidFill>
            </a:endParaRPr>
          </a:p>
        </p:txBody>
      </p:sp>
      <p:cxnSp>
        <p:nvCxnSpPr>
          <p:cNvPr id="64" name="Google Shape;64;p15"/>
          <p:cNvCxnSpPr/>
          <p:nvPr/>
        </p:nvCxnSpPr>
        <p:spPr>
          <a:xfrm>
            <a:off x="1491150" y="3797465"/>
            <a:ext cx="1833900" cy="0"/>
          </a:xfrm>
          <a:prstGeom prst="straightConnector1">
            <a:avLst/>
          </a:prstGeom>
          <a:noFill/>
          <a:ln cap="flat" cmpd="sng" w="20375">
            <a:solidFill>
              <a:schemeClr val="lt1"/>
            </a:solidFill>
            <a:prstDash val="solid"/>
            <a:round/>
            <a:headEnd len="sm" w="sm" type="none"/>
            <a:tailEnd len="sm" w="sm" type="none"/>
          </a:ln>
        </p:spPr>
      </p:cxnSp>
      <p:sp>
        <p:nvSpPr>
          <p:cNvPr id="65" name="Google Shape;65;p15"/>
          <p:cNvSpPr/>
          <p:nvPr/>
        </p:nvSpPr>
        <p:spPr>
          <a:xfrm>
            <a:off x="1491150" y="3944170"/>
            <a:ext cx="4401300" cy="25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882"/>
              <a:buFont typeface="Arial"/>
              <a:buNone/>
            </a:pPr>
            <a:r>
              <a:rPr b="0" i="0" lang="en-US" sz="882" u="none" cap="none" strike="noStrike">
                <a:solidFill>
                  <a:srgbClr val="8899AA"/>
                </a:solidFill>
                <a:latin typeface="Arial"/>
                <a:ea typeface="Arial"/>
                <a:cs typeface="Arial"/>
                <a:sym typeface="Arial"/>
              </a:rPr>
              <a:t>Junio 2026  |  Confidencial</a:t>
            </a:r>
            <a:endParaRPr b="0" i="0" sz="882"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70" name="Shape 70"/>
        <p:cNvGrpSpPr/>
        <p:nvPr/>
      </p:nvGrpSpPr>
      <p:grpSpPr>
        <a:xfrm>
          <a:off x="0" y="0"/>
          <a:ext cx="0" cy="0"/>
          <a:chOff x="0" y="0"/>
          <a:chExt cx="0" cy="0"/>
        </a:xfrm>
      </p:grpSpPr>
      <p:sp>
        <p:nvSpPr>
          <p:cNvPr id="71" name="Google Shape;71;p16"/>
          <p:cNvSpPr/>
          <p:nvPr/>
        </p:nvSpPr>
        <p:spPr>
          <a:xfrm>
            <a:off x="0" y="0"/>
            <a:ext cx="9144000" cy="3660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a:off x="731520" y="228600"/>
            <a:ext cx="7315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Resumen Ejecutivo</a:t>
            </a:r>
            <a:endParaRPr b="0" i="0" sz="2800" u="none" cap="none" strike="noStrike">
              <a:solidFill>
                <a:schemeClr val="dk1"/>
              </a:solidFill>
              <a:latin typeface="Calibri"/>
              <a:ea typeface="Calibri"/>
              <a:cs typeface="Calibri"/>
              <a:sym typeface="Calibri"/>
            </a:endParaRPr>
          </a:p>
        </p:txBody>
      </p:sp>
      <p:sp>
        <p:nvSpPr>
          <p:cNvPr id="73" name="Google Shape;73;p16"/>
          <p:cNvSpPr/>
          <p:nvPr/>
        </p:nvSpPr>
        <p:spPr>
          <a:xfrm>
            <a:off x="731520" y="777240"/>
            <a:ext cx="76809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Arial"/>
              <a:buNone/>
            </a:pPr>
            <a:r>
              <a:rPr b="0" i="0" lang="en-US" sz="1150" u="none" cap="none" strike="noStrike">
                <a:solidFill>
                  <a:srgbClr val="4A5568"/>
                </a:solidFill>
                <a:latin typeface="Arial"/>
                <a:ea typeface="Arial"/>
                <a:cs typeface="Arial"/>
                <a:sym typeface="Arial"/>
              </a:rPr>
              <a:t>Skyocean es una plataforma global de comercio de commodities que compra, transporta y vende bienes físicos. Conectamos a comerciantes y compradores minoristas directamente con cadenas de suministro verificadas. Nuestra plataforma híbrida atiende a usuarios crypto y tradicionales a través de cualquier método de pago en todo el mundo.</a:t>
            </a:r>
            <a:endParaRPr b="0" i="0" sz="1150" u="none" cap="none" strike="noStrike">
              <a:solidFill>
                <a:schemeClr val="dk1"/>
              </a:solidFill>
              <a:latin typeface="Calibri"/>
              <a:ea typeface="Calibri"/>
              <a:cs typeface="Calibri"/>
              <a:sym typeface="Calibri"/>
            </a:endParaRPr>
          </a:p>
        </p:txBody>
      </p:sp>
      <p:sp>
        <p:nvSpPr>
          <p:cNvPr id="74" name="Google Shape;74;p16"/>
          <p:cNvSpPr/>
          <p:nvPr/>
        </p:nvSpPr>
        <p:spPr>
          <a:xfrm>
            <a:off x="457200" y="1554480"/>
            <a:ext cx="1965900" cy="1371600"/>
          </a:xfrm>
          <a:prstGeom prst="rect">
            <a:avLst/>
          </a:prstGeom>
          <a:solidFill>
            <a:srgbClr val="FFFFFF"/>
          </a:solidFill>
          <a:ln>
            <a:noFill/>
          </a:ln>
          <a:effectLst>
            <a:outerShdw blurRad="508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457200" y="1554480"/>
            <a:ext cx="1965900" cy="5490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594360" y="1719072"/>
            <a:ext cx="1691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Georgia"/>
              <a:buNone/>
            </a:pPr>
            <a:r>
              <a:rPr b="1" i="0" lang="en-US" sz="2400" u="none" cap="none" strike="noStrike">
                <a:solidFill>
                  <a:srgbClr val="0F2B46"/>
                </a:solidFill>
                <a:latin typeface="Georgia"/>
                <a:ea typeface="Georgia"/>
                <a:cs typeface="Georgia"/>
                <a:sym typeface="Georgia"/>
              </a:rPr>
              <a:t>MVP Activo</a:t>
            </a:r>
            <a:endParaRPr b="0" i="0" sz="2400" u="none" cap="none" strike="noStrike">
              <a:solidFill>
                <a:schemeClr val="dk1"/>
              </a:solidFill>
              <a:latin typeface="Calibri"/>
              <a:ea typeface="Calibri"/>
              <a:cs typeface="Calibri"/>
              <a:sym typeface="Calibri"/>
            </a:endParaRPr>
          </a:p>
        </p:txBody>
      </p:sp>
      <p:sp>
        <p:nvSpPr>
          <p:cNvPr id="77" name="Google Shape;77;p16"/>
          <p:cNvSpPr/>
          <p:nvPr/>
        </p:nvSpPr>
        <p:spPr>
          <a:xfrm>
            <a:off x="594360" y="21488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1000"/>
              <a:buFont typeface="Arial"/>
              <a:buNone/>
            </a:pPr>
            <a:r>
              <a:rPr b="1" i="0" lang="en-US" sz="1000" u="none" cap="none" strike="noStrike">
                <a:solidFill>
                  <a:srgbClr val="0C5392"/>
                </a:solidFill>
                <a:latin typeface="Arial"/>
                <a:ea typeface="Arial"/>
                <a:cs typeface="Arial"/>
                <a:sym typeface="Arial"/>
              </a:rPr>
              <a:t>Estado de la Plataforma</a:t>
            </a:r>
            <a:endParaRPr b="0" i="0" sz="1000" u="none" cap="none" strike="noStrike">
              <a:solidFill>
                <a:srgbClr val="0C5392"/>
              </a:solidFill>
              <a:latin typeface="Calibri"/>
              <a:ea typeface="Calibri"/>
              <a:cs typeface="Calibri"/>
              <a:sym typeface="Calibri"/>
            </a:endParaRPr>
          </a:p>
        </p:txBody>
      </p:sp>
      <p:sp>
        <p:nvSpPr>
          <p:cNvPr id="78" name="Google Shape;78;p16"/>
          <p:cNvSpPr/>
          <p:nvPr/>
        </p:nvSpPr>
        <p:spPr>
          <a:xfrm>
            <a:off x="594360" y="23774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900"/>
              <a:buFont typeface="Arial"/>
              <a:buNone/>
            </a:pPr>
            <a:r>
              <a:rPr b="0" i="0" lang="en-US" sz="900" u="none" cap="none" strike="noStrike">
                <a:solidFill>
                  <a:srgbClr val="8899AA"/>
                </a:solidFill>
                <a:latin typeface="Arial"/>
                <a:ea typeface="Arial"/>
                <a:cs typeface="Arial"/>
                <a:sym typeface="Arial"/>
              </a:rPr>
              <a:t>Operational &amp; accepting users</a:t>
            </a:r>
            <a:endParaRPr b="0" i="0" sz="900" u="none" cap="none" strike="noStrike">
              <a:solidFill>
                <a:schemeClr val="dk1"/>
              </a:solidFill>
              <a:latin typeface="Calibri"/>
              <a:ea typeface="Calibri"/>
              <a:cs typeface="Calibri"/>
              <a:sym typeface="Calibri"/>
            </a:endParaRPr>
          </a:p>
        </p:txBody>
      </p:sp>
      <p:sp>
        <p:nvSpPr>
          <p:cNvPr id="79" name="Google Shape;79;p16"/>
          <p:cNvSpPr/>
          <p:nvPr/>
        </p:nvSpPr>
        <p:spPr>
          <a:xfrm>
            <a:off x="2606040" y="1554480"/>
            <a:ext cx="1965900" cy="1371600"/>
          </a:xfrm>
          <a:prstGeom prst="rect">
            <a:avLst/>
          </a:prstGeom>
          <a:solidFill>
            <a:srgbClr val="FFFFFF"/>
          </a:solidFill>
          <a:ln>
            <a:noFill/>
          </a:ln>
          <a:effectLst>
            <a:outerShdw blurRad="508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2606040" y="1554480"/>
            <a:ext cx="1965900" cy="5490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2743200" y="1719072"/>
            <a:ext cx="1691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Georgia"/>
              <a:buNone/>
            </a:pPr>
            <a:r>
              <a:rPr b="1" i="0" lang="en-US" sz="2400" u="none" cap="none" strike="noStrike">
                <a:solidFill>
                  <a:srgbClr val="0F2B46"/>
                </a:solidFill>
                <a:latin typeface="Georgia"/>
                <a:ea typeface="Georgia"/>
                <a:cs typeface="Georgia"/>
                <a:sym typeface="Georgia"/>
              </a:rPr>
              <a:t>5–8%+</a:t>
            </a:r>
            <a:endParaRPr b="0" i="0" sz="2400" u="none" cap="none" strike="noStrike">
              <a:solidFill>
                <a:schemeClr val="dk1"/>
              </a:solidFill>
              <a:latin typeface="Calibri"/>
              <a:ea typeface="Calibri"/>
              <a:cs typeface="Calibri"/>
              <a:sym typeface="Calibri"/>
            </a:endParaRPr>
          </a:p>
        </p:txBody>
      </p:sp>
      <p:sp>
        <p:nvSpPr>
          <p:cNvPr id="82" name="Google Shape;82;p16"/>
          <p:cNvSpPr/>
          <p:nvPr/>
        </p:nvSpPr>
        <p:spPr>
          <a:xfrm>
            <a:off x="2743200" y="21488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1000"/>
              <a:buFont typeface="Arial"/>
              <a:buNone/>
            </a:pPr>
            <a:r>
              <a:rPr b="1" i="0" lang="en-US" sz="1000" u="none" cap="none" strike="noStrike">
                <a:solidFill>
                  <a:srgbClr val="0C5392"/>
                </a:solidFill>
                <a:latin typeface="Arial"/>
                <a:ea typeface="Arial"/>
                <a:cs typeface="Arial"/>
                <a:sym typeface="Arial"/>
              </a:rPr>
              <a:t>Margen por Operación</a:t>
            </a:r>
            <a:endParaRPr b="0" i="0" sz="1000" u="none" cap="none" strike="noStrike">
              <a:solidFill>
                <a:srgbClr val="0C5392"/>
              </a:solidFill>
              <a:latin typeface="Calibri"/>
              <a:ea typeface="Calibri"/>
              <a:cs typeface="Calibri"/>
              <a:sym typeface="Calibri"/>
            </a:endParaRPr>
          </a:p>
        </p:txBody>
      </p:sp>
      <p:sp>
        <p:nvSpPr>
          <p:cNvPr id="83" name="Google Shape;83;p16"/>
          <p:cNvSpPr/>
          <p:nvPr/>
        </p:nvSpPr>
        <p:spPr>
          <a:xfrm>
            <a:off x="2743200" y="23774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900"/>
              <a:buFont typeface="Arial"/>
              <a:buNone/>
            </a:pPr>
            <a:r>
              <a:rPr b="0" i="0" lang="en-US" sz="900" u="none" cap="none" strike="noStrike">
                <a:solidFill>
                  <a:srgbClr val="8899AA"/>
                </a:solidFill>
                <a:latin typeface="Arial"/>
                <a:ea typeface="Arial"/>
                <a:cs typeface="Arial"/>
                <a:sym typeface="Arial"/>
              </a:rPr>
              <a:t>Estimación conservadora (ciclo 45-60 días)</a:t>
            </a:r>
            <a:endParaRPr b="0" i="0" sz="900" u="none" cap="none" strike="noStrike">
              <a:solidFill>
                <a:schemeClr val="dk1"/>
              </a:solidFill>
              <a:latin typeface="Calibri"/>
              <a:ea typeface="Calibri"/>
              <a:cs typeface="Calibri"/>
              <a:sym typeface="Calibri"/>
            </a:endParaRPr>
          </a:p>
        </p:txBody>
      </p:sp>
      <p:sp>
        <p:nvSpPr>
          <p:cNvPr id="84" name="Google Shape;84;p16"/>
          <p:cNvSpPr/>
          <p:nvPr/>
        </p:nvSpPr>
        <p:spPr>
          <a:xfrm>
            <a:off x="4754880" y="1554480"/>
            <a:ext cx="1965900" cy="1371600"/>
          </a:xfrm>
          <a:prstGeom prst="rect">
            <a:avLst/>
          </a:prstGeom>
          <a:solidFill>
            <a:srgbClr val="FFFFFF"/>
          </a:solidFill>
          <a:ln>
            <a:noFill/>
          </a:ln>
          <a:effectLst>
            <a:outerShdw blurRad="508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4754880" y="1554480"/>
            <a:ext cx="1965900" cy="5490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4892040" y="1719072"/>
            <a:ext cx="1691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Georgia"/>
              <a:buNone/>
            </a:pPr>
            <a:r>
              <a:rPr b="1" i="0" lang="en-US" sz="2400" u="none" cap="none" strike="noStrike">
                <a:solidFill>
                  <a:srgbClr val="0F2B46"/>
                </a:solidFill>
                <a:latin typeface="Georgia"/>
                <a:ea typeface="Georgia"/>
                <a:cs typeface="Georgia"/>
                <a:sym typeface="Georgia"/>
              </a:rPr>
              <a:t>Hybrid</a:t>
            </a:r>
            <a:endParaRPr b="0" i="0" sz="2400" u="none" cap="none" strike="noStrike">
              <a:solidFill>
                <a:schemeClr val="dk1"/>
              </a:solidFill>
              <a:latin typeface="Calibri"/>
              <a:ea typeface="Calibri"/>
              <a:cs typeface="Calibri"/>
              <a:sym typeface="Calibri"/>
            </a:endParaRPr>
          </a:p>
        </p:txBody>
      </p:sp>
      <p:sp>
        <p:nvSpPr>
          <p:cNvPr id="87" name="Google Shape;87;p16"/>
          <p:cNvSpPr/>
          <p:nvPr/>
        </p:nvSpPr>
        <p:spPr>
          <a:xfrm>
            <a:off x="4892040" y="21488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1000"/>
              <a:buFont typeface="Arial"/>
              <a:buNone/>
            </a:pPr>
            <a:r>
              <a:rPr b="1" i="0" lang="en-US" sz="1000" u="none" cap="none" strike="noStrike">
                <a:solidFill>
                  <a:srgbClr val="0C5392"/>
                </a:solidFill>
                <a:latin typeface="Arial"/>
                <a:ea typeface="Arial"/>
                <a:cs typeface="Arial"/>
                <a:sym typeface="Arial"/>
              </a:rPr>
              <a:t>Modelo de Plataforma</a:t>
            </a:r>
            <a:endParaRPr b="0" i="0" sz="1000" u="none" cap="none" strike="noStrike">
              <a:solidFill>
                <a:srgbClr val="0C5392"/>
              </a:solidFill>
              <a:latin typeface="Calibri"/>
              <a:ea typeface="Calibri"/>
              <a:cs typeface="Calibri"/>
              <a:sym typeface="Calibri"/>
            </a:endParaRPr>
          </a:p>
        </p:txBody>
      </p:sp>
      <p:sp>
        <p:nvSpPr>
          <p:cNvPr id="88" name="Google Shape;88;p16"/>
          <p:cNvSpPr/>
          <p:nvPr/>
        </p:nvSpPr>
        <p:spPr>
          <a:xfrm>
            <a:off x="4892040" y="23774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900"/>
              <a:buFont typeface="Arial"/>
              <a:buNone/>
            </a:pPr>
            <a:r>
              <a:rPr b="0" i="0" lang="en-US" sz="900" u="none" cap="none" strike="noStrike">
                <a:solidFill>
                  <a:srgbClr val="8899AA"/>
                </a:solidFill>
                <a:latin typeface="Arial"/>
                <a:ea typeface="Arial"/>
                <a:cs typeface="Arial"/>
                <a:sym typeface="Arial"/>
              </a:rPr>
              <a:t>Crypto &amp; non-crypto users</a:t>
            </a:r>
            <a:endParaRPr b="0" i="0" sz="900" u="none" cap="none" strike="noStrike">
              <a:solidFill>
                <a:schemeClr val="dk1"/>
              </a:solidFill>
              <a:latin typeface="Calibri"/>
              <a:ea typeface="Calibri"/>
              <a:cs typeface="Calibri"/>
              <a:sym typeface="Calibri"/>
            </a:endParaRPr>
          </a:p>
        </p:txBody>
      </p:sp>
      <p:sp>
        <p:nvSpPr>
          <p:cNvPr id="89" name="Google Shape;89;p16"/>
          <p:cNvSpPr/>
          <p:nvPr/>
        </p:nvSpPr>
        <p:spPr>
          <a:xfrm>
            <a:off x="6903720" y="1554480"/>
            <a:ext cx="1965900" cy="1371600"/>
          </a:xfrm>
          <a:prstGeom prst="rect">
            <a:avLst/>
          </a:prstGeom>
          <a:solidFill>
            <a:srgbClr val="FFFFFF"/>
          </a:solidFill>
          <a:ln>
            <a:noFill/>
          </a:ln>
          <a:effectLst>
            <a:outerShdw blurRad="508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6903720" y="1554480"/>
            <a:ext cx="1965900" cy="5490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7040880" y="1719072"/>
            <a:ext cx="1691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Georgia"/>
              <a:buNone/>
            </a:pPr>
            <a:r>
              <a:rPr b="1" i="0" lang="en-US" sz="2400" u="none" cap="none" strike="noStrike">
                <a:solidFill>
                  <a:srgbClr val="0F2B46"/>
                </a:solidFill>
                <a:latin typeface="Georgia"/>
                <a:ea typeface="Georgia"/>
                <a:cs typeface="Georgia"/>
                <a:sym typeface="Georgia"/>
              </a:rPr>
              <a:t>15 yrs</a:t>
            </a:r>
            <a:endParaRPr b="0" i="0" sz="2400" u="none" cap="none" strike="noStrike">
              <a:solidFill>
                <a:schemeClr val="dk1"/>
              </a:solidFill>
              <a:latin typeface="Calibri"/>
              <a:ea typeface="Calibri"/>
              <a:cs typeface="Calibri"/>
              <a:sym typeface="Calibri"/>
            </a:endParaRPr>
          </a:p>
        </p:txBody>
      </p:sp>
      <p:sp>
        <p:nvSpPr>
          <p:cNvPr id="92" name="Google Shape;92;p16"/>
          <p:cNvSpPr/>
          <p:nvPr/>
        </p:nvSpPr>
        <p:spPr>
          <a:xfrm>
            <a:off x="7040880" y="21488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1000"/>
              <a:buFont typeface="Arial"/>
              <a:buNone/>
            </a:pPr>
            <a:r>
              <a:rPr b="1" i="0" lang="en-US" sz="1000" u="none" cap="none" strike="noStrike">
                <a:solidFill>
                  <a:srgbClr val="0C5392"/>
                </a:solidFill>
                <a:latin typeface="Arial"/>
                <a:ea typeface="Arial"/>
                <a:cs typeface="Arial"/>
                <a:sym typeface="Arial"/>
              </a:rPr>
              <a:t>Experiencia del Fundador</a:t>
            </a:r>
            <a:endParaRPr b="0" i="0" sz="1000" u="none" cap="none" strike="noStrike">
              <a:solidFill>
                <a:srgbClr val="0C5392"/>
              </a:solidFill>
              <a:latin typeface="Calibri"/>
              <a:ea typeface="Calibri"/>
              <a:cs typeface="Calibri"/>
              <a:sym typeface="Calibri"/>
            </a:endParaRPr>
          </a:p>
        </p:txBody>
      </p:sp>
      <p:sp>
        <p:nvSpPr>
          <p:cNvPr id="93" name="Google Shape;93;p16"/>
          <p:cNvSpPr/>
          <p:nvPr/>
        </p:nvSpPr>
        <p:spPr>
          <a:xfrm>
            <a:off x="7040880" y="2377440"/>
            <a:ext cx="1691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900"/>
              <a:buFont typeface="Arial"/>
              <a:buNone/>
            </a:pPr>
            <a:r>
              <a:rPr b="0" i="0" lang="en-US" sz="900" u="none" cap="none" strike="noStrike">
                <a:solidFill>
                  <a:srgbClr val="8899AA"/>
                </a:solidFill>
                <a:latin typeface="Arial"/>
                <a:ea typeface="Arial"/>
                <a:cs typeface="Arial"/>
                <a:sym typeface="Arial"/>
              </a:rPr>
              <a:t>Operaciones de comercio de commodities</a:t>
            </a:r>
            <a:endParaRPr b="0" i="0" sz="900" u="none" cap="none" strike="noStrike">
              <a:solidFill>
                <a:schemeClr val="dk1"/>
              </a:solidFill>
              <a:latin typeface="Calibri"/>
              <a:ea typeface="Calibri"/>
              <a:cs typeface="Calibri"/>
              <a:sym typeface="Calibri"/>
            </a:endParaRPr>
          </a:p>
        </p:txBody>
      </p:sp>
      <p:sp>
        <p:nvSpPr>
          <p:cNvPr id="94" name="Google Shape;94;p16"/>
          <p:cNvSpPr/>
          <p:nvPr/>
        </p:nvSpPr>
        <p:spPr>
          <a:xfrm>
            <a:off x="457200" y="3200400"/>
            <a:ext cx="3931800" cy="1645800"/>
          </a:xfrm>
          <a:prstGeom prst="rect">
            <a:avLst/>
          </a:prstGeom>
          <a:solidFill>
            <a:srgbClr val="FFFFFF"/>
          </a:solidFill>
          <a:ln>
            <a:noFill/>
          </a:ln>
          <a:effectLst>
            <a:outerShdw blurRad="508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85800" y="3291840"/>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Aspectos Destacados</a:t>
            </a:r>
            <a:endParaRPr b="0" i="0" sz="1200" u="none" cap="none" strike="noStrike">
              <a:solidFill>
                <a:schemeClr val="dk1"/>
              </a:solidFill>
              <a:latin typeface="Calibri"/>
              <a:ea typeface="Calibri"/>
              <a:cs typeface="Calibri"/>
              <a:sym typeface="Calibri"/>
            </a:endParaRPr>
          </a:p>
        </p:txBody>
      </p:sp>
      <p:pic>
        <p:nvPicPr>
          <p:cNvPr descr="preencoded.png" id="96" name="Google Shape;96;p16"/>
          <p:cNvPicPr preferRelativeResize="0"/>
          <p:nvPr/>
        </p:nvPicPr>
        <p:blipFill rotWithShape="1">
          <a:blip r:embed="rId3">
            <a:alphaModFix/>
          </a:blip>
          <a:srcRect b="0" l="0" r="0" t="0"/>
          <a:stretch/>
        </p:blipFill>
        <p:spPr>
          <a:xfrm>
            <a:off x="685800" y="3639312"/>
            <a:ext cx="155448" cy="155448"/>
          </a:xfrm>
          <a:prstGeom prst="rect">
            <a:avLst/>
          </a:prstGeom>
          <a:noFill/>
          <a:ln>
            <a:noFill/>
          </a:ln>
        </p:spPr>
      </p:pic>
      <p:sp>
        <p:nvSpPr>
          <p:cNvPr id="97" name="Google Shape;97;p16"/>
          <p:cNvSpPr/>
          <p:nvPr/>
        </p:nvSpPr>
        <p:spPr>
          <a:xfrm>
            <a:off x="960120" y="3593592"/>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MVP live — accepting merchants &amp; investors</a:t>
            </a:r>
            <a:endParaRPr b="0" i="0" sz="1000" u="none" cap="none" strike="noStrike">
              <a:solidFill>
                <a:schemeClr val="dk1"/>
              </a:solidFill>
              <a:latin typeface="Calibri"/>
              <a:ea typeface="Calibri"/>
              <a:cs typeface="Calibri"/>
              <a:sym typeface="Calibri"/>
            </a:endParaRPr>
          </a:p>
        </p:txBody>
      </p:sp>
      <p:pic>
        <p:nvPicPr>
          <p:cNvPr descr="preencoded.png" id="98" name="Google Shape;98;p16"/>
          <p:cNvPicPr preferRelativeResize="0"/>
          <p:nvPr/>
        </p:nvPicPr>
        <p:blipFill rotWithShape="1">
          <a:blip r:embed="rId3">
            <a:alphaModFix/>
          </a:blip>
          <a:srcRect b="0" l="0" r="0" t="0"/>
          <a:stretch/>
        </p:blipFill>
        <p:spPr>
          <a:xfrm>
            <a:off x="685800" y="3913632"/>
            <a:ext cx="155448" cy="155448"/>
          </a:xfrm>
          <a:prstGeom prst="rect">
            <a:avLst/>
          </a:prstGeom>
          <a:noFill/>
          <a:ln>
            <a:noFill/>
          </a:ln>
        </p:spPr>
      </p:pic>
      <p:sp>
        <p:nvSpPr>
          <p:cNvPr id="99" name="Google Shape;99;p16"/>
          <p:cNvSpPr/>
          <p:nvPr/>
        </p:nvSpPr>
        <p:spPr>
          <a:xfrm>
            <a:off x="960120" y="3867912"/>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Plataforma híbrida — usuarios crypto y tradicionales</a:t>
            </a:r>
            <a:endParaRPr b="0" i="0" sz="1000" u="none" cap="none" strike="noStrike">
              <a:solidFill>
                <a:schemeClr val="dk1"/>
              </a:solidFill>
              <a:latin typeface="Calibri"/>
              <a:ea typeface="Calibri"/>
              <a:cs typeface="Calibri"/>
              <a:sym typeface="Calibri"/>
            </a:endParaRPr>
          </a:p>
        </p:txBody>
      </p:sp>
      <p:pic>
        <p:nvPicPr>
          <p:cNvPr descr="preencoded.png" id="100" name="Google Shape;100;p16"/>
          <p:cNvPicPr preferRelativeResize="0"/>
          <p:nvPr/>
        </p:nvPicPr>
        <p:blipFill rotWithShape="1">
          <a:blip r:embed="rId3">
            <a:alphaModFix/>
          </a:blip>
          <a:srcRect b="0" l="0" r="0" t="0"/>
          <a:stretch/>
        </p:blipFill>
        <p:spPr>
          <a:xfrm>
            <a:off x="685800" y="4187952"/>
            <a:ext cx="155448" cy="155448"/>
          </a:xfrm>
          <a:prstGeom prst="rect">
            <a:avLst/>
          </a:prstGeom>
          <a:noFill/>
          <a:ln>
            <a:noFill/>
          </a:ln>
        </p:spPr>
      </p:pic>
      <p:sp>
        <p:nvSpPr>
          <p:cNvPr id="101" name="Google Shape;101;p16"/>
          <p:cNvSpPr/>
          <p:nvPr/>
        </p:nvSpPr>
        <p:spPr>
          <a:xfrm>
            <a:off x="960120" y="4142232"/>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Conectividad global de pagos — cualquier método, cualquier región</a:t>
            </a:r>
            <a:endParaRPr b="0" i="0" sz="1000" u="none" cap="none" strike="noStrike">
              <a:solidFill>
                <a:schemeClr val="dk1"/>
              </a:solidFill>
              <a:latin typeface="Calibri"/>
              <a:ea typeface="Calibri"/>
              <a:cs typeface="Calibri"/>
              <a:sym typeface="Calibri"/>
            </a:endParaRPr>
          </a:p>
        </p:txBody>
      </p:sp>
      <p:pic>
        <p:nvPicPr>
          <p:cNvPr descr="preencoded.png" id="102" name="Google Shape;102;p16"/>
          <p:cNvPicPr preferRelativeResize="0"/>
          <p:nvPr/>
        </p:nvPicPr>
        <p:blipFill rotWithShape="1">
          <a:blip r:embed="rId3">
            <a:alphaModFix/>
          </a:blip>
          <a:srcRect b="0" l="0" r="0" t="0"/>
          <a:stretch/>
        </p:blipFill>
        <p:spPr>
          <a:xfrm>
            <a:off x="685800" y="4462272"/>
            <a:ext cx="155448" cy="155448"/>
          </a:xfrm>
          <a:prstGeom prst="rect">
            <a:avLst/>
          </a:prstGeom>
          <a:noFill/>
          <a:ln>
            <a:noFill/>
          </a:ln>
        </p:spPr>
      </p:pic>
      <p:sp>
        <p:nvSpPr>
          <p:cNvPr id="103" name="Google Shape;103;p16"/>
          <p:cNvSpPr/>
          <p:nvPr/>
        </p:nvSpPr>
        <p:spPr>
          <a:xfrm>
            <a:off x="960120" y="4416552"/>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Direct merchant access — retail &amp; wholesale</a:t>
            </a:r>
            <a:endParaRPr b="0" i="0" sz="1000" u="none" cap="none" strike="noStrike">
              <a:solidFill>
                <a:schemeClr val="dk1"/>
              </a:solidFill>
              <a:latin typeface="Calibri"/>
              <a:ea typeface="Calibri"/>
              <a:cs typeface="Calibri"/>
              <a:sym typeface="Calibri"/>
            </a:endParaRPr>
          </a:p>
        </p:txBody>
      </p:sp>
      <p:sp>
        <p:nvSpPr>
          <p:cNvPr id="104" name="Google Shape;104;p16"/>
          <p:cNvSpPr/>
          <p:nvPr/>
        </p:nvSpPr>
        <p:spPr>
          <a:xfrm>
            <a:off x="4754880" y="3200400"/>
            <a:ext cx="3931800" cy="1645800"/>
          </a:xfrm>
          <a:prstGeom prst="rect">
            <a:avLst/>
          </a:prstGeom>
          <a:solidFill>
            <a:srgbClr val="FFFFFF"/>
          </a:solidFill>
          <a:ln>
            <a:noFill/>
          </a:ln>
          <a:effectLst>
            <a:outerShdw blurRad="508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4983480" y="3291840"/>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Socios Clave</a:t>
            </a:r>
            <a:endParaRPr b="0" i="0" sz="1200" u="none" cap="none" strike="noStrike">
              <a:solidFill>
                <a:schemeClr val="dk1"/>
              </a:solidFill>
              <a:latin typeface="Calibri"/>
              <a:ea typeface="Calibri"/>
              <a:cs typeface="Calibri"/>
              <a:sym typeface="Calibri"/>
            </a:endParaRPr>
          </a:p>
        </p:txBody>
      </p:sp>
      <p:pic>
        <p:nvPicPr>
          <p:cNvPr descr="preencoded.png" id="106" name="Google Shape;106;p16"/>
          <p:cNvPicPr preferRelativeResize="0"/>
          <p:nvPr/>
        </p:nvPicPr>
        <p:blipFill rotWithShape="1">
          <a:blip r:embed="rId4">
            <a:alphaModFix/>
          </a:blip>
          <a:srcRect b="0" l="0" r="0" t="0"/>
          <a:stretch/>
        </p:blipFill>
        <p:spPr>
          <a:xfrm>
            <a:off x="4983480" y="3657600"/>
            <a:ext cx="146304" cy="146304"/>
          </a:xfrm>
          <a:prstGeom prst="rect">
            <a:avLst/>
          </a:prstGeom>
          <a:noFill/>
          <a:ln>
            <a:noFill/>
          </a:ln>
        </p:spPr>
      </p:pic>
      <p:sp>
        <p:nvSpPr>
          <p:cNvPr id="107" name="Google Shape;107;p16"/>
          <p:cNvSpPr/>
          <p:nvPr/>
        </p:nvSpPr>
        <p:spPr>
          <a:xfrm>
            <a:off x="5230368" y="3602736"/>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Gobierno de Sudán  </a:t>
            </a:r>
            <a:r>
              <a:rPr b="0" i="0" lang="en-US" sz="1000" u="none" cap="none" strike="noStrike">
                <a:solidFill>
                  <a:srgbClr val="4A5568"/>
                </a:solidFill>
                <a:latin typeface="Arial"/>
                <a:ea typeface="Arial"/>
                <a:cs typeface="Arial"/>
                <a:sym typeface="Arial"/>
              </a:rPr>
              <a:t>Importaciones de commodities esenciales</a:t>
            </a:r>
            <a:endParaRPr b="0" i="0" sz="1000" u="none" cap="none" strike="noStrike">
              <a:solidFill>
                <a:schemeClr val="dk1"/>
              </a:solidFill>
              <a:latin typeface="Calibri"/>
              <a:ea typeface="Calibri"/>
              <a:cs typeface="Calibri"/>
              <a:sym typeface="Calibri"/>
            </a:endParaRPr>
          </a:p>
        </p:txBody>
      </p:sp>
      <p:pic>
        <p:nvPicPr>
          <p:cNvPr descr="preencoded.png" id="108" name="Google Shape;108;p16"/>
          <p:cNvPicPr preferRelativeResize="0"/>
          <p:nvPr/>
        </p:nvPicPr>
        <p:blipFill rotWithShape="1">
          <a:blip r:embed="rId4">
            <a:alphaModFix/>
          </a:blip>
          <a:srcRect b="0" l="0" r="0" t="0"/>
          <a:stretch/>
        </p:blipFill>
        <p:spPr>
          <a:xfrm>
            <a:off x="4983480" y="4005072"/>
            <a:ext cx="146304" cy="146304"/>
          </a:xfrm>
          <a:prstGeom prst="rect">
            <a:avLst/>
          </a:prstGeom>
          <a:noFill/>
          <a:ln>
            <a:noFill/>
          </a:ln>
        </p:spPr>
      </p:pic>
      <p:sp>
        <p:nvSpPr>
          <p:cNvPr id="109" name="Google Shape;109;p16"/>
          <p:cNvSpPr/>
          <p:nvPr/>
        </p:nvSpPr>
        <p:spPr>
          <a:xfrm>
            <a:off x="5230368" y="3950208"/>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Puerto de Tesalónica (ThPA)  </a:t>
            </a:r>
            <a:r>
              <a:rPr b="0" i="0" lang="en-US" sz="1000" u="none" cap="none" strike="noStrike">
                <a:solidFill>
                  <a:srgbClr val="4A5568"/>
                </a:solidFill>
                <a:latin typeface="Arial"/>
                <a:ea typeface="Arial"/>
                <a:cs typeface="Arial"/>
                <a:sym typeface="Arial"/>
              </a:rPr>
              <a:t>Gateway logístico de la UE</a:t>
            </a:r>
            <a:endParaRPr b="0" i="0" sz="1000" u="none" cap="none" strike="noStrike">
              <a:solidFill>
                <a:schemeClr val="dk1"/>
              </a:solidFill>
              <a:latin typeface="Calibri"/>
              <a:ea typeface="Calibri"/>
              <a:cs typeface="Calibri"/>
              <a:sym typeface="Calibri"/>
            </a:endParaRPr>
          </a:p>
        </p:txBody>
      </p:sp>
      <p:pic>
        <p:nvPicPr>
          <p:cNvPr descr="preencoded.png" id="110" name="Google Shape;110;p16"/>
          <p:cNvPicPr preferRelativeResize="0"/>
          <p:nvPr/>
        </p:nvPicPr>
        <p:blipFill rotWithShape="1">
          <a:blip r:embed="rId4">
            <a:alphaModFix/>
          </a:blip>
          <a:srcRect b="0" l="0" r="0" t="0"/>
          <a:stretch/>
        </p:blipFill>
        <p:spPr>
          <a:xfrm>
            <a:off x="4983480" y="4352544"/>
            <a:ext cx="146304" cy="146304"/>
          </a:xfrm>
          <a:prstGeom prst="rect">
            <a:avLst/>
          </a:prstGeom>
          <a:noFill/>
          <a:ln>
            <a:noFill/>
          </a:ln>
        </p:spPr>
      </p:pic>
      <p:sp>
        <p:nvSpPr>
          <p:cNvPr id="111" name="Google Shape;111;p16"/>
          <p:cNvSpPr/>
          <p:nvPr/>
        </p:nvSpPr>
        <p:spPr>
          <a:xfrm>
            <a:off x="5230368" y="4297680"/>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World Trade Center Accra  </a:t>
            </a:r>
            <a:r>
              <a:rPr b="0" i="0" lang="en-US" sz="1000" u="none" cap="none" strike="noStrike">
                <a:solidFill>
                  <a:srgbClr val="4A5568"/>
                </a:solidFill>
                <a:latin typeface="Arial"/>
                <a:ea typeface="Arial"/>
                <a:cs typeface="Arial"/>
                <a:sym typeface="Arial"/>
              </a:rPr>
              <a:t>Corredor comercial Ghana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116" name="Shape 116"/>
        <p:cNvGrpSpPr/>
        <p:nvPr/>
      </p:nvGrpSpPr>
      <p:grpSpPr>
        <a:xfrm>
          <a:off x="0" y="0"/>
          <a:ext cx="0" cy="0"/>
          <a:chOff x="0" y="0"/>
          <a:chExt cx="0" cy="0"/>
        </a:xfrm>
      </p:grpSpPr>
      <p:sp>
        <p:nvSpPr>
          <p:cNvPr id="117" name="Google Shape;117;p17"/>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Cómo Funciona</a:t>
            </a:r>
            <a:endParaRPr b="0" i="0" sz="2800" u="none" cap="none" strike="noStrike">
              <a:solidFill>
                <a:schemeClr val="dk1"/>
              </a:solidFill>
              <a:latin typeface="Calibri"/>
              <a:ea typeface="Calibri"/>
              <a:cs typeface="Calibri"/>
              <a:sym typeface="Calibri"/>
            </a:endParaRPr>
          </a:p>
        </p:txBody>
      </p:sp>
      <p:sp>
        <p:nvSpPr>
          <p:cNvPr id="119" name="Google Shape;119;p17"/>
          <p:cNvSpPr/>
          <p:nvPr/>
        </p:nvSpPr>
        <p:spPr>
          <a:xfrm>
            <a:off x="731520" y="731520"/>
            <a:ext cx="7680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Skyocean posee la mercancía en cada etapa. Comerciantes y compradores acceden directamente a los bienes a través de nuestra plataforma.</a:t>
            </a:r>
            <a:endParaRPr b="0" i="0" sz="1200" u="none" cap="none" strike="noStrike">
              <a:solidFill>
                <a:schemeClr val="dk1"/>
              </a:solidFill>
              <a:latin typeface="Calibri"/>
              <a:ea typeface="Calibri"/>
              <a:cs typeface="Calibri"/>
              <a:sym typeface="Calibri"/>
            </a:endParaRPr>
          </a:p>
        </p:txBody>
      </p:sp>
      <p:sp>
        <p:nvSpPr>
          <p:cNvPr id="120" name="Google Shape;120;p17"/>
          <p:cNvSpPr/>
          <p:nvPr/>
        </p:nvSpPr>
        <p:spPr>
          <a:xfrm>
            <a:off x="457200" y="1280160"/>
            <a:ext cx="1965960" cy="20116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1143000" y="1417320"/>
            <a:ext cx="594360" cy="594360"/>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1143000" y="14173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1</a:t>
            </a:r>
            <a:endParaRPr b="0" i="0" sz="2200" u="none" cap="none" strike="noStrike">
              <a:solidFill>
                <a:schemeClr val="dk1"/>
              </a:solidFill>
              <a:latin typeface="Calibri"/>
              <a:ea typeface="Calibri"/>
              <a:cs typeface="Calibri"/>
              <a:sym typeface="Calibri"/>
            </a:endParaRPr>
          </a:p>
        </p:txBody>
      </p:sp>
      <p:sp>
        <p:nvSpPr>
          <p:cNvPr id="123" name="Google Shape;123;p17"/>
          <p:cNvSpPr/>
          <p:nvPr/>
        </p:nvSpPr>
        <p:spPr>
          <a:xfrm>
            <a:off x="594360" y="2148840"/>
            <a:ext cx="1691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Pedidos del Comprador</a:t>
            </a:r>
            <a:endParaRPr b="0" i="0" sz="1200" u="none" cap="none" strike="noStrike">
              <a:solidFill>
                <a:schemeClr val="dk1"/>
              </a:solidFill>
              <a:latin typeface="Calibri"/>
              <a:ea typeface="Calibri"/>
              <a:cs typeface="Calibri"/>
              <a:sym typeface="Calibri"/>
            </a:endParaRPr>
          </a:p>
        </p:txBody>
      </p:sp>
      <p:sp>
        <p:nvSpPr>
          <p:cNvPr id="124" name="Google Shape;124;p17"/>
          <p:cNvSpPr/>
          <p:nvPr/>
        </p:nvSpPr>
        <p:spPr>
          <a:xfrm>
            <a:off x="594360" y="2468880"/>
            <a:ext cx="16916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Merchant or retail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buyer places order</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directly on platform.</a:t>
            </a:r>
            <a:endParaRPr b="0" i="0" sz="1000" u="none" cap="none" strike="noStrike">
              <a:solidFill>
                <a:schemeClr val="dk1"/>
              </a:solidFill>
              <a:latin typeface="Calibri"/>
              <a:ea typeface="Calibri"/>
              <a:cs typeface="Calibri"/>
              <a:sym typeface="Calibri"/>
            </a:endParaRPr>
          </a:p>
        </p:txBody>
      </p:sp>
      <p:pic>
        <p:nvPicPr>
          <p:cNvPr descr="preencoded.png" id="125" name="Google Shape;125;p17"/>
          <p:cNvPicPr preferRelativeResize="0"/>
          <p:nvPr/>
        </p:nvPicPr>
        <p:blipFill rotWithShape="1">
          <a:blip r:embed="rId3">
            <a:alphaModFix/>
          </a:blip>
          <a:srcRect b="0" l="0" r="0" t="0"/>
          <a:stretch/>
        </p:blipFill>
        <p:spPr>
          <a:xfrm>
            <a:off x="2468880" y="2103120"/>
            <a:ext cx="164592" cy="164592"/>
          </a:xfrm>
          <a:prstGeom prst="rect">
            <a:avLst/>
          </a:prstGeom>
          <a:noFill/>
          <a:ln>
            <a:noFill/>
          </a:ln>
        </p:spPr>
      </p:pic>
      <p:sp>
        <p:nvSpPr>
          <p:cNvPr id="126" name="Google Shape;126;p17"/>
          <p:cNvSpPr/>
          <p:nvPr/>
        </p:nvSpPr>
        <p:spPr>
          <a:xfrm>
            <a:off x="2651760" y="1280160"/>
            <a:ext cx="1965960" cy="20116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3337560" y="1417320"/>
            <a:ext cx="594360" cy="594360"/>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3337560" y="14173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2</a:t>
            </a:r>
            <a:endParaRPr b="0" i="0" sz="2200" u="none" cap="none" strike="noStrike">
              <a:solidFill>
                <a:schemeClr val="dk1"/>
              </a:solidFill>
              <a:latin typeface="Calibri"/>
              <a:ea typeface="Calibri"/>
              <a:cs typeface="Calibri"/>
              <a:sym typeface="Calibri"/>
            </a:endParaRPr>
          </a:p>
        </p:txBody>
      </p:sp>
      <p:sp>
        <p:nvSpPr>
          <p:cNvPr id="129" name="Google Shape;129;p17"/>
          <p:cNvSpPr/>
          <p:nvPr/>
        </p:nvSpPr>
        <p:spPr>
          <a:xfrm>
            <a:off x="2788920" y="2148840"/>
            <a:ext cx="1691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We Procure &amp; Ship</a:t>
            </a:r>
            <a:endParaRPr b="0" i="0" sz="1200" u="none" cap="none" strike="noStrike">
              <a:solidFill>
                <a:schemeClr val="dk1"/>
              </a:solidFill>
              <a:latin typeface="Calibri"/>
              <a:ea typeface="Calibri"/>
              <a:cs typeface="Calibri"/>
              <a:sym typeface="Calibri"/>
            </a:endParaRPr>
          </a:p>
        </p:txBody>
      </p:sp>
      <p:sp>
        <p:nvSpPr>
          <p:cNvPr id="130" name="Google Shape;130;p17"/>
          <p:cNvSpPr/>
          <p:nvPr/>
        </p:nvSpPr>
        <p:spPr>
          <a:xfrm>
            <a:off x="2788920" y="2468880"/>
            <a:ext cx="16916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Skyocean buys the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commodity. We retain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title throughout.</a:t>
            </a:r>
            <a:endParaRPr b="0" i="0" sz="1000" u="none" cap="none" strike="noStrike">
              <a:solidFill>
                <a:schemeClr val="dk1"/>
              </a:solidFill>
              <a:latin typeface="Calibri"/>
              <a:ea typeface="Calibri"/>
              <a:cs typeface="Calibri"/>
              <a:sym typeface="Calibri"/>
            </a:endParaRPr>
          </a:p>
        </p:txBody>
      </p:sp>
      <p:pic>
        <p:nvPicPr>
          <p:cNvPr descr="preencoded.png" id="131" name="Google Shape;131;p17"/>
          <p:cNvPicPr preferRelativeResize="0"/>
          <p:nvPr/>
        </p:nvPicPr>
        <p:blipFill rotWithShape="1">
          <a:blip r:embed="rId3">
            <a:alphaModFix/>
          </a:blip>
          <a:srcRect b="0" l="0" r="0" t="0"/>
          <a:stretch/>
        </p:blipFill>
        <p:spPr>
          <a:xfrm>
            <a:off x="4663440" y="2103120"/>
            <a:ext cx="164592" cy="164592"/>
          </a:xfrm>
          <a:prstGeom prst="rect">
            <a:avLst/>
          </a:prstGeom>
          <a:noFill/>
          <a:ln>
            <a:noFill/>
          </a:ln>
        </p:spPr>
      </p:pic>
      <p:sp>
        <p:nvSpPr>
          <p:cNvPr id="132" name="Google Shape;132;p17"/>
          <p:cNvSpPr/>
          <p:nvPr/>
        </p:nvSpPr>
        <p:spPr>
          <a:xfrm>
            <a:off x="4846320" y="1280160"/>
            <a:ext cx="1965960" cy="20116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7"/>
          <p:cNvSpPr/>
          <p:nvPr/>
        </p:nvSpPr>
        <p:spPr>
          <a:xfrm>
            <a:off x="5532120" y="1417320"/>
            <a:ext cx="594360" cy="594360"/>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a:off x="5532120" y="14173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3</a:t>
            </a:r>
            <a:endParaRPr b="0" i="0" sz="2200" u="none" cap="none" strike="noStrike">
              <a:solidFill>
                <a:schemeClr val="dk1"/>
              </a:solidFill>
              <a:latin typeface="Calibri"/>
              <a:ea typeface="Calibri"/>
              <a:cs typeface="Calibri"/>
              <a:sym typeface="Calibri"/>
            </a:endParaRPr>
          </a:p>
        </p:txBody>
      </p:sp>
      <p:sp>
        <p:nvSpPr>
          <p:cNvPr id="135" name="Google Shape;135;p17"/>
          <p:cNvSpPr/>
          <p:nvPr/>
        </p:nvSpPr>
        <p:spPr>
          <a:xfrm>
            <a:off x="4983480" y="2148840"/>
            <a:ext cx="1691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Entrega Verificada</a:t>
            </a:r>
            <a:endParaRPr b="0" i="0" sz="1200" u="none" cap="none" strike="noStrike">
              <a:solidFill>
                <a:schemeClr val="dk1"/>
              </a:solidFill>
              <a:latin typeface="Calibri"/>
              <a:ea typeface="Calibri"/>
              <a:cs typeface="Calibri"/>
              <a:sym typeface="Calibri"/>
            </a:endParaRPr>
          </a:p>
        </p:txBody>
      </p:sp>
      <p:sp>
        <p:nvSpPr>
          <p:cNvPr id="136" name="Google Shape;136;p17"/>
          <p:cNvSpPr/>
          <p:nvPr/>
        </p:nvSpPr>
        <p:spPr>
          <a:xfrm>
            <a:off x="4983480" y="2468880"/>
            <a:ext cx="16916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Quality inspection.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Digital verification.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Payment on delivery.</a:t>
            </a:r>
            <a:endParaRPr b="0" i="0" sz="1000" u="none" cap="none" strike="noStrike">
              <a:solidFill>
                <a:schemeClr val="dk1"/>
              </a:solidFill>
              <a:latin typeface="Calibri"/>
              <a:ea typeface="Calibri"/>
              <a:cs typeface="Calibri"/>
              <a:sym typeface="Calibri"/>
            </a:endParaRPr>
          </a:p>
        </p:txBody>
      </p:sp>
      <p:pic>
        <p:nvPicPr>
          <p:cNvPr descr="preencoded.png" id="137" name="Google Shape;137;p17"/>
          <p:cNvPicPr preferRelativeResize="0"/>
          <p:nvPr/>
        </p:nvPicPr>
        <p:blipFill rotWithShape="1">
          <a:blip r:embed="rId3">
            <a:alphaModFix/>
          </a:blip>
          <a:srcRect b="0" l="0" r="0" t="0"/>
          <a:stretch/>
        </p:blipFill>
        <p:spPr>
          <a:xfrm>
            <a:off x="6858000" y="2103120"/>
            <a:ext cx="164592" cy="164592"/>
          </a:xfrm>
          <a:prstGeom prst="rect">
            <a:avLst/>
          </a:prstGeom>
          <a:noFill/>
          <a:ln>
            <a:noFill/>
          </a:ln>
        </p:spPr>
      </p:pic>
      <p:sp>
        <p:nvSpPr>
          <p:cNvPr id="138" name="Google Shape;138;p17"/>
          <p:cNvSpPr/>
          <p:nvPr/>
        </p:nvSpPr>
        <p:spPr>
          <a:xfrm>
            <a:off x="7040880" y="1280160"/>
            <a:ext cx="1965960" cy="20116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7726680" y="1417320"/>
            <a:ext cx="594360" cy="594360"/>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a:off x="7726680" y="14173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4</a:t>
            </a:r>
            <a:endParaRPr b="0" i="0" sz="2200" u="none" cap="none" strike="noStrike">
              <a:solidFill>
                <a:schemeClr val="dk1"/>
              </a:solidFill>
              <a:latin typeface="Calibri"/>
              <a:ea typeface="Calibri"/>
              <a:cs typeface="Calibri"/>
              <a:sym typeface="Calibri"/>
            </a:endParaRPr>
          </a:p>
        </p:txBody>
      </p:sp>
      <p:sp>
        <p:nvSpPr>
          <p:cNvPr id="141" name="Google Shape;141;p17"/>
          <p:cNvSpPr/>
          <p:nvPr/>
        </p:nvSpPr>
        <p:spPr>
          <a:xfrm>
            <a:off x="7178040" y="2148840"/>
            <a:ext cx="1691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Retornos Generados</a:t>
            </a:r>
            <a:endParaRPr b="0" i="0" sz="1200" u="none" cap="none" strike="noStrike">
              <a:solidFill>
                <a:schemeClr val="dk1"/>
              </a:solidFill>
              <a:latin typeface="Calibri"/>
              <a:ea typeface="Calibri"/>
              <a:cs typeface="Calibri"/>
              <a:sym typeface="Calibri"/>
            </a:endParaRPr>
          </a:p>
        </p:txBody>
      </p:sp>
      <p:sp>
        <p:nvSpPr>
          <p:cNvPr id="142" name="Google Shape;142;p17"/>
          <p:cNvSpPr/>
          <p:nvPr/>
        </p:nvSpPr>
        <p:spPr>
          <a:xfrm>
            <a:off x="7178040" y="2468880"/>
            <a:ext cx="16916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Trade margin earned.</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Capital recycled to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000"/>
              <a:buFont typeface="Arial"/>
              <a:buNone/>
            </a:pPr>
            <a:r>
              <a:rPr b="0" i="0" lang="en-US" sz="1000" u="none" cap="none" strike="noStrike">
                <a:solidFill>
                  <a:srgbClr val="4A5568"/>
                </a:solidFill>
                <a:latin typeface="Arial"/>
                <a:ea typeface="Arial"/>
                <a:cs typeface="Arial"/>
                <a:sym typeface="Arial"/>
              </a:rPr>
              <a:t>next trade cycle.</a:t>
            </a:r>
            <a:endParaRPr b="0" i="0" sz="1000" u="none" cap="none" strike="noStrike">
              <a:solidFill>
                <a:schemeClr val="dk1"/>
              </a:solidFill>
              <a:latin typeface="Calibri"/>
              <a:ea typeface="Calibri"/>
              <a:cs typeface="Calibri"/>
              <a:sym typeface="Calibri"/>
            </a:endParaRPr>
          </a:p>
        </p:txBody>
      </p:sp>
      <p:sp>
        <p:nvSpPr>
          <p:cNvPr id="143" name="Google Shape;143;p17"/>
          <p:cNvSpPr/>
          <p:nvPr/>
        </p:nvSpPr>
        <p:spPr>
          <a:xfrm>
            <a:off x="457200" y="3520440"/>
            <a:ext cx="3931920" cy="123444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a:off x="640080" y="3611880"/>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100"/>
              <a:buFont typeface="Arial"/>
              <a:buNone/>
            </a:pPr>
            <a:r>
              <a:rPr b="1" i="0" lang="en-US" sz="1100" u="none" cap="none" strike="noStrike">
                <a:solidFill>
                  <a:srgbClr val="CCDDEE"/>
                </a:solidFill>
                <a:latin typeface="Arial"/>
                <a:ea typeface="Arial"/>
                <a:cs typeface="Arial"/>
                <a:sym typeface="Arial"/>
              </a:rPr>
              <a:t>Financiamiento Comercial Tradicional</a:t>
            </a:r>
            <a:endParaRPr b="0" i="0" sz="1100" u="none" cap="none" strike="noStrike">
              <a:solidFill>
                <a:srgbClr val="CCDDEE"/>
              </a:solidFill>
              <a:latin typeface="Calibri"/>
              <a:ea typeface="Calibri"/>
              <a:cs typeface="Calibri"/>
              <a:sym typeface="Calibri"/>
            </a:endParaRPr>
          </a:p>
        </p:txBody>
      </p:sp>
      <p:sp>
        <p:nvSpPr>
          <p:cNvPr id="145" name="Google Shape;145;p17"/>
          <p:cNvSpPr/>
          <p:nvPr/>
        </p:nvSpPr>
        <p:spPr>
          <a:xfrm>
            <a:off x="640080" y="3886200"/>
            <a:ext cx="35661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El banco presta dinero → cobra intereses → el prestatario paga o incumple → el banco pierde todo. Requiere +150% de colateral. 30-45 días de procesamiento.</a:t>
            </a:r>
            <a:endParaRPr b="0" i="0" sz="950" u="none" cap="none" strike="noStrike">
              <a:solidFill>
                <a:schemeClr val="dk1"/>
              </a:solidFill>
              <a:latin typeface="Calibri"/>
              <a:ea typeface="Calibri"/>
              <a:cs typeface="Calibri"/>
              <a:sym typeface="Calibri"/>
            </a:endParaRPr>
          </a:p>
        </p:txBody>
      </p:sp>
      <p:sp>
        <p:nvSpPr>
          <p:cNvPr id="146" name="Google Shape;146;p17"/>
          <p:cNvSpPr/>
          <p:nvPr/>
        </p:nvSpPr>
        <p:spPr>
          <a:xfrm>
            <a:off x="4754880" y="3520440"/>
            <a:ext cx="3931920" cy="123444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7"/>
          <p:cNvSpPr/>
          <p:nvPr/>
        </p:nvSpPr>
        <p:spPr>
          <a:xfrm>
            <a:off x="4937760" y="3611880"/>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Modelo Skyocean</a:t>
            </a:r>
            <a:endParaRPr b="0" i="0" sz="1100" u="none" cap="none" strike="noStrike">
              <a:solidFill>
                <a:schemeClr val="dk1"/>
              </a:solidFill>
              <a:latin typeface="Calibri"/>
              <a:ea typeface="Calibri"/>
              <a:cs typeface="Calibri"/>
              <a:sym typeface="Calibri"/>
            </a:endParaRPr>
          </a:p>
        </p:txBody>
      </p:sp>
      <p:sp>
        <p:nvSpPr>
          <p:cNvPr id="148" name="Google Shape;148;p17"/>
          <p:cNvSpPr/>
          <p:nvPr/>
        </p:nvSpPr>
        <p:spPr>
          <a:xfrm>
            <a:off x="4937760" y="3886200"/>
            <a:ext cx="35661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FF4"/>
              </a:buClr>
              <a:buSzPts val="950"/>
              <a:buFont typeface="Arial"/>
              <a:buNone/>
            </a:pPr>
            <a:r>
              <a:rPr b="0" i="0" lang="en-US" sz="950" u="none" cap="none" strike="noStrike">
                <a:solidFill>
                  <a:srgbClr val="E8FFF4"/>
                </a:solidFill>
                <a:latin typeface="Arial"/>
                <a:ea typeface="Arial"/>
                <a:cs typeface="Arial"/>
                <a:sym typeface="Arial"/>
              </a:rPr>
              <a:t>Compramos la mercancía → enviamos al comprador → el comprador paga el precio comercial → si incumple, revendemos. Sin préstamos, sin intereses, sin colateral. Los bienes son el colateral.</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153" name="Shape 153"/>
        <p:cNvGrpSpPr/>
        <p:nvPr/>
      </p:nvGrpSpPr>
      <p:grpSpPr>
        <a:xfrm>
          <a:off x="0" y="0"/>
          <a:ext cx="0" cy="0"/>
          <a:chOff x="0" y="0"/>
          <a:chExt cx="0" cy="0"/>
        </a:xfrm>
      </p:grpSpPr>
      <p:sp>
        <p:nvSpPr>
          <p:cNvPr id="154" name="Google Shape;154;p18"/>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El Problema que Resolvemos</a:t>
            </a:r>
            <a:endParaRPr b="0" i="0" sz="2800" u="none" cap="none" strike="noStrike">
              <a:solidFill>
                <a:schemeClr val="dk1"/>
              </a:solidFill>
              <a:latin typeface="Calibri"/>
              <a:ea typeface="Calibri"/>
              <a:cs typeface="Calibri"/>
              <a:sym typeface="Calibri"/>
            </a:endParaRPr>
          </a:p>
        </p:txBody>
      </p:sp>
      <p:sp>
        <p:nvSpPr>
          <p:cNvPr id="156" name="Google Shape;156;p18"/>
          <p:cNvSpPr/>
          <p:nvPr/>
        </p:nvSpPr>
        <p:spPr>
          <a:xfrm>
            <a:off x="457200" y="822960"/>
            <a:ext cx="8229600" cy="45720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p:nvPr/>
        </p:nvSpPr>
        <p:spPr>
          <a:xfrm>
            <a:off x="731520" y="822960"/>
            <a:ext cx="7680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$2.6 billones de brecha en financiamiento comercial | 70% de solicitantes primerizos rechazados | 40% tasa de rechazo en África</a:t>
            </a:r>
            <a:endParaRPr b="0" i="0" sz="1200" u="none" cap="none" strike="noStrike">
              <a:solidFill>
                <a:schemeClr val="dk1"/>
              </a:solidFill>
              <a:latin typeface="Calibri"/>
              <a:ea typeface="Calibri"/>
              <a:cs typeface="Calibri"/>
              <a:sym typeface="Calibri"/>
            </a:endParaRPr>
          </a:p>
        </p:txBody>
      </p:sp>
      <p:sp>
        <p:nvSpPr>
          <p:cNvPr id="158" name="Google Shape;158;p18"/>
          <p:cNvSpPr/>
          <p:nvPr/>
        </p:nvSpPr>
        <p:spPr>
          <a:xfrm>
            <a:off x="457200" y="1508760"/>
            <a:ext cx="3931920" cy="3246120"/>
          </a:xfrm>
          <a:prstGeom prst="rect">
            <a:avLst/>
          </a:prstGeom>
          <a:solidFill>
            <a:srgbClr val="FFF8F5"/>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731520" y="1627632"/>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4444"/>
              </a:buClr>
              <a:buSzPts val="1300"/>
              <a:buFont typeface="Arial"/>
              <a:buNone/>
            </a:pPr>
            <a:r>
              <a:rPr b="1" i="0" lang="en-US" sz="1300" u="none" cap="none" strike="noStrike">
                <a:solidFill>
                  <a:srgbClr val="CC4444"/>
                </a:solidFill>
                <a:latin typeface="Arial"/>
                <a:ea typeface="Arial"/>
                <a:cs typeface="Arial"/>
                <a:sym typeface="Arial"/>
              </a:rPr>
              <a:t>Por Qué los Bancos No Pueden Cerrar la Brecha</a:t>
            </a:r>
            <a:endParaRPr b="0" i="0" sz="1300" u="none" cap="none" strike="noStrike">
              <a:solidFill>
                <a:schemeClr val="dk1"/>
              </a:solidFill>
              <a:latin typeface="Calibri"/>
              <a:ea typeface="Calibri"/>
              <a:cs typeface="Calibri"/>
              <a:sym typeface="Calibri"/>
            </a:endParaRPr>
          </a:p>
        </p:txBody>
      </p:sp>
      <p:pic>
        <p:nvPicPr>
          <p:cNvPr descr="preencoded.png" id="160" name="Google Shape;160;p18"/>
          <p:cNvPicPr preferRelativeResize="0"/>
          <p:nvPr/>
        </p:nvPicPr>
        <p:blipFill rotWithShape="1">
          <a:blip r:embed="rId3">
            <a:alphaModFix/>
          </a:blip>
          <a:srcRect b="0" l="0" r="0" t="0"/>
          <a:stretch/>
        </p:blipFill>
        <p:spPr>
          <a:xfrm>
            <a:off x="731520" y="2011680"/>
            <a:ext cx="182880" cy="182880"/>
          </a:xfrm>
          <a:prstGeom prst="rect">
            <a:avLst/>
          </a:prstGeom>
          <a:noFill/>
          <a:ln>
            <a:noFill/>
          </a:ln>
        </p:spPr>
      </p:pic>
      <p:sp>
        <p:nvSpPr>
          <p:cNvPr id="161" name="Google Shape;161;p18"/>
          <p:cNvSpPr/>
          <p:nvPr/>
        </p:nvSpPr>
        <p:spPr>
          <a:xfrm>
            <a:off x="1024128" y="196596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Sin visibilidad en la cadena de suministro — apostando a extraños</a:t>
            </a:r>
            <a:endParaRPr b="0" i="0" sz="1050" u="none" cap="none" strike="noStrike">
              <a:solidFill>
                <a:schemeClr val="dk1"/>
              </a:solidFill>
              <a:latin typeface="Calibri"/>
              <a:ea typeface="Calibri"/>
              <a:cs typeface="Calibri"/>
              <a:sym typeface="Calibri"/>
            </a:endParaRPr>
          </a:p>
        </p:txBody>
      </p:sp>
      <p:pic>
        <p:nvPicPr>
          <p:cNvPr descr="preencoded.png" id="162" name="Google Shape;162;p18"/>
          <p:cNvPicPr preferRelativeResize="0"/>
          <p:nvPr/>
        </p:nvPicPr>
        <p:blipFill rotWithShape="1">
          <a:blip r:embed="rId3">
            <a:alphaModFix/>
          </a:blip>
          <a:srcRect b="0" l="0" r="0" t="0"/>
          <a:stretch/>
        </p:blipFill>
        <p:spPr>
          <a:xfrm>
            <a:off x="731520" y="2450592"/>
            <a:ext cx="182880" cy="182880"/>
          </a:xfrm>
          <a:prstGeom prst="rect">
            <a:avLst/>
          </a:prstGeom>
          <a:noFill/>
          <a:ln>
            <a:noFill/>
          </a:ln>
        </p:spPr>
      </p:pic>
      <p:sp>
        <p:nvSpPr>
          <p:cNvPr id="163" name="Google Shape;163;p18"/>
          <p:cNvSpPr/>
          <p:nvPr/>
        </p:nvSpPr>
        <p:spPr>
          <a:xfrm>
            <a:off x="1024128" y="2404872"/>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Techos de usura (8-15%) hacen poco rentables las operaciones de riesgo</a:t>
            </a:r>
            <a:endParaRPr b="0" i="0" sz="1050" u="none" cap="none" strike="noStrike">
              <a:solidFill>
                <a:schemeClr val="dk1"/>
              </a:solidFill>
              <a:latin typeface="Calibri"/>
              <a:ea typeface="Calibri"/>
              <a:cs typeface="Calibri"/>
              <a:sym typeface="Calibri"/>
            </a:endParaRPr>
          </a:p>
        </p:txBody>
      </p:sp>
      <p:pic>
        <p:nvPicPr>
          <p:cNvPr descr="preencoded.png" id="164" name="Google Shape;164;p18"/>
          <p:cNvPicPr preferRelativeResize="0"/>
          <p:nvPr/>
        </p:nvPicPr>
        <p:blipFill rotWithShape="1">
          <a:blip r:embed="rId3">
            <a:alphaModFix/>
          </a:blip>
          <a:srcRect b="0" l="0" r="0" t="0"/>
          <a:stretch/>
        </p:blipFill>
        <p:spPr>
          <a:xfrm>
            <a:off x="731520" y="2889504"/>
            <a:ext cx="182880" cy="182880"/>
          </a:xfrm>
          <a:prstGeom prst="rect">
            <a:avLst/>
          </a:prstGeom>
          <a:noFill/>
          <a:ln>
            <a:noFill/>
          </a:ln>
        </p:spPr>
      </p:pic>
      <p:sp>
        <p:nvSpPr>
          <p:cNvPr id="165" name="Google Shape;165;p18"/>
          <p:cNvSpPr/>
          <p:nvPr/>
        </p:nvSpPr>
        <p:spPr>
          <a:xfrm>
            <a:off x="1024128" y="2843784"/>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Los costos de evaluación crediticia superan la ganancia en operaciones pequeñas</a:t>
            </a:r>
            <a:endParaRPr b="0" i="0" sz="1050" u="none" cap="none" strike="noStrike">
              <a:solidFill>
                <a:schemeClr val="dk1"/>
              </a:solidFill>
              <a:latin typeface="Calibri"/>
              <a:ea typeface="Calibri"/>
              <a:cs typeface="Calibri"/>
              <a:sym typeface="Calibri"/>
            </a:endParaRPr>
          </a:p>
        </p:txBody>
      </p:sp>
      <p:pic>
        <p:nvPicPr>
          <p:cNvPr descr="preencoded.png" id="166" name="Google Shape;166;p18"/>
          <p:cNvPicPr preferRelativeResize="0"/>
          <p:nvPr/>
        </p:nvPicPr>
        <p:blipFill rotWithShape="1">
          <a:blip r:embed="rId3">
            <a:alphaModFix/>
          </a:blip>
          <a:srcRect b="0" l="0" r="0" t="0"/>
          <a:stretch/>
        </p:blipFill>
        <p:spPr>
          <a:xfrm>
            <a:off x="731520" y="3328416"/>
            <a:ext cx="182880" cy="182880"/>
          </a:xfrm>
          <a:prstGeom prst="rect">
            <a:avLst/>
          </a:prstGeom>
          <a:noFill/>
          <a:ln>
            <a:noFill/>
          </a:ln>
        </p:spPr>
      </p:pic>
      <p:sp>
        <p:nvSpPr>
          <p:cNvPr id="167" name="Google Shape;167;p18"/>
          <p:cNvSpPr/>
          <p:nvPr/>
        </p:nvSpPr>
        <p:spPr>
          <a:xfrm>
            <a:off x="1024128" y="3282696"/>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Resultado binario: el prestatario paga o pérdida total</a:t>
            </a:r>
            <a:endParaRPr b="0" i="0" sz="1050" u="none" cap="none" strike="noStrike">
              <a:solidFill>
                <a:schemeClr val="dk1"/>
              </a:solidFill>
              <a:latin typeface="Calibri"/>
              <a:ea typeface="Calibri"/>
              <a:cs typeface="Calibri"/>
              <a:sym typeface="Calibri"/>
            </a:endParaRPr>
          </a:p>
        </p:txBody>
      </p:sp>
      <p:pic>
        <p:nvPicPr>
          <p:cNvPr descr="preencoded.png" id="168" name="Google Shape;168;p18"/>
          <p:cNvPicPr preferRelativeResize="0"/>
          <p:nvPr/>
        </p:nvPicPr>
        <p:blipFill rotWithShape="1">
          <a:blip r:embed="rId3">
            <a:alphaModFix/>
          </a:blip>
          <a:srcRect b="0" l="0" r="0" t="0"/>
          <a:stretch/>
        </p:blipFill>
        <p:spPr>
          <a:xfrm>
            <a:off x="731520" y="3767328"/>
            <a:ext cx="182880" cy="182880"/>
          </a:xfrm>
          <a:prstGeom prst="rect">
            <a:avLst/>
          </a:prstGeom>
          <a:noFill/>
          <a:ln>
            <a:noFill/>
          </a:ln>
        </p:spPr>
      </p:pic>
      <p:sp>
        <p:nvSpPr>
          <p:cNvPr id="169" name="Google Shape;169;p18"/>
          <p:cNvSpPr/>
          <p:nvPr/>
        </p:nvSpPr>
        <p:spPr>
          <a:xfrm>
            <a:off x="1024128" y="3721608"/>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No se pueden fijar precios adecuados para mercados de alto riesgo</a:t>
            </a:r>
            <a:endParaRPr b="0" i="0" sz="1050" u="none" cap="none" strike="noStrike">
              <a:solidFill>
                <a:schemeClr val="dk1"/>
              </a:solidFill>
              <a:latin typeface="Calibri"/>
              <a:ea typeface="Calibri"/>
              <a:cs typeface="Calibri"/>
              <a:sym typeface="Calibri"/>
            </a:endParaRPr>
          </a:p>
        </p:txBody>
      </p:sp>
      <p:pic>
        <p:nvPicPr>
          <p:cNvPr descr="preencoded.png" id="170" name="Google Shape;170;p18"/>
          <p:cNvPicPr preferRelativeResize="0"/>
          <p:nvPr/>
        </p:nvPicPr>
        <p:blipFill rotWithShape="1">
          <a:blip r:embed="rId3">
            <a:alphaModFix/>
          </a:blip>
          <a:srcRect b="0" l="0" r="0" t="0"/>
          <a:stretch/>
        </p:blipFill>
        <p:spPr>
          <a:xfrm>
            <a:off x="731520" y="4206240"/>
            <a:ext cx="182880" cy="182880"/>
          </a:xfrm>
          <a:prstGeom prst="rect">
            <a:avLst/>
          </a:prstGeom>
          <a:noFill/>
          <a:ln>
            <a:noFill/>
          </a:ln>
        </p:spPr>
      </p:pic>
      <p:sp>
        <p:nvSpPr>
          <p:cNvPr id="171" name="Google Shape;171;p18"/>
          <p:cNvSpPr/>
          <p:nvPr/>
        </p:nvSpPr>
        <p:spPr>
          <a:xfrm>
            <a:off x="1024128" y="416052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Brechas de pago al vendedor por incumplimientos del comprador</a:t>
            </a:r>
            <a:endParaRPr b="0" i="0" sz="1050" u="none" cap="none" strike="noStrike">
              <a:solidFill>
                <a:schemeClr val="dk1"/>
              </a:solidFill>
              <a:latin typeface="Calibri"/>
              <a:ea typeface="Calibri"/>
              <a:cs typeface="Calibri"/>
              <a:sym typeface="Calibri"/>
            </a:endParaRPr>
          </a:p>
        </p:txBody>
      </p:sp>
      <p:sp>
        <p:nvSpPr>
          <p:cNvPr id="172" name="Google Shape;172;p18"/>
          <p:cNvSpPr/>
          <p:nvPr/>
        </p:nvSpPr>
        <p:spPr>
          <a:xfrm>
            <a:off x="4754880" y="1508760"/>
            <a:ext cx="3931920" cy="3246120"/>
          </a:xfrm>
          <a:prstGeom prst="rect">
            <a:avLst/>
          </a:prstGeom>
          <a:solidFill>
            <a:srgbClr val="F0FFF8"/>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8"/>
          <p:cNvSpPr/>
          <p:nvPr/>
        </p:nvSpPr>
        <p:spPr>
          <a:xfrm>
            <a:off x="5029200" y="1627632"/>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1300"/>
              <a:buFont typeface="Arial"/>
              <a:buNone/>
            </a:pPr>
            <a:r>
              <a:rPr b="1" i="0" lang="en-US" sz="1300" u="none" cap="none" strike="noStrike">
                <a:solidFill>
                  <a:srgbClr val="0C5392"/>
                </a:solidFill>
                <a:latin typeface="Arial"/>
                <a:ea typeface="Arial"/>
                <a:cs typeface="Arial"/>
                <a:sym typeface="Arial"/>
              </a:rPr>
              <a:t>El Enfoque de Skyocean</a:t>
            </a:r>
            <a:endParaRPr b="0" i="0" sz="1300" u="none" cap="none" strike="noStrike">
              <a:solidFill>
                <a:srgbClr val="0C5392"/>
              </a:solidFill>
              <a:latin typeface="Calibri"/>
              <a:ea typeface="Calibri"/>
              <a:cs typeface="Calibri"/>
              <a:sym typeface="Calibri"/>
            </a:endParaRPr>
          </a:p>
        </p:txBody>
      </p:sp>
      <p:pic>
        <p:nvPicPr>
          <p:cNvPr descr="preencoded.png" id="174" name="Google Shape;174;p18"/>
          <p:cNvPicPr preferRelativeResize="0"/>
          <p:nvPr/>
        </p:nvPicPr>
        <p:blipFill rotWithShape="1">
          <a:blip r:embed="rId4">
            <a:alphaModFix/>
          </a:blip>
          <a:srcRect b="0" l="0" r="0" t="0"/>
          <a:stretch/>
        </p:blipFill>
        <p:spPr>
          <a:xfrm>
            <a:off x="5029200" y="2011680"/>
            <a:ext cx="182880" cy="182880"/>
          </a:xfrm>
          <a:prstGeom prst="rect">
            <a:avLst/>
          </a:prstGeom>
          <a:noFill/>
          <a:ln>
            <a:noFill/>
          </a:ln>
        </p:spPr>
      </p:pic>
      <p:sp>
        <p:nvSpPr>
          <p:cNvPr id="175" name="Google Shape;175;p18"/>
          <p:cNvSpPr/>
          <p:nvPr/>
        </p:nvSpPr>
        <p:spPr>
          <a:xfrm>
            <a:off x="5321808" y="196596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Poseemos la mercancía — control total de la cadena de suministro</a:t>
            </a:r>
            <a:endParaRPr b="0" i="0" sz="1050" u="none" cap="none" strike="noStrike">
              <a:solidFill>
                <a:schemeClr val="dk1"/>
              </a:solidFill>
              <a:latin typeface="Calibri"/>
              <a:ea typeface="Calibri"/>
              <a:cs typeface="Calibri"/>
              <a:sym typeface="Calibri"/>
            </a:endParaRPr>
          </a:p>
        </p:txBody>
      </p:sp>
      <p:pic>
        <p:nvPicPr>
          <p:cNvPr descr="preencoded.png" id="176" name="Google Shape;176;p18"/>
          <p:cNvPicPr preferRelativeResize="0"/>
          <p:nvPr/>
        </p:nvPicPr>
        <p:blipFill rotWithShape="1">
          <a:blip r:embed="rId4">
            <a:alphaModFix/>
          </a:blip>
          <a:srcRect b="0" l="0" r="0" t="0"/>
          <a:stretch/>
        </p:blipFill>
        <p:spPr>
          <a:xfrm>
            <a:off x="5029200" y="2450592"/>
            <a:ext cx="182880" cy="182880"/>
          </a:xfrm>
          <a:prstGeom prst="rect">
            <a:avLst/>
          </a:prstGeom>
          <a:noFill/>
          <a:ln>
            <a:noFill/>
          </a:ln>
        </p:spPr>
      </p:pic>
      <p:sp>
        <p:nvSpPr>
          <p:cNvPr id="177" name="Google Shape;177;p18"/>
          <p:cNvSpPr/>
          <p:nvPr/>
        </p:nvSpPr>
        <p:spPr>
          <a:xfrm>
            <a:off x="5321808" y="2404872"/>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Fijación de precios a través de margen comercial, no tasas de interés</a:t>
            </a:r>
            <a:endParaRPr b="0" i="0" sz="1050" u="none" cap="none" strike="noStrike">
              <a:solidFill>
                <a:schemeClr val="dk1"/>
              </a:solidFill>
              <a:latin typeface="Calibri"/>
              <a:ea typeface="Calibri"/>
              <a:cs typeface="Calibri"/>
              <a:sym typeface="Calibri"/>
            </a:endParaRPr>
          </a:p>
        </p:txBody>
      </p:sp>
      <p:pic>
        <p:nvPicPr>
          <p:cNvPr descr="preencoded.png" id="178" name="Google Shape;178;p18"/>
          <p:cNvPicPr preferRelativeResize="0"/>
          <p:nvPr/>
        </p:nvPicPr>
        <p:blipFill rotWithShape="1">
          <a:blip r:embed="rId4">
            <a:alphaModFix/>
          </a:blip>
          <a:srcRect b="0" l="0" r="0" t="0"/>
          <a:stretch/>
        </p:blipFill>
        <p:spPr>
          <a:xfrm>
            <a:off x="5029200" y="2889504"/>
            <a:ext cx="182880" cy="182880"/>
          </a:xfrm>
          <a:prstGeom prst="rect">
            <a:avLst/>
          </a:prstGeom>
          <a:noFill/>
          <a:ln>
            <a:noFill/>
          </a:ln>
        </p:spPr>
      </p:pic>
      <p:sp>
        <p:nvSpPr>
          <p:cNvPr id="179" name="Google Shape;179;p18"/>
          <p:cNvSpPr/>
          <p:nvPr/>
        </p:nvSpPr>
        <p:spPr>
          <a:xfrm>
            <a:off x="5321808" y="2843784"/>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Auto-consignación elimina el riesgo crediticio del comprador</a:t>
            </a:r>
            <a:endParaRPr b="0" i="0" sz="1050" u="none" cap="none" strike="noStrike">
              <a:solidFill>
                <a:schemeClr val="dk1"/>
              </a:solidFill>
              <a:latin typeface="Calibri"/>
              <a:ea typeface="Calibri"/>
              <a:cs typeface="Calibri"/>
              <a:sym typeface="Calibri"/>
            </a:endParaRPr>
          </a:p>
        </p:txBody>
      </p:sp>
      <p:pic>
        <p:nvPicPr>
          <p:cNvPr descr="preencoded.png" id="180" name="Google Shape;180;p18"/>
          <p:cNvPicPr preferRelativeResize="0"/>
          <p:nvPr/>
        </p:nvPicPr>
        <p:blipFill rotWithShape="1">
          <a:blip r:embed="rId4">
            <a:alphaModFix/>
          </a:blip>
          <a:srcRect b="0" l="0" r="0" t="0"/>
          <a:stretch/>
        </p:blipFill>
        <p:spPr>
          <a:xfrm>
            <a:off x="5029200" y="3328416"/>
            <a:ext cx="182880" cy="182880"/>
          </a:xfrm>
          <a:prstGeom prst="rect">
            <a:avLst/>
          </a:prstGeom>
          <a:noFill/>
          <a:ln>
            <a:noFill/>
          </a:ln>
        </p:spPr>
      </p:pic>
      <p:sp>
        <p:nvSpPr>
          <p:cNvPr id="181" name="Google Shape;181;p18"/>
          <p:cNvSpPr/>
          <p:nvPr/>
        </p:nvSpPr>
        <p:spPr>
          <a:xfrm>
            <a:off x="5321808" y="3282696"/>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¿El comprador incumple? Revendemos al siguiente comprador</a:t>
            </a:r>
            <a:endParaRPr b="0" i="0" sz="1050" u="none" cap="none" strike="noStrike">
              <a:solidFill>
                <a:schemeClr val="dk1"/>
              </a:solidFill>
              <a:latin typeface="Calibri"/>
              <a:ea typeface="Calibri"/>
              <a:cs typeface="Calibri"/>
              <a:sym typeface="Calibri"/>
            </a:endParaRPr>
          </a:p>
        </p:txBody>
      </p:sp>
      <p:pic>
        <p:nvPicPr>
          <p:cNvPr descr="preencoded.png" id="182" name="Google Shape;182;p18"/>
          <p:cNvPicPr preferRelativeResize="0"/>
          <p:nvPr/>
        </p:nvPicPr>
        <p:blipFill rotWithShape="1">
          <a:blip r:embed="rId4">
            <a:alphaModFix/>
          </a:blip>
          <a:srcRect b="0" l="0" r="0" t="0"/>
          <a:stretch/>
        </p:blipFill>
        <p:spPr>
          <a:xfrm>
            <a:off x="5029200" y="3767328"/>
            <a:ext cx="182880" cy="182880"/>
          </a:xfrm>
          <a:prstGeom prst="rect">
            <a:avLst/>
          </a:prstGeom>
          <a:noFill/>
          <a:ln>
            <a:noFill/>
          </a:ln>
        </p:spPr>
      </p:pic>
      <p:sp>
        <p:nvSpPr>
          <p:cNvPr id="183" name="Google Shape;183;p18"/>
          <p:cNvSpPr/>
          <p:nvPr/>
        </p:nvSpPr>
        <p:spPr>
          <a:xfrm>
            <a:off x="5321808" y="3721608"/>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Datos de la cadena de suministro verificados digitalmente para todas las partes</a:t>
            </a:r>
            <a:endParaRPr b="0" i="0" sz="1050" u="none" cap="none" strike="noStrike">
              <a:solidFill>
                <a:schemeClr val="dk1"/>
              </a:solidFill>
              <a:latin typeface="Calibri"/>
              <a:ea typeface="Calibri"/>
              <a:cs typeface="Calibri"/>
              <a:sym typeface="Calibri"/>
            </a:endParaRPr>
          </a:p>
        </p:txBody>
      </p:sp>
      <p:pic>
        <p:nvPicPr>
          <p:cNvPr descr="preencoded.png" id="184" name="Google Shape;184;p18"/>
          <p:cNvPicPr preferRelativeResize="0"/>
          <p:nvPr/>
        </p:nvPicPr>
        <p:blipFill rotWithShape="1">
          <a:blip r:embed="rId4">
            <a:alphaModFix/>
          </a:blip>
          <a:srcRect b="0" l="0" r="0" t="0"/>
          <a:stretch/>
        </p:blipFill>
        <p:spPr>
          <a:xfrm>
            <a:off x="5029200" y="4206240"/>
            <a:ext cx="182880" cy="182880"/>
          </a:xfrm>
          <a:prstGeom prst="rect">
            <a:avLst/>
          </a:prstGeom>
          <a:noFill/>
          <a:ln>
            <a:noFill/>
          </a:ln>
        </p:spPr>
      </p:pic>
      <p:sp>
        <p:nvSpPr>
          <p:cNvPr id="185" name="Google Shape;185;p18"/>
          <p:cNvSpPr/>
          <p:nvPr/>
        </p:nvSpPr>
        <p:spPr>
          <a:xfrm>
            <a:off x="5321808" y="416052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50"/>
              <a:buFont typeface="Arial"/>
              <a:buNone/>
            </a:pPr>
            <a:r>
              <a:rPr b="0" i="0" lang="en-US" sz="1050" u="none" cap="none" strike="noStrike">
                <a:solidFill>
                  <a:srgbClr val="1A2332"/>
                </a:solidFill>
                <a:latin typeface="Arial"/>
                <a:ea typeface="Arial"/>
                <a:cs typeface="Arial"/>
                <a:sym typeface="Arial"/>
              </a:rPr>
              <a:t>Acceso directo para comerciantes — sin intermediarios necesarios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190" name="Shape 190"/>
        <p:cNvGrpSpPr/>
        <p:nvPr/>
      </p:nvGrpSpPr>
      <p:grpSpPr>
        <a:xfrm>
          <a:off x="0" y="0"/>
          <a:ext cx="0" cy="0"/>
          <a:chOff x="0" y="0"/>
          <a:chExt cx="0" cy="0"/>
        </a:xfrm>
      </p:grpSpPr>
      <p:sp>
        <p:nvSpPr>
          <p:cNvPr id="191" name="Google Shape;191;p19"/>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Tecnología de Verificación</a:t>
            </a:r>
            <a:endParaRPr b="0" i="0" sz="2800" u="none" cap="none" strike="noStrike">
              <a:solidFill>
                <a:schemeClr val="dk1"/>
              </a:solidFill>
              <a:latin typeface="Calibri"/>
              <a:ea typeface="Calibri"/>
              <a:cs typeface="Calibri"/>
              <a:sym typeface="Calibri"/>
            </a:endParaRPr>
          </a:p>
        </p:txBody>
      </p:sp>
      <p:sp>
        <p:nvSpPr>
          <p:cNvPr id="193" name="Google Shape;193;p19"/>
          <p:cNvSpPr/>
          <p:nvPr/>
        </p:nvSpPr>
        <p:spPr>
          <a:xfrm>
            <a:off x="731520" y="731520"/>
            <a:ext cx="7680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Cada envío se verifica digitalmente. Los documentos son a prueba de manipulación. Los pagos se liberan automáticamente cuando se cumplen las condiciones.</a:t>
            </a:r>
            <a:endParaRPr b="0" i="0" sz="1200" u="none" cap="none" strike="noStrike">
              <a:solidFill>
                <a:schemeClr val="dk1"/>
              </a:solidFill>
              <a:latin typeface="Calibri"/>
              <a:ea typeface="Calibri"/>
              <a:cs typeface="Calibri"/>
              <a:sym typeface="Calibri"/>
            </a:endParaRPr>
          </a:p>
        </p:txBody>
      </p:sp>
      <p:sp>
        <p:nvSpPr>
          <p:cNvPr id="194" name="Google Shape;194;p19"/>
          <p:cNvSpPr/>
          <p:nvPr/>
        </p:nvSpPr>
        <p:spPr>
          <a:xfrm>
            <a:off x="457200" y="1234440"/>
            <a:ext cx="5029200" cy="10241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640080" y="1463040"/>
            <a:ext cx="548640" cy="548640"/>
          </a:xfrm>
          <a:prstGeom prst="ellipse">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19"/>
          <p:cNvPicPr preferRelativeResize="0"/>
          <p:nvPr/>
        </p:nvPicPr>
        <p:blipFill rotWithShape="1">
          <a:blip r:embed="rId3">
            <a:alphaModFix/>
          </a:blip>
          <a:srcRect b="0" l="0" r="0" t="0"/>
          <a:stretch/>
        </p:blipFill>
        <p:spPr>
          <a:xfrm>
            <a:off x="749808" y="1572768"/>
            <a:ext cx="329184" cy="329184"/>
          </a:xfrm>
          <a:prstGeom prst="rect">
            <a:avLst/>
          </a:prstGeom>
          <a:noFill/>
          <a:ln>
            <a:noFill/>
          </a:ln>
        </p:spPr>
      </p:pic>
      <p:sp>
        <p:nvSpPr>
          <p:cNvPr id="197" name="Google Shape;197;p19"/>
          <p:cNvSpPr/>
          <p:nvPr/>
        </p:nvSpPr>
        <p:spPr>
          <a:xfrm>
            <a:off x="1371600" y="1307592"/>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Verificación de Documentos</a:t>
            </a:r>
            <a:endParaRPr b="0" i="0" sz="1200" u="none" cap="none" strike="noStrike">
              <a:solidFill>
                <a:schemeClr val="dk1"/>
              </a:solidFill>
              <a:latin typeface="Calibri"/>
              <a:ea typeface="Calibri"/>
              <a:cs typeface="Calibri"/>
              <a:sym typeface="Calibri"/>
            </a:endParaRPr>
          </a:p>
        </p:txBody>
      </p:sp>
      <p:sp>
        <p:nvSpPr>
          <p:cNvPr id="198" name="Google Shape;198;p19"/>
          <p:cNvSpPr/>
          <p:nvPr/>
        </p:nvSpPr>
        <p:spPr>
          <a:xfrm>
            <a:off x="1371600" y="1581912"/>
            <a:ext cx="3931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Cada documento (conocimiento de embarque, inspección de calidad, despacho aduanero) recibe una huella digital única. No puede ser falsificado, alterado o disputado. Verificado en segundos, no semanas.</a:t>
            </a:r>
            <a:endParaRPr b="0" i="0" sz="950" u="none" cap="none" strike="noStrike">
              <a:solidFill>
                <a:schemeClr val="dk1"/>
              </a:solidFill>
              <a:latin typeface="Calibri"/>
              <a:ea typeface="Calibri"/>
              <a:cs typeface="Calibri"/>
              <a:sym typeface="Calibri"/>
            </a:endParaRPr>
          </a:p>
        </p:txBody>
      </p:sp>
      <p:sp>
        <p:nvSpPr>
          <p:cNvPr id="199" name="Google Shape;199;p19"/>
          <p:cNvSpPr/>
          <p:nvPr/>
        </p:nvSpPr>
        <p:spPr>
          <a:xfrm>
            <a:off x="457200" y="2404872"/>
            <a:ext cx="5029200" cy="10241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
          <p:cNvSpPr/>
          <p:nvPr/>
        </p:nvSpPr>
        <p:spPr>
          <a:xfrm>
            <a:off x="640080" y="2633472"/>
            <a:ext cx="548640" cy="548640"/>
          </a:xfrm>
          <a:prstGeom prst="ellipse">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 name="Google Shape;201;p19"/>
          <p:cNvPicPr preferRelativeResize="0"/>
          <p:nvPr/>
        </p:nvPicPr>
        <p:blipFill rotWithShape="1">
          <a:blip r:embed="rId4">
            <a:alphaModFix/>
          </a:blip>
          <a:srcRect b="0" l="0" r="0" t="0"/>
          <a:stretch/>
        </p:blipFill>
        <p:spPr>
          <a:xfrm>
            <a:off x="749808" y="2743200"/>
            <a:ext cx="329184" cy="329184"/>
          </a:xfrm>
          <a:prstGeom prst="rect">
            <a:avLst/>
          </a:prstGeom>
          <a:noFill/>
          <a:ln>
            <a:noFill/>
          </a:ln>
        </p:spPr>
      </p:pic>
      <p:sp>
        <p:nvSpPr>
          <p:cNvPr id="202" name="Google Shape;202;p19"/>
          <p:cNvSpPr/>
          <p:nvPr/>
        </p:nvSpPr>
        <p:spPr>
          <a:xfrm>
            <a:off x="1371600" y="2478024"/>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Almacenamiento Descentralizado</a:t>
            </a:r>
            <a:endParaRPr b="0" i="0" sz="1200" u="none" cap="none" strike="noStrike">
              <a:solidFill>
                <a:schemeClr val="dk1"/>
              </a:solidFill>
              <a:latin typeface="Calibri"/>
              <a:ea typeface="Calibri"/>
              <a:cs typeface="Calibri"/>
              <a:sym typeface="Calibri"/>
            </a:endParaRPr>
          </a:p>
        </p:txBody>
      </p:sp>
      <p:sp>
        <p:nvSpPr>
          <p:cNvPr id="203" name="Google Shape;203;p19"/>
          <p:cNvSpPr/>
          <p:nvPr/>
        </p:nvSpPr>
        <p:spPr>
          <a:xfrm>
            <a:off x="1371600" y="2752344"/>
            <a:ext cx="3931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Los datos comerciales se almacenan en múltiples nodos independientes en todo el mundo, no en nuestros servidores. Sin punto único de fallo. Nadie puede alterar los registros. Tecnología de nivel empresarial utilizada por Walmart, Swiss Railways y grandes empresas logísticas.</a:t>
            </a:r>
            <a:endParaRPr b="0" i="0" sz="950" u="none" cap="none" strike="noStrike">
              <a:solidFill>
                <a:schemeClr val="dk1"/>
              </a:solidFill>
              <a:latin typeface="Calibri"/>
              <a:ea typeface="Calibri"/>
              <a:cs typeface="Calibri"/>
              <a:sym typeface="Calibri"/>
            </a:endParaRPr>
          </a:p>
        </p:txBody>
      </p:sp>
      <p:sp>
        <p:nvSpPr>
          <p:cNvPr id="204" name="Google Shape;204;p19"/>
          <p:cNvSpPr/>
          <p:nvPr/>
        </p:nvSpPr>
        <p:spPr>
          <a:xfrm>
            <a:off x="457200" y="3575304"/>
            <a:ext cx="5029200" cy="1024128"/>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640080" y="3803904"/>
            <a:ext cx="548640" cy="548640"/>
          </a:xfrm>
          <a:prstGeom prst="ellipse">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 name="Google Shape;206;p19"/>
          <p:cNvPicPr preferRelativeResize="0"/>
          <p:nvPr/>
        </p:nvPicPr>
        <p:blipFill rotWithShape="1">
          <a:blip r:embed="rId5">
            <a:alphaModFix/>
          </a:blip>
          <a:srcRect b="0" l="0" r="0" t="0"/>
          <a:stretch/>
        </p:blipFill>
        <p:spPr>
          <a:xfrm>
            <a:off x="749808" y="3913632"/>
            <a:ext cx="329184" cy="329184"/>
          </a:xfrm>
          <a:prstGeom prst="rect">
            <a:avLst/>
          </a:prstGeom>
          <a:noFill/>
          <a:ln>
            <a:noFill/>
          </a:ln>
        </p:spPr>
      </p:pic>
      <p:sp>
        <p:nvSpPr>
          <p:cNvPr id="207" name="Google Shape;207;p19"/>
          <p:cNvSpPr/>
          <p:nvPr/>
        </p:nvSpPr>
        <p:spPr>
          <a:xfrm>
            <a:off x="1371600" y="3648456"/>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Liquidación Automatizada</a:t>
            </a:r>
            <a:endParaRPr b="0" i="0" sz="1200" u="none" cap="none" strike="noStrike">
              <a:solidFill>
                <a:schemeClr val="dk1"/>
              </a:solidFill>
              <a:latin typeface="Calibri"/>
              <a:ea typeface="Calibri"/>
              <a:cs typeface="Calibri"/>
              <a:sym typeface="Calibri"/>
            </a:endParaRPr>
          </a:p>
        </p:txBody>
      </p:sp>
      <p:sp>
        <p:nvSpPr>
          <p:cNvPr id="208" name="Google Shape;208;p19"/>
          <p:cNvSpPr/>
          <p:nvPr/>
        </p:nvSpPr>
        <p:spPr>
          <a:xfrm>
            <a:off x="1371600" y="3922776"/>
            <a:ext cx="3931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Los pagos se liberan automáticamente cuando se confirman hitos verificados: mercancía enviada, calidad inspeccionada, aduana despachada, entrega confirmada. Sin intervención manual. Sin disputas.</a:t>
            </a:r>
            <a:endParaRPr b="0" i="0" sz="950" u="none" cap="none" strike="noStrike">
              <a:solidFill>
                <a:schemeClr val="dk1"/>
              </a:solidFill>
              <a:latin typeface="Calibri"/>
              <a:ea typeface="Calibri"/>
              <a:cs typeface="Calibri"/>
              <a:sym typeface="Calibri"/>
            </a:endParaRPr>
          </a:p>
        </p:txBody>
      </p:sp>
      <p:sp>
        <p:nvSpPr>
          <p:cNvPr id="209" name="Google Shape;209;p19"/>
          <p:cNvSpPr/>
          <p:nvPr/>
        </p:nvSpPr>
        <p:spPr>
          <a:xfrm>
            <a:off x="5715000" y="1234440"/>
            <a:ext cx="3063300" cy="365760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solidFill>
                <a:srgbClr val="CCDDEE"/>
              </a:solidFill>
              <a:latin typeface="Georgia"/>
              <a:ea typeface="Georgia"/>
              <a:cs typeface="Georgia"/>
              <a:sym typeface="Georgia"/>
            </a:endParaRPr>
          </a:p>
        </p:txBody>
      </p:sp>
      <p:sp>
        <p:nvSpPr>
          <p:cNvPr id="210" name="Google Shape;210;p19"/>
          <p:cNvSpPr/>
          <p:nvPr/>
        </p:nvSpPr>
        <p:spPr>
          <a:xfrm>
            <a:off x="5897880" y="1371600"/>
            <a:ext cx="2697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300"/>
              <a:buFont typeface="Arial"/>
              <a:buNone/>
            </a:pPr>
            <a:r>
              <a:rPr b="1" i="0" lang="en-US" sz="1300" u="none" cap="none" strike="noStrike">
                <a:solidFill>
                  <a:srgbClr val="CCDDEE"/>
                </a:solidFill>
                <a:latin typeface="Arial"/>
                <a:ea typeface="Arial"/>
                <a:cs typeface="Arial"/>
                <a:sym typeface="Arial"/>
              </a:rPr>
              <a:t>Por Qué Importa</a:t>
            </a:r>
            <a:endParaRPr b="0" i="0" sz="1300" u="none" cap="none" strike="noStrike">
              <a:solidFill>
                <a:srgbClr val="CCDDEE"/>
              </a:solidFill>
              <a:latin typeface="Calibri"/>
              <a:ea typeface="Calibri"/>
              <a:cs typeface="Calibri"/>
              <a:sym typeface="Calibri"/>
            </a:endParaRPr>
          </a:p>
        </p:txBody>
      </p:sp>
      <p:sp>
        <p:nvSpPr>
          <p:cNvPr id="211" name="Google Shape;211;p19"/>
          <p:cNvSpPr/>
          <p:nvPr/>
        </p:nvSpPr>
        <p:spPr>
          <a:xfrm>
            <a:off x="5897880" y="1737360"/>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600"/>
              <a:buFont typeface="Georgia"/>
              <a:buNone/>
            </a:pPr>
            <a:r>
              <a:rPr b="1" i="0" lang="en-US" sz="1600" u="none" cap="none" strike="noStrike">
                <a:solidFill>
                  <a:srgbClr val="CCDDEE"/>
                </a:solidFill>
                <a:latin typeface="Georgia"/>
                <a:ea typeface="Georgia"/>
                <a:cs typeface="Georgia"/>
                <a:sym typeface="Georgia"/>
              </a:rPr>
              <a:t>2</a:t>
            </a:r>
            <a:r>
              <a:rPr b="1" i="0" lang="en-US" sz="1600" u="none" cap="none" strike="noStrike">
                <a:solidFill>
                  <a:srgbClr val="CCDDEE"/>
                </a:solidFill>
                <a:latin typeface="Georgia"/>
                <a:ea typeface="Georgia"/>
                <a:cs typeface="Georgia"/>
                <a:sym typeface="Georgia"/>
              </a:rPr>
              <a:t> </a:t>
            </a:r>
            <a:r>
              <a:rPr b="1" i="0" lang="en-US" sz="1600" u="none" cap="none" strike="noStrike">
                <a:solidFill>
                  <a:srgbClr val="CCDDEE"/>
                </a:solidFill>
                <a:latin typeface="Georgia"/>
                <a:ea typeface="Georgia"/>
                <a:cs typeface="Georgia"/>
                <a:sym typeface="Georgia"/>
              </a:rPr>
              <a:t>sec</a:t>
            </a:r>
            <a:endParaRPr b="0" i="0" sz="1600" u="none" cap="none" strike="noStrike">
              <a:solidFill>
                <a:srgbClr val="CCDDEE"/>
              </a:solidFill>
              <a:latin typeface="Calibri"/>
              <a:ea typeface="Calibri"/>
              <a:cs typeface="Calibri"/>
              <a:sym typeface="Calibri"/>
            </a:endParaRPr>
          </a:p>
        </p:txBody>
      </p:sp>
      <p:sp>
        <p:nvSpPr>
          <p:cNvPr id="212" name="Google Shape;212;p19"/>
          <p:cNvSpPr/>
          <p:nvPr/>
        </p:nvSpPr>
        <p:spPr>
          <a:xfrm>
            <a:off x="5897880" y="1938528"/>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verification vs 5–10 days at banks</a:t>
            </a:r>
            <a:endParaRPr b="0" i="0" sz="900" u="none" cap="none" strike="noStrike">
              <a:solidFill>
                <a:schemeClr val="dk1"/>
              </a:solidFill>
              <a:latin typeface="Calibri"/>
              <a:ea typeface="Calibri"/>
              <a:cs typeface="Calibri"/>
              <a:sym typeface="Calibri"/>
            </a:endParaRPr>
          </a:p>
        </p:txBody>
      </p:sp>
      <p:sp>
        <p:nvSpPr>
          <p:cNvPr id="213" name="Google Shape;213;p19"/>
          <p:cNvSpPr/>
          <p:nvPr/>
        </p:nvSpPr>
        <p:spPr>
          <a:xfrm>
            <a:off x="5897880" y="2212848"/>
            <a:ext cx="2697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8A7D"/>
              </a:buClr>
              <a:buSzPts val="1600"/>
              <a:buFont typeface="Georgia"/>
              <a:buNone/>
            </a:pPr>
            <a:r>
              <a:rPr b="1" lang="en-US" sz="1600">
                <a:solidFill>
                  <a:srgbClr val="CCDDEE"/>
                </a:solidFill>
                <a:latin typeface="Georgia"/>
                <a:ea typeface="Georgia"/>
                <a:cs typeface="Georgia"/>
                <a:sym typeface="Georgia"/>
              </a:rPr>
              <a:t>$0.02</a:t>
            </a:r>
            <a:endParaRPr b="1" sz="1600">
              <a:solidFill>
                <a:srgbClr val="CCDDEE"/>
              </a:solidFill>
              <a:latin typeface="Georgia"/>
              <a:ea typeface="Georgia"/>
              <a:cs typeface="Georgia"/>
              <a:sym typeface="Georgia"/>
            </a:endParaRPr>
          </a:p>
        </p:txBody>
      </p:sp>
      <p:sp>
        <p:nvSpPr>
          <p:cNvPr id="214" name="Google Shape;214;p19"/>
          <p:cNvSpPr/>
          <p:nvPr/>
        </p:nvSpPr>
        <p:spPr>
          <a:xfrm>
            <a:off x="5897880" y="2414016"/>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per verification vs $500+ bank fees</a:t>
            </a:r>
            <a:endParaRPr b="0" i="0" sz="900" u="none" cap="none" strike="noStrike">
              <a:solidFill>
                <a:schemeClr val="dk1"/>
              </a:solidFill>
              <a:latin typeface="Calibri"/>
              <a:ea typeface="Calibri"/>
              <a:cs typeface="Calibri"/>
              <a:sym typeface="Calibri"/>
            </a:endParaRPr>
          </a:p>
        </p:txBody>
      </p:sp>
      <p:sp>
        <p:nvSpPr>
          <p:cNvPr id="215" name="Google Shape;215;p19"/>
          <p:cNvSpPr/>
          <p:nvPr/>
        </p:nvSpPr>
        <p:spPr>
          <a:xfrm>
            <a:off x="5897880" y="2688336"/>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600"/>
              <a:buFont typeface="Georgia"/>
              <a:buNone/>
            </a:pPr>
            <a:r>
              <a:rPr b="1" i="0" lang="en-US" sz="1600" u="none" cap="none" strike="noStrike">
                <a:solidFill>
                  <a:srgbClr val="CCDDEE"/>
                </a:solidFill>
                <a:latin typeface="Georgia"/>
                <a:ea typeface="Georgia"/>
                <a:cs typeface="Georgia"/>
                <a:sym typeface="Georgia"/>
              </a:rPr>
              <a:t>0%</a:t>
            </a:r>
            <a:endParaRPr b="0" i="0" sz="1600" u="none" cap="none" strike="noStrike">
              <a:solidFill>
                <a:srgbClr val="CCDDEE"/>
              </a:solidFill>
              <a:latin typeface="Calibri"/>
              <a:ea typeface="Calibri"/>
              <a:cs typeface="Calibri"/>
              <a:sym typeface="Calibri"/>
            </a:endParaRPr>
          </a:p>
        </p:txBody>
      </p:sp>
      <p:sp>
        <p:nvSpPr>
          <p:cNvPr id="216" name="Google Shape;216;p19"/>
          <p:cNvSpPr/>
          <p:nvPr/>
        </p:nvSpPr>
        <p:spPr>
          <a:xfrm>
            <a:off x="5897880" y="2889504"/>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document fraud — mathematically impossible</a:t>
            </a:r>
            <a:endParaRPr b="0" i="0" sz="900" u="none" cap="none" strike="noStrike">
              <a:solidFill>
                <a:schemeClr val="dk1"/>
              </a:solidFill>
              <a:latin typeface="Calibri"/>
              <a:ea typeface="Calibri"/>
              <a:cs typeface="Calibri"/>
              <a:sym typeface="Calibri"/>
            </a:endParaRPr>
          </a:p>
        </p:txBody>
      </p:sp>
      <p:sp>
        <p:nvSpPr>
          <p:cNvPr id="217" name="Google Shape;217;p19"/>
          <p:cNvSpPr/>
          <p:nvPr/>
        </p:nvSpPr>
        <p:spPr>
          <a:xfrm>
            <a:off x="5897880" y="3163824"/>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600"/>
              <a:buFont typeface="Georgia"/>
              <a:buNone/>
            </a:pPr>
            <a:r>
              <a:rPr b="1" i="0" lang="en-US" sz="1600" u="none" cap="none" strike="noStrike">
                <a:solidFill>
                  <a:srgbClr val="CCDDEE"/>
                </a:solidFill>
                <a:latin typeface="Georgia"/>
                <a:ea typeface="Georgia"/>
                <a:cs typeface="Georgia"/>
                <a:sym typeface="Georgia"/>
              </a:rPr>
              <a:t>24/7</a:t>
            </a:r>
            <a:endParaRPr b="0" i="0" sz="1600" u="none" cap="none" strike="noStrike">
              <a:solidFill>
                <a:srgbClr val="CCDDEE"/>
              </a:solidFill>
              <a:latin typeface="Calibri"/>
              <a:ea typeface="Calibri"/>
              <a:cs typeface="Calibri"/>
              <a:sym typeface="Calibri"/>
            </a:endParaRPr>
          </a:p>
        </p:txBody>
      </p:sp>
      <p:sp>
        <p:nvSpPr>
          <p:cNvPr id="218" name="Google Shape;218;p19"/>
          <p:cNvSpPr/>
          <p:nvPr/>
        </p:nvSpPr>
        <p:spPr>
          <a:xfrm>
            <a:off x="5897880" y="3364992"/>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global operation — no office hours</a:t>
            </a:r>
            <a:endParaRPr b="0" i="0" sz="900" u="none" cap="none" strike="noStrike">
              <a:solidFill>
                <a:schemeClr val="dk1"/>
              </a:solidFill>
              <a:latin typeface="Calibri"/>
              <a:ea typeface="Calibri"/>
              <a:cs typeface="Calibri"/>
              <a:sym typeface="Calibri"/>
            </a:endParaRPr>
          </a:p>
        </p:txBody>
      </p:sp>
      <p:sp>
        <p:nvSpPr>
          <p:cNvPr id="219" name="Google Shape;219;p19"/>
          <p:cNvSpPr/>
          <p:nvPr/>
        </p:nvSpPr>
        <p:spPr>
          <a:xfrm>
            <a:off x="5897880" y="3639312"/>
            <a:ext cx="26974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8A7D"/>
              </a:buClr>
              <a:buSzPts val="1600"/>
              <a:buFont typeface="Georgia"/>
              <a:buNone/>
            </a:pPr>
            <a:r>
              <a:rPr b="1" lang="en-US" sz="1600">
                <a:solidFill>
                  <a:srgbClr val="CCDDEE"/>
                </a:solidFill>
                <a:latin typeface="Georgia"/>
                <a:ea typeface="Georgia"/>
                <a:cs typeface="Georgia"/>
                <a:sym typeface="Georgia"/>
              </a:rPr>
              <a:t>100</a:t>
            </a:r>
            <a:r>
              <a:rPr b="1" i="0" lang="en-US" sz="1600" u="none" cap="none" strike="noStrike">
                <a:solidFill>
                  <a:srgbClr val="CCDDEE"/>
                </a:solidFill>
                <a:latin typeface="Georgia"/>
                <a:ea typeface="Georgia"/>
                <a:cs typeface="Georgia"/>
                <a:sym typeface="Georgia"/>
              </a:rPr>
              <a:t>%</a:t>
            </a:r>
            <a:endParaRPr b="0" i="0" sz="1600" u="none" cap="none" strike="noStrike">
              <a:solidFill>
                <a:srgbClr val="CCDDEE"/>
              </a:solidFill>
              <a:latin typeface="Calibri"/>
              <a:ea typeface="Calibri"/>
              <a:cs typeface="Calibri"/>
              <a:sym typeface="Calibri"/>
            </a:endParaRPr>
          </a:p>
        </p:txBody>
      </p:sp>
      <p:sp>
        <p:nvSpPr>
          <p:cNvPr id="220" name="Google Shape;220;p19"/>
          <p:cNvSpPr/>
          <p:nvPr/>
        </p:nvSpPr>
        <p:spPr>
          <a:xfrm>
            <a:off x="5897880" y="3840480"/>
            <a:ext cx="2697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audit trail — every action recorded</a:t>
            </a:r>
            <a:endParaRPr b="0" i="0" sz="900" u="none" cap="none" strike="noStrike">
              <a:solidFill>
                <a:schemeClr val="dk1"/>
              </a:solidFill>
              <a:latin typeface="Calibri"/>
              <a:ea typeface="Calibri"/>
              <a:cs typeface="Calibri"/>
              <a:sym typeface="Calibri"/>
            </a:endParaRPr>
          </a:p>
        </p:txBody>
      </p:sp>
      <p:sp>
        <p:nvSpPr>
          <p:cNvPr id="221" name="Google Shape;221;p19"/>
          <p:cNvSpPr/>
          <p:nvPr/>
        </p:nvSpPr>
        <p:spPr>
          <a:xfrm>
            <a:off x="5715000" y="4206240"/>
            <a:ext cx="3063240" cy="685800"/>
          </a:xfrm>
          <a:prstGeom prst="rect">
            <a:avLst/>
          </a:prstGeom>
          <a:solidFill>
            <a:srgbClr val="1E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p:nvPr/>
        </p:nvSpPr>
        <p:spPr>
          <a:xfrm>
            <a:off x="5897880" y="4251960"/>
            <a:ext cx="26974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Plataforma Híbrida</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Crypto &amp; non-crypto users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Misma verificación, misma confianza</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227" name="Shape 227"/>
        <p:cNvGrpSpPr/>
        <p:nvPr/>
      </p:nvGrpSpPr>
      <p:grpSpPr>
        <a:xfrm>
          <a:off x="0" y="0"/>
          <a:ext cx="0" cy="0"/>
          <a:chOff x="0" y="0"/>
          <a:chExt cx="0" cy="0"/>
        </a:xfrm>
      </p:grpSpPr>
      <p:sp>
        <p:nvSpPr>
          <p:cNvPr id="228" name="Google Shape;228;p20"/>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Global Platform &amp; Payments</a:t>
            </a:r>
            <a:endParaRPr b="0" i="0" sz="2800" u="none" cap="none" strike="noStrike">
              <a:solidFill>
                <a:schemeClr val="dk1"/>
              </a:solidFill>
              <a:latin typeface="Calibri"/>
              <a:ea typeface="Calibri"/>
              <a:cs typeface="Calibri"/>
              <a:sym typeface="Calibri"/>
            </a:endParaRPr>
          </a:p>
        </p:txBody>
      </p:sp>
      <p:sp>
        <p:nvSpPr>
          <p:cNvPr id="230" name="Google Shape;230;p20"/>
          <p:cNvSpPr/>
          <p:nvPr/>
        </p:nvSpPr>
        <p:spPr>
          <a:xfrm>
            <a:off x="731520" y="731520"/>
            <a:ext cx="7680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200"/>
              <a:buFont typeface="Arial"/>
              <a:buNone/>
            </a:pPr>
            <a:r>
              <a:rPr b="0" i="0" lang="en-US" sz="1200" u="none" cap="none" strike="noStrike">
                <a:solidFill>
                  <a:srgbClr val="4A5568"/>
                </a:solidFill>
                <a:latin typeface="Arial"/>
                <a:ea typeface="Arial"/>
                <a:cs typeface="Arial"/>
                <a:sym typeface="Arial"/>
              </a:rPr>
              <a:t>Los comerciantes y compradores minoristas acceden directamente a los bienes. Nos conectamos a cualquier sistema de pago utilizado en cualquier región del mundo.</a:t>
            </a:r>
            <a:endParaRPr b="0" i="0" sz="1200" u="none" cap="none" strike="noStrike">
              <a:solidFill>
                <a:schemeClr val="dk1"/>
              </a:solidFill>
              <a:latin typeface="Calibri"/>
              <a:ea typeface="Calibri"/>
              <a:cs typeface="Calibri"/>
              <a:sym typeface="Calibri"/>
            </a:endParaRPr>
          </a:p>
        </p:txBody>
      </p:sp>
      <p:sp>
        <p:nvSpPr>
          <p:cNvPr id="231" name="Google Shape;231;p20"/>
          <p:cNvSpPr/>
          <p:nvPr/>
        </p:nvSpPr>
        <p:spPr>
          <a:xfrm>
            <a:off x="457200" y="1234440"/>
            <a:ext cx="3931920" cy="24688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p:nvPr/>
        </p:nvSpPr>
        <p:spPr>
          <a:xfrm>
            <a:off x="685800" y="1325880"/>
            <a:ext cx="3474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300"/>
              <a:buFont typeface="Arial"/>
              <a:buNone/>
            </a:pPr>
            <a:r>
              <a:rPr b="1" i="0" lang="en-US" sz="1300" u="none" cap="none" strike="noStrike">
                <a:solidFill>
                  <a:srgbClr val="0F2B46"/>
                </a:solidFill>
                <a:latin typeface="Arial"/>
                <a:ea typeface="Arial"/>
                <a:cs typeface="Arial"/>
                <a:sym typeface="Arial"/>
              </a:rPr>
              <a:t>Quién Usa la Plataforma</a:t>
            </a:r>
            <a:endParaRPr b="0" i="0" sz="1300" u="none" cap="none" strike="noStrike">
              <a:solidFill>
                <a:schemeClr val="dk1"/>
              </a:solidFill>
              <a:latin typeface="Calibri"/>
              <a:ea typeface="Calibri"/>
              <a:cs typeface="Calibri"/>
              <a:sym typeface="Calibri"/>
            </a:endParaRPr>
          </a:p>
        </p:txBody>
      </p:sp>
      <p:pic>
        <p:nvPicPr>
          <p:cNvPr descr="preencoded.png" id="233" name="Google Shape;233;p20"/>
          <p:cNvPicPr preferRelativeResize="0"/>
          <p:nvPr/>
        </p:nvPicPr>
        <p:blipFill rotWithShape="1">
          <a:blip r:embed="rId3">
            <a:alphaModFix/>
          </a:blip>
          <a:srcRect b="0" l="0" r="0" t="0"/>
          <a:stretch/>
        </p:blipFill>
        <p:spPr>
          <a:xfrm>
            <a:off x="685800" y="1719072"/>
            <a:ext cx="146304" cy="146304"/>
          </a:xfrm>
          <a:prstGeom prst="rect">
            <a:avLst/>
          </a:prstGeom>
          <a:noFill/>
          <a:ln>
            <a:noFill/>
          </a:ln>
        </p:spPr>
      </p:pic>
      <p:sp>
        <p:nvSpPr>
          <p:cNvPr id="234" name="Google Shape;234;p20"/>
          <p:cNvSpPr/>
          <p:nvPr/>
        </p:nvSpPr>
        <p:spPr>
          <a:xfrm>
            <a:off x="932688" y="1645920"/>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100"/>
              <a:buFont typeface="Arial"/>
              <a:buNone/>
            </a:pPr>
            <a:r>
              <a:rPr b="1" i="0" lang="en-US" sz="1100" u="none" cap="none" strike="noStrike">
                <a:solidFill>
                  <a:srgbClr val="0F2B46"/>
                </a:solidFill>
                <a:latin typeface="Arial"/>
                <a:ea typeface="Arial"/>
                <a:cs typeface="Arial"/>
                <a:sym typeface="Arial"/>
              </a:rPr>
              <a:t>Comerciantes Minoristas</a:t>
            </a:r>
            <a:endParaRPr b="0" i="0" sz="1100" u="none" cap="none" strike="noStrike">
              <a:solidFill>
                <a:schemeClr val="dk1"/>
              </a:solidFill>
              <a:latin typeface="Calibri"/>
              <a:ea typeface="Calibri"/>
              <a:cs typeface="Calibri"/>
              <a:sym typeface="Calibri"/>
            </a:endParaRPr>
          </a:p>
        </p:txBody>
      </p:sp>
      <p:sp>
        <p:nvSpPr>
          <p:cNvPr id="235" name="Google Shape;235;p20"/>
          <p:cNvSpPr/>
          <p:nvPr/>
        </p:nvSpPr>
        <p:spPr>
          <a:xfrm>
            <a:off x="932688" y="187452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Los compradores PYMES realizan pedidos directamente en la plataforma para commodities a precios de mercado justos. Onboarding KYC completo, seguimiento de pedidos y acceso a documentos.</a:t>
            </a:r>
            <a:endParaRPr b="0" i="0" sz="900" u="none" cap="none" strike="noStrike">
              <a:solidFill>
                <a:schemeClr val="dk1"/>
              </a:solidFill>
              <a:latin typeface="Calibri"/>
              <a:ea typeface="Calibri"/>
              <a:cs typeface="Calibri"/>
              <a:sym typeface="Calibri"/>
            </a:endParaRPr>
          </a:p>
        </p:txBody>
      </p:sp>
      <p:pic>
        <p:nvPicPr>
          <p:cNvPr descr="preencoded.png" id="236" name="Google Shape;236;p20"/>
          <p:cNvPicPr preferRelativeResize="0"/>
          <p:nvPr/>
        </p:nvPicPr>
        <p:blipFill rotWithShape="1">
          <a:blip r:embed="rId3">
            <a:alphaModFix/>
          </a:blip>
          <a:srcRect b="0" l="0" r="0" t="0"/>
          <a:stretch/>
        </p:blipFill>
        <p:spPr>
          <a:xfrm>
            <a:off x="685800" y="2359152"/>
            <a:ext cx="146304" cy="146304"/>
          </a:xfrm>
          <a:prstGeom prst="rect">
            <a:avLst/>
          </a:prstGeom>
          <a:noFill/>
          <a:ln>
            <a:noFill/>
          </a:ln>
        </p:spPr>
      </p:pic>
      <p:sp>
        <p:nvSpPr>
          <p:cNvPr id="237" name="Google Shape;237;p20"/>
          <p:cNvSpPr/>
          <p:nvPr/>
        </p:nvSpPr>
        <p:spPr>
          <a:xfrm>
            <a:off x="932688" y="2286000"/>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100"/>
              <a:buFont typeface="Arial"/>
              <a:buNone/>
            </a:pPr>
            <a:r>
              <a:rPr b="1" i="0" lang="en-US" sz="1100" u="none" cap="none" strike="noStrike">
                <a:solidFill>
                  <a:srgbClr val="0F2B46"/>
                </a:solidFill>
                <a:latin typeface="Arial"/>
                <a:ea typeface="Arial"/>
                <a:cs typeface="Arial"/>
                <a:sym typeface="Arial"/>
              </a:rPr>
              <a:t>Compradores Mayoristas</a:t>
            </a:r>
            <a:endParaRPr b="0" i="0" sz="1100" u="none" cap="none" strike="noStrike">
              <a:solidFill>
                <a:schemeClr val="dk1"/>
              </a:solidFill>
              <a:latin typeface="Calibri"/>
              <a:ea typeface="Calibri"/>
              <a:cs typeface="Calibri"/>
              <a:sym typeface="Calibri"/>
            </a:endParaRPr>
          </a:p>
        </p:txBody>
      </p:sp>
      <p:sp>
        <p:nvSpPr>
          <p:cNvPr id="238" name="Google Shape;238;p20"/>
          <p:cNvSpPr/>
          <p:nvPr/>
        </p:nvSpPr>
        <p:spPr>
          <a:xfrm>
            <a:off x="932688" y="251460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Agencias gubernamentales, cooperativas e importadores grandes acceden a commodities a granel con calidad verificada y transparencia total de la cadena de suministro.</a:t>
            </a:r>
            <a:endParaRPr b="0" i="0" sz="900" u="none" cap="none" strike="noStrike">
              <a:solidFill>
                <a:schemeClr val="dk1"/>
              </a:solidFill>
              <a:latin typeface="Calibri"/>
              <a:ea typeface="Calibri"/>
              <a:cs typeface="Calibri"/>
              <a:sym typeface="Calibri"/>
            </a:endParaRPr>
          </a:p>
        </p:txBody>
      </p:sp>
      <p:pic>
        <p:nvPicPr>
          <p:cNvPr descr="preencoded.png" id="239" name="Google Shape;239;p20"/>
          <p:cNvPicPr preferRelativeResize="0"/>
          <p:nvPr/>
        </p:nvPicPr>
        <p:blipFill rotWithShape="1">
          <a:blip r:embed="rId3">
            <a:alphaModFix/>
          </a:blip>
          <a:srcRect b="0" l="0" r="0" t="0"/>
          <a:stretch/>
        </p:blipFill>
        <p:spPr>
          <a:xfrm>
            <a:off x="685800" y="2999232"/>
            <a:ext cx="146304" cy="146304"/>
          </a:xfrm>
          <a:prstGeom prst="rect">
            <a:avLst/>
          </a:prstGeom>
          <a:noFill/>
          <a:ln>
            <a:noFill/>
          </a:ln>
        </p:spPr>
      </p:pic>
      <p:sp>
        <p:nvSpPr>
          <p:cNvPr id="240" name="Google Shape;240;p20"/>
          <p:cNvSpPr/>
          <p:nvPr/>
        </p:nvSpPr>
        <p:spPr>
          <a:xfrm>
            <a:off x="932688" y="2926080"/>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100"/>
              <a:buFont typeface="Arial"/>
              <a:buNone/>
            </a:pPr>
            <a:r>
              <a:rPr b="1" i="0" lang="en-US" sz="1100" u="none" cap="none" strike="noStrike">
                <a:solidFill>
                  <a:srgbClr val="0F2B46"/>
                </a:solidFill>
                <a:latin typeface="Arial"/>
                <a:ea typeface="Arial"/>
                <a:cs typeface="Arial"/>
                <a:sym typeface="Arial"/>
              </a:rPr>
              <a:t>Investors &amp; Capital Partners</a:t>
            </a:r>
            <a:endParaRPr b="0" i="0" sz="1100" u="none" cap="none" strike="noStrike">
              <a:solidFill>
                <a:schemeClr val="dk1"/>
              </a:solidFill>
              <a:latin typeface="Calibri"/>
              <a:ea typeface="Calibri"/>
              <a:cs typeface="Calibri"/>
              <a:sym typeface="Calibri"/>
            </a:endParaRPr>
          </a:p>
        </p:txBody>
      </p:sp>
      <p:sp>
        <p:nvSpPr>
          <p:cNvPr id="241" name="Google Shape;241;p20"/>
          <p:cNvSpPr/>
          <p:nvPr/>
        </p:nvSpPr>
        <p:spPr>
          <a:xfrm>
            <a:off x="932688" y="315468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Participan en el financiamiento comercial a través de la plataforma. Obtienen retornos de los márgenes reales del comercio de commodities en ciclos de 45-60 días.</a:t>
            </a:r>
            <a:endParaRPr b="0" i="0" sz="900" u="none" cap="none" strike="noStrike">
              <a:solidFill>
                <a:schemeClr val="dk1"/>
              </a:solidFill>
              <a:latin typeface="Calibri"/>
              <a:ea typeface="Calibri"/>
              <a:cs typeface="Calibri"/>
              <a:sym typeface="Calibri"/>
            </a:endParaRPr>
          </a:p>
        </p:txBody>
      </p:sp>
      <p:sp>
        <p:nvSpPr>
          <p:cNvPr id="242" name="Google Shape;242;p20"/>
          <p:cNvSpPr/>
          <p:nvPr/>
        </p:nvSpPr>
        <p:spPr>
          <a:xfrm>
            <a:off x="4754880" y="1234440"/>
            <a:ext cx="3931920" cy="24688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0"/>
          <p:cNvSpPr/>
          <p:nvPr/>
        </p:nvSpPr>
        <p:spPr>
          <a:xfrm>
            <a:off x="4983480" y="1325880"/>
            <a:ext cx="3474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300"/>
              <a:buFont typeface="Arial"/>
              <a:buNone/>
            </a:pPr>
            <a:r>
              <a:rPr b="1" i="0" lang="en-US" sz="1300" u="none" cap="none" strike="noStrike">
                <a:solidFill>
                  <a:srgbClr val="0F2B46"/>
                </a:solidFill>
                <a:latin typeface="Arial"/>
                <a:ea typeface="Arial"/>
                <a:cs typeface="Arial"/>
                <a:sym typeface="Arial"/>
              </a:rPr>
              <a:t>Conectividad Global de Pagos</a:t>
            </a:r>
            <a:endParaRPr b="0" i="0" sz="1300" u="none" cap="none" strike="noStrike">
              <a:solidFill>
                <a:schemeClr val="dk1"/>
              </a:solidFill>
              <a:latin typeface="Calibri"/>
              <a:ea typeface="Calibri"/>
              <a:cs typeface="Calibri"/>
              <a:sym typeface="Calibri"/>
            </a:endParaRPr>
          </a:p>
        </p:txBody>
      </p:sp>
      <p:pic>
        <p:nvPicPr>
          <p:cNvPr descr="preencoded.png" id="244" name="Google Shape;244;p20"/>
          <p:cNvPicPr preferRelativeResize="0"/>
          <p:nvPr/>
        </p:nvPicPr>
        <p:blipFill rotWithShape="1">
          <a:blip r:embed="rId4">
            <a:alphaModFix/>
          </a:blip>
          <a:srcRect b="0" l="0" r="0" t="0"/>
          <a:stretch/>
        </p:blipFill>
        <p:spPr>
          <a:xfrm>
            <a:off x="4983480" y="1737360"/>
            <a:ext cx="146304" cy="146304"/>
          </a:xfrm>
          <a:prstGeom prst="rect">
            <a:avLst/>
          </a:prstGeom>
          <a:noFill/>
          <a:ln>
            <a:noFill/>
          </a:ln>
        </p:spPr>
      </p:pic>
      <p:sp>
        <p:nvSpPr>
          <p:cNvPr id="245" name="Google Shape;245;p20"/>
          <p:cNvSpPr/>
          <p:nvPr/>
        </p:nvSpPr>
        <p:spPr>
          <a:xfrm>
            <a:off x="5230368" y="1700784"/>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Transferencias bancarias (SWIFT, SEPA, vías locales)</a:t>
            </a:r>
            <a:endParaRPr b="0" i="0" sz="1000" u="none" cap="none" strike="noStrike">
              <a:solidFill>
                <a:schemeClr val="dk1"/>
              </a:solidFill>
              <a:latin typeface="Calibri"/>
              <a:ea typeface="Calibri"/>
              <a:cs typeface="Calibri"/>
              <a:sym typeface="Calibri"/>
            </a:endParaRPr>
          </a:p>
        </p:txBody>
      </p:sp>
      <p:pic>
        <p:nvPicPr>
          <p:cNvPr descr="preencoded.png" id="246" name="Google Shape;246;p20"/>
          <p:cNvPicPr preferRelativeResize="0"/>
          <p:nvPr/>
        </p:nvPicPr>
        <p:blipFill rotWithShape="1">
          <a:blip r:embed="rId4">
            <a:alphaModFix/>
          </a:blip>
          <a:srcRect b="0" l="0" r="0" t="0"/>
          <a:stretch/>
        </p:blipFill>
        <p:spPr>
          <a:xfrm>
            <a:off x="4983480" y="2048256"/>
            <a:ext cx="146304" cy="146304"/>
          </a:xfrm>
          <a:prstGeom prst="rect">
            <a:avLst/>
          </a:prstGeom>
          <a:noFill/>
          <a:ln>
            <a:noFill/>
          </a:ln>
        </p:spPr>
      </p:pic>
      <p:sp>
        <p:nvSpPr>
          <p:cNvPr id="247" name="Google Shape;247;p20"/>
          <p:cNvSpPr/>
          <p:nvPr/>
        </p:nvSpPr>
        <p:spPr>
          <a:xfrm>
            <a:off x="5230368" y="20116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Dinero móvil (M-Pesa, MTN, Airtel, etc.)</a:t>
            </a:r>
            <a:endParaRPr b="0" i="0" sz="1000" u="none" cap="none" strike="noStrike">
              <a:solidFill>
                <a:schemeClr val="dk1"/>
              </a:solidFill>
              <a:latin typeface="Calibri"/>
              <a:ea typeface="Calibri"/>
              <a:cs typeface="Calibri"/>
              <a:sym typeface="Calibri"/>
            </a:endParaRPr>
          </a:p>
        </p:txBody>
      </p:sp>
      <p:pic>
        <p:nvPicPr>
          <p:cNvPr descr="preencoded.png" id="248" name="Google Shape;248;p20"/>
          <p:cNvPicPr preferRelativeResize="0"/>
          <p:nvPr/>
        </p:nvPicPr>
        <p:blipFill rotWithShape="1">
          <a:blip r:embed="rId4">
            <a:alphaModFix/>
          </a:blip>
          <a:srcRect b="0" l="0" r="0" t="0"/>
          <a:stretch/>
        </p:blipFill>
        <p:spPr>
          <a:xfrm>
            <a:off x="4983480" y="2359152"/>
            <a:ext cx="146304" cy="146304"/>
          </a:xfrm>
          <a:prstGeom prst="rect">
            <a:avLst/>
          </a:prstGeom>
          <a:noFill/>
          <a:ln>
            <a:noFill/>
          </a:ln>
        </p:spPr>
      </p:pic>
      <p:sp>
        <p:nvSpPr>
          <p:cNvPr id="249" name="Google Shape;249;p20"/>
          <p:cNvSpPr/>
          <p:nvPr/>
        </p:nvSpPr>
        <p:spPr>
          <a:xfrm>
            <a:off x="5230368" y="2322576"/>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Pago contra documentos (CAD)</a:t>
            </a:r>
            <a:endParaRPr b="0" i="0" sz="1000" u="none" cap="none" strike="noStrike">
              <a:solidFill>
                <a:schemeClr val="dk1"/>
              </a:solidFill>
              <a:latin typeface="Calibri"/>
              <a:ea typeface="Calibri"/>
              <a:cs typeface="Calibri"/>
              <a:sym typeface="Calibri"/>
            </a:endParaRPr>
          </a:p>
        </p:txBody>
      </p:sp>
      <p:pic>
        <p:nvPicPr>
          <p:cNvPr descr="preencoded.png" id="250" name="Google Shape;250;p20"/>
          <p:cNvPicPr preferRelativeResize="0"/>
          <p:nvPr/>
        </p:nvPicPr>
        <p:blipFill rotWithShape="1">
          <a:blip r:embed="rId4">
            <a:alphaModFix/>
          </a:blip>
          <a:srcRect b="0" l="0" r="0" t="0"/>
          <a:stretch/>
        </p:blipFill>
        <p:spPr>
          <a:xfrm>
            <a:off x="4983480" y="2670048"/>
            <a:ext cx="146304" cy="146304"/>
          </a:xfrm>
          <a:prstGeom prst="rect">
            <a:avLst/>
          </a:prstGeom>
          <a:noFill/>
          <a:ln>
            <a:noFill/>
          </a:ln>
        </p:spPr>
      </p:pic>
      <p:sp>
        <p:nvSpPr>
          <p:cNvPr id="251" name="Google Shape;251;p20"/>
          <p:cNvSpPr/>
          <p:nvPr/>
        </p:nvSpPr>
        <p:spPr>
          <a:xfrm>
            <a:off x="5230368" y="263347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Carta de crédito (LC)</a:t>
            </a:r>
            <a:endParaRPr b="0" i="0" sz="1000" u="none" cap="none" strike="noStrike">
              <a:solidFill>
                <a:schemeClr val="dk1"/>
              </a:solidFill>
              <a:latin typeface="Calibri"/>
              <a:ea typeface="Calibri"/>
              <a:cs typeface="Calibri"/>
              <a:sym typeface="Calibri"/>
            </a:endParaRPr>
          </a:p>
        </p:txBody>
      </p:sp>
      <p:pic>
        <p:nvPicPr>
          <p:cNvPr descr="preencoded.png" id="252" name="Google Shape;252;p20"/>
          <p:cNvPicPr preferRelativeResize="0"/>
          <p:nvPr/>
        </p:nvPicPr>
        <p:blipFill rotWithShape="1">
          <a:blip r:embed="rId4">
            <a:alphaModFix/>
          </a:blip>
          <a:srcRect b="0" l="0" r="0" t="0"/>
          <a:stretch/>
        </p:blipFill>
        <p:spPr>
          <a:xfrm>
            <a:off x="4983480" y="2980944"/>
            <a:ext cx="146304" cy="146304"/>
          </a:xfrm>
          <a:prstGeom prst="rect">
            <a:avLst/>
          </a:prstGeom>
          <a:noFill/>
          <a:ln>
            <a:noFill/>
          </a:ln>
        </p:spPr>
      </p:pic>
      <p:sp>
        <p:nvSpPr>
          <p:cNvPr id="253" name="Google Shape;253;p20"/>
          <p:cNvSpPr/>
          <p:nvPr/>
        </p:nvSpPr>
        <p:spPr>
          <a:xfrm>
            <a:off x="5230368" y="2944368"/>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Liquidación con stablecoin digital (opcional)</a:t>
            </a:r>
            <a:endParaRPr b="0" i="0" sz="1000" u="none" cap="none" strike="noStrike">
              <a:solidFill>
                <a:schemeClr val="dk1"/>
              </a:solidFill>
              <a:latin typeface="Calibri"/>
              <a:ea typeface="Calibri"/>
              <a:cs typeface="Calibri"/>
              <a:sym typeface="Calibri"/>
            </a:endParaRPr>
          </a:p>
        </p:txBody>
      </p:sp>
      <p:pic>
        <p:nvPicPr>
          <p:cNvPr descr="preencoded.png" id="254" name="Google Shape;254;p20"/>
          <p:cNvPicPr preferRelativeResize="0"/>
          <p:nvPr/>
        </p:nvPicPr>
        <p:blipFill rotWithShape="1">
          <a:blip r:embed="rId4">
            <a:alphaModFix/>
          </a:blip>
          <a:srcRect b="0" l="0" r="0" t="0"/>
          <a:stretch/>
        </p:blipFill>
        <p:spPr>
          <a:xfrm>
            <a:off x="4983480" y="3291840"/>
            <a:ext cx="146304" cy="146304"/>
          </a:xfrm>
          <a:prstGeom prst="rect">
            <a:avLst/>
          </a:prstGeom>
          <a:noFill/>
          <a:ln>
            <a:noFill/>
          </a:ln>
        </p:spPr>
      </p:pic>
      <p:sp>
        <p:nvSpPr>
          <p:cNvPr id="255" name="Google Shape;255;p20"/>
          <p:cNvSpPr/>
          <p:nvPr/>
        </p:nvSpPr>
        <p:spPr>
          <a:xfrm>
            <a:off x="5230368" y="3255264"/>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Pago respaldado en oro (mercados seleccionados)</a:t>
            </a:r>
            <a:endParaRPr b="0" i="0" sz="1000" u="none" cap="none" strike="noStrike">
              <a:solidFill>
                <a:schemeClr val="dk1"/>
              </a:solidFill>
              <a:latin typeface="Calibri"/>
              <a:ea typeface="Calibri"/>
              <a:cs typeface="Calibri"/>
              <a:sym typeface="Calibri"/>
            </a:endParaRPr>
          </a:p>
        </p:txBody>
      </p:sp>
      <p:pic>
        <p:nvPicPr>
          <p:cNvPr descr="preencoded.png" id="256" name="Google Shape;256;p20"/>
          <p:cNvPicPr preferRelativeResize="0"/>
          <p:nvPr/>
        </p:nvPicPr>
        <p:blipFill rotWithShape="1">
          <a:blip r:embed="rId4">
            <a:alphaModFix/>
          </a:blip>
          <a:srcRect b="0" l="0" r="0" t="0"/>
          <a:stretch/>
        </p:blipFill>
        <p:spPr>
          <a:xfrm>
            <a:off x="4983480" y="3602736"/>
            <a:ext cx="146304" cy="146304"/>
          </a:xfrm>
          <a:prstGeom prst="rect">
            <a:avLst/>
          </a:prstGeom>
          <a:noFill/>
          <a:ln>
            <a:noFill/>
          </a:ln>
        </p:spPr>
      </p:pic>
      <p:sp>
        <p:nvSpPr>
          <p:cNvPr id="257" name="Google Shape;257;p20"/>
          <p:cNvSpPr/>
          <p:nvPr/>
        </p:nvSpPr>
        <p:spPr>
          <a:xfrm>
            <a:off x="5230368" y="35661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Soporte multi-moneda (USD, EUR, GHS, etc.)</a:t>
            </a:r>
            <a:endParaRPr b="0" i="0" sz="1000" u="none" cap="none" strike="noStrike">
              <a:solidFill>
                <a:schemeClr val="dk1"/>
              </a:solidFill>
              <a:latin typeface="Calibri"/>
              <a:ea typeface="Calibri"/>
              <a:cs typeface="Calibri"/>
              <a:sym typeface="Calibri"/>
            </a:endParaRPr>
          </a:p>
        </p:txBody>
      </p:sp>
      <p:sp>
        <p:nvSpPr>
          <p:cNvPr id="258" name="Google Shape;258;p20"/>
          <p:cNvSpPr/>
          <p:nvPr/>
        </p:nvSpPr>
        <p:spPr>
          <a:xfrm>
            <a:off x="457200" y="3886200"/>
            <a:ext cx="8229600" cy="100584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0"/>
          <p:cNvSpPr/>
          <p:nvPr/>
        </p:nvSpPr>
        <p:spPr>
          <a:xfrm>
            <a:off x="731520" y="397764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300"/>
              <a:buFont typeface="Arial"/>
              <a:buNone/>
            </a:pPr>
            <a:r>
              <a:rPr b="1" i="0" lang="en-US" sz="1300" u="none" cap="none" strike="noStrike">
                <a:solidFill>
                  <a:srgbClr val="CCDDEE"/>
                </a:solidFill>
                <a:latin typeface="Arial"/>
                <a:ea typeface="Arial"/>
                <a:cs typeface="Arial"/>
                <a:sym typeface="Arial"/>
              </a:rPr>
              <a:t>Plataforma Híbrida — Built for Everyone</a:t>
            </a:r>
            <a:endParaRPr b="0" i="0" sz="1300" u="none" cap="none" strike="noStrike">
              <a:solidFill>
                <a:srgbClr val="CCDDEE"/>
              </a:solidFill>
              <a:latin typeface="Calibri"/>
              <a:ea typeface="Calibri"/>
              <a:cs typeface="Calibri"/>
              <a:sym typeface="Calibri"/>
            </a:endParaRPr>
          </a:p>
        </p:txBody>
      </p:sp>
      <p:sp>
        <p:nvSpPr>
          <p:cNvPr id="260" name="Google Shape;260;p20"/>
          <p:cNvSpPr/>
          <p:nvPr/>
        </p:nvSpPr>
        <p:spPr>
          <a:xfrm>
            <a:off x="685800" y="42793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Usuarios No Cripto</a:t>
            </a:r>
            <a:endParaRPr b="0" i="0" sz="1050" u="none" cap="none" strike="noStrike">
              <a:solidFill>
                <a:schemeClr val="dk1"/>
              </a:solidFill>
              <a:latin typeface="Calibri"/>
              <a:ea typeface="Calibri"/>
              <a:cs typeface="Calibri"/>
              <a:sym typeface="Calibri"/>
            </a:endParaRPr>
          </a:p>
        </p:txBody>
      </p:sp>
      <p:sp>
        <p:nvSpPr>
          <p:cNvPr id="261" name="Google Shape;261;p20"/>
          <p:cNvSpPr/>
          <p:nvPr/>
        </p:nvSpPr>
        <p:spPr>
          <a:xfrm>
            <a:off x="685800" y="4480560"/>
            <a:ext cx="2468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Use bank transfers, mobile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money, or cash. No wallets,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no seed phrases needed.</a:t>
            </a:r>
            <a:endParaRPr b="0" i="0" sz="900" u="none" cap="none" strike="noStrike">
              <a:solidFill>
                <a:schemeClr val="dk1"/>
              </a:solidFill>
              <a:latin typeface="Calibri"/>
              <a:ea typeface="Calibri"/>
              <a:cs typeface="Calibri"/>
              <a:sym typeface="Calibri"/>
            </a:endParaRPr>
          </a:p>
        </p:txBody>
      </p:sp>
      <p:sp>
        <p:nvSpPr>
          <p:cNvPr id="262" name="Google Shape;262;p20"/>
          <p:cNvSpPr/>
          <p:nvPr/>
        </p:nvSpPr>
        <p:spPr>
          <a:xfrm>
            <a:off x="3474720" y="42793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Usuarios Nativos de Cripto</a:t>
            </a:r>
            <a:endParaRPr b="0" i="0" sz="1050" u="none" cap="none" strike="noStrike">
              <a:solidFill>
                <a:schemeClr val="dk1"/>
              </a:solidFill>
              <a:latin typeface="Calibri"/>
              <a:ea typeface="Calibri"/>
              <a:cs typeface="Calibri"/>
              <a:sym typeface="Calibri"/>
            </a:endParaRPr>
          </a:p>
        </p:txBody>
      </p:sp>
      <p:sp>
        <p:nvSpPr>
          <p:cNvPr id="263" name="Google Shape;263;p20"/>
          <p:cNvSpPr/>
          <p:nvPr/>
        </p:nvSpPr>
        <p:spPr>
          <a:xfrm>
            <a:off x="3474720" y="4480560"/>
            <a:ext cx="2468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Use digital wallets, stablecoin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settlement, on-chain verification.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Full transparency.</a:t>
            </a:r>
            <a:endParaRPr b="0" i="0" sz="900" u="none" cap="none" strike="noStrike">
              <a:solidFill>
                <a:schemeClr val="dk1"/>
              </a:solidFill>
              <a:latin typeface="Calibri"/>
              <a:ea typeface="Calibri"/>
              <a:cs typeface="Calibri"/>
              <a:sym typeface="Calibri"/>
            </a:endParaRPr>
          </a:p>
        </p:txBody>
      </p:sp>
      <p:sp>
        <p:nvSpPr>
          <p:cNvPr id="264" name="Google Shape;264;p20"/>
          <p:cNvSpPr/>
          <p:nvPr/>
        </p:nvSpPr>
        <p:spPr>
          <a:xfrm>
            <a:off x="6263640" y="42793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Misma Plataforma, Misma Confianza</a:t>
            </a:r>
            <a:endParaRPr b="0" i="0" sz="1050" u="none" cap="none" strike="noStrike">
              <a:solidFill>
                <a:schemeClr val="dk1"/>
              </a:solidFill>
              <a:latin typeface="Calibri"/>
              <a:ea typeface="Calibri"/>
              <a:cs typeface="Calibri"/>
              <a:sym typeface="Calibri"/>
            </a:endParaRPr>
          </a:p>
        </p:txBody>
      </p:sp>
      <p:sp>
        <p:nvSpPr>
          <p:cNvPr id="265" name="Google Shape;265;p20"/>
          <p:cNvSpPr/>
          <p:nvPr/>
        </p:nvSpPr>
        <p:spPr>
          <a:xfrm>
            <a:off x="6263640" y="4480560"/>
            <a:ext cx="2468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Both paths get identical</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verification, same supply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ABBCC"/>
              </a:buClr>
              <a:buSzPts val="900"/>
              <a:buFont typeface="Arial"/>
              <a:buNone/>
            </a:pPr>
            <a:r>
              <a:rPr b="0" i="0" lang="en-US" sz="900" u="none" cap="none" strike="noStrike">
                <a:solidFill>
                  <a:srgbClr val="AABBCC"/>
                </a:solidFill>
                <a:latin typeface="Arial"/>
                <a:ea typeface="Arial"/>
                <a:cs typeface="Arial"/>
                <a:sym typeface="Arial"/>
              </a:rPr>
              <a:t>chain data, same protections.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270" name="Shape 270"/>
        <p:cNvGrpSpPr/>
        <p:nvPr/>
      </p:nvGrpSpPr>
      <p:grpSpPr>
        <a:xfrm>
          <a:off x="0" y="0"/>
          <a:ext cx="0" cy="0"/>
          <a:chOff x="0" y="0"/>
          <a:chExt cx="0" cy="0"/>
        </a:xfrm>
      </p:grpSpPr>
      <p:sp>
        <p:nvSpPr>
          <p:cNvPr id="271" name="Google Shape;271;p21"/>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
          <p:cNvSpPr/>
          <p:nvPr/>
        </p:nvSpPr>
        <p:spPr>
          <a:xfrm>
            <a:off x="731520" y="1828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Programa Piloto — Corredores Comerciales</a:t>
            </a:r>
            <a:endParaRPr b="0" i="0" sz="2800" u="none" cap="none" strike="noStrike">
              <a:solidFill>
                <a:schemeClr val="dk1"/>
              </a:solidFill>
              <a:latin typeface="Calibri"/>
              <a:ea typeface="Calibri"/>
              <a:cs typeface="Calibri"/>
              <a:sym typeface="Calibri"/>
            </a:endParaRPr>
          </a:p>
        </p:txBody>
      </p:sp>
      <p:sp>
        <p:nvSpPr>
          <p:cNvPr id="273" name="Google Shape;273;p21"/>
          <p:cNvSpPr/>
          <p:nvPr/>
        </p:nvSpPr>
        <p:spPr>
          <a:xfrm>
            <a:off x="731520" y="640080"/>
            <a:ext cx="7680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Arial"/>
              <a:buNone/>
            </a:pPr>
            <a:r>
              <a:rPr b="0" i="1" lang="en-US" sz="1100" u="none" cap="none" strike="noStrike">
                <a:solidFill>
                  <a:srgbClr val="4A5568"/>
                </a:solidFill>
                <a:latin typeface="Arial"/>
                <a:ea typeface="Arial"/>
                <a:cs typeface="Arial"/>
                <a:sym typeface="Arial"/>
              </a:rPr>
              <a:t>Corredores iniciales para probar el modelo. La plataforma es global — los números piloto representan solo la fase de lanzamiento.</a:t>
            </a:r>
            <a:endParaRPr b="0" i="0" sz="1100" u="none" cap="none" strike="noStrike">
              <a:solidFill>
                <a:schemeClr val="dk1"/>
              </a:solidFill>
              <a:latin typeface="Calibri"/>
              <a:ea typeface="Calibri"/>
              <a:cs typeface="Calibri"/>
              <a:sym typeface="Calibri"/>
            </a:endParaRPr>
          </a:p>
        </p:txBody>
      </p:sp>
      <p:sp>
        <p:nvSpPr>
          <p:cNvPr id="274" name="Google Shape;274;p21"/>
          <p:cNvSpPr/>
          <p:nvPr/>
        </p:nvSpPr>
        <p:spPr>
          <a:xfrm>
            <a:off x="457200" y="1097280"/>
            <a:ext cx="3931920" cy="33375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
          <p:cNvSpPr/>
          <p:nvPr/>
        </p:nvSpPr>
        <p:spPr>
          <a:xfrm>
            <a:off x="457200" y="1097280"/>
            <a:ext cx="3931920" cy="36576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1"/>
          <p:cNvSpPr/>
          <p:nvPr/>
        </p:nvSpPr>
        <p:spPr>
          <a:xfrm>
            <a:off x="640080" y="109728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SUDÁN — Corredor Piloto Principal</a:t>
            </a:r>
            <a:endParaRPr b="0" i="0" sz="1100" u="none" cap="none" strike="noStrike">
              <a:solidFill>
                <a:schemeClr val="dk1"/>
              </a:solidFill>
              <a:latin typeface="Calibri"/>
              <a:ea typeface="Calibri"/>
              <a:cs typeface="Calibri"/>
              <a:sym typeface="Calibri"/>
            </a:endParaRPr>
          </a:p>
        </p:txBody>
      </p:sp>
      <p:sp>
        <p:nvSpPr>
          <p:cNvPr id="277" name="Google Shape;277;p21"/>
          <p:cNvSpPr/>
          <p:nvPr/>
        </p:nvSpPr>
        <p:spPr>
          <a:xfrm>
            <a:off x="594360" y="1572768"/>
            <a:ext cx="10515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850"/>
              <a:buFont typeface="Arial"/>
              <a:buNone/>
            </a:pPr>
            <a:r>
              <a:rPr b="1" i="0" lang="en-US" sz="850" u="none" cap="none" strike="noStrike">
                <a:solidFill>
                  <a:srgbClr val="0C5392"/>
                </a:solidFill>
                <a:latin typeface="Arial"/>
                <a:ea typeface="Arial"/>
                <a:cs typeface="Arial"/>
                <a:sym typeface="Arial"/>
              </a:rPr>
              <a:t>Commodity</a:t>
            </a:r>
            <a:endParaRPr b="0" i="0" sz="850" u="none" cap="none" strike="noStrike">
              <a:solidFill>
                <a:srgbClr val="0C5392"/>
              </a:solidFill>
              <a:latin typeface="Calibri"/>
              <a:ea typeface="Calibri"/>
              <a:cs typeface="Calibri"/>
              <a:sym typeface="Calibri"/>
            </a:endParaRPr>
          </a:p>
        </p:txBody>
      </p:sp>
      <p:sp>
        <p:nvSpPr>
          <p:cNvPr id="278" name="Google Shape;278;p21"/>
          <p:cNvSpPr/>
          <p:nvPr/>
        </p:nvSpPr>
        <p:spPr>
          <a:xfrm>
            <a:off x="1645920" y="1572768"/>
            <a:ext cx="7772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850"/>
              <a:buFont typeface="Arial"/>
              <a:buNone/>
            </a:pPr>
            <a:r>
              <a:rPr b="1" i="0" lang="en-US" sz="850" u="none" cap="none" strike="noStrike">
                <a:solidFill>
                  <a:srgbClr val="0C5392"/>
                </a:solidFill>
                <a:latin typeface="Arial"/>
                <a:ea typeface="Arial"/>
                <a:cs typeface="Arial"/>
                <a:sym typeface="Arial"/>
              </a:rPr>
              <a:t>Volume</a:t>
            </a:r>
            <a:endParaRPr b="0" i="0" sz="850" u="none" cap="none" strike="noStrike">
              <a:solidFill>
                <a:srgbClr val="0C5392"/>
              </a:solidFill>
              <a:latin typeface="Calibri"/>
              <a:ea typeface="Calibri"/>
              <a:cs typeface="Calibri"/>
              <a:sym typeface="Calibri"/>
            </a:endParaRPr>
          </a:p>
        </p:txBody>
      </p:sp>
      <p:sp>
        <p:nvSpPr>
          <p:cNvPr id="279" name="Google Shape;279;p21"/>
          <p:cNvSpPr/>
          <p:nvPr/>
        </p:nvSpPr>
        <p:spPr>
          <a:xfrm>
            <a:off x="2423160" y="1572768"/>
            <a:ext cx="640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850"/>
              <a:buFont typeface="Arial"/>
              <a:buNone/>
            </a:pPr>
            <a:r>
              <a:rPr b="1" i="0" lang="en-US" sz="850" u="none" cap="none" strike="noStrike">
                <a:solidFill>
                  <a:srgbClr val="0C5392"/>
                </a:solidFill>
                <a:latin typeface="Arial"/>
                <a:ea typeface="Arial"/>
                <a:cs typeface="Arial"/>
                <a:sym typeface="Arial"/>
              </a:rPr>
              <a:t>Value</a:t>
            </a:r>
            <a:endParaRPr b="0" i="0" sz="850" u="none" cap="none" strike="noStrike">
              <a:solidFill>
                <a:srgbClr val="0C5392"/>
              </a:solidFill>
              <a:latin typeface="Calibri"/>
              <a:ea typeface="Calibri"/>
              <a:cs typeface="Calibri"/>
              <a:sym typeface="Calibri"/>
            </a:endParaRPr>
          </a:p>
        </p:txBody>
      </p:sp>
      <p:sp>
        <p:nvSpPr>
          <p:cNvPr id="280" name="Google Shape;280;p21"/>
          <p:cNvSpPr/>
          <p:nvPr/>
        </p:nvSpPr>
        <p:spPr>
          <a:xfrm>
            <a:off x="3063240" y="1572768"/>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850"/>
              <a:buFont typeface="Arial"/>
              <a:buNone/>
            </a:pPr>
            <a:r>
              <a:rPr b="1" i="0" lang="en-US" sz="850" u="none" cap="none" strike="noStrike">
                <a:solidFill>
                  <a:srgbClr val="0C5392"/>
                </a:solidFill>
                <a:latin typeface="Arial"/>
                <a:ea typeface="Arial"/>
                <a:cs typeface="Arial"/>
                <a:sym typeface="Arial"/>
              </a:rPr>
              <a:t>Source</a:t>
            </a:r>
            <a:endParaRPr b="0" i="0" sz="850" u="none" cap="none" strike="noStrike">
              <a:solidFill>
                <a:srgbClr val="0C5392"/>
              </a:solidFill>
              <a:latin typeface="Calibri"/>
              <a:ea typeface="Calibri"/>
              <a:cs typeface="Calibri"/>
              <a:sym typeface="Calibri"/>
            </a:endParaRPr>
          </a:p>
        </p:txBody>
      </p:sp>
      <p:sp>
        <p:nvSpPr>
          <p:cNvPr id="281" name="Google Shape;281;p21"/>
          <p:cNvSpPr/>
          <p:nvPr/>
        </p:nvSpPr>
        <p:spPr>
          <a:xfrm>
            <a:off x="548640" y="1792224"/>
            <a:ext cx="3657600" cy="256032"/>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
          <p:cNvSpPr/>
          <p:nvPr/>
        </p:nvSpPr>
        <p:spPr>
          <a:xfrm>
            <a:off x="594360" y="1810512"/>
            <a:ext cx="1051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Wheat / Flour</a:t>
            </a:r>
            <a:endParaRPr b="0" i="0" sz="850" u="none" cap="none" strike="noStrike">
              <a:solidFill>
                <a:schemeClr val="dk1"/>
              </a:solidFill>
              <a:latin typeface="Calibri"/>
              <a:ea typeface="Calibri"/>
              <a:cs typeface="Calibri"/>
              <a:sym typeface="Calibri"/>
            </a:endParaRPr>
          </a:p>
        </p:txBody>
      </p:sp>
      <p:sp>
        <p:nvSpPr>
          <p:cNvPr id="283" name="Google Shape;283;p21"/>
          <p:cNvSpPr/>
          <p:nvPr/>
        </p:nvSpPr>
        <p:spPr>
          <a:xfrm>
            <a:off x="1645920" y="1810512"/>
            <a:ext cx="777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10,000 MT</a:t>
            </a:r>
            <a:endParaRPr b="0" i="0" sz="850" u="none" cap="none" strike="noStrike">
              <a:solidFill>
                <a:schemeClr val="dk1"/>
              </a:solidFill>
              <a:latin typeface="Calibri"/>
              <a:ea typeface="Calibri"/>
              <a:cs typeface="Calibri"/>
              <a:sym typeface="Calibri"/>
            </a:endParaRPr>
          </a:p>
        </p:txBody>
      </p:sp>
      <p:sp>
        <p:nvSpPr>
          <p:cNvPr id="284" name="Google Shape;284;p21"/>
          <p:cNvSpPr/>
          <p:nvPr/>
        </p:nvSpPr>
        <p:spPr>
          <a:xfrm>
            <a:off x="2423160" y="1810512"/>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~$4M</a:t>
            </a:r>
            <a:endParaRPr b="0" i="0" sz="850" u="none" cap="none" strike="noStrike">
              <a:solidFill>
                <a:schemeClr val="dk1"/>
              </a:solidFill>
              <a:latin typeface="Calibri"/>
              <a:ea typeface="Calibri"/>
              <a:cs typeface="Calibri"/>
              <a:sym typeface="Calibri"/>
            </a:endParaRPr>
          </a:p>
        </p:txBody>
      </p:sp>
      <p:sp>
        <p:nvSpPr>
          <p:cNvPr id="285" name="Google Shape;285;p21"/>
          <p:cNvSpPr/>
          <p:nvPr/>
        </p:nvSpPr>
        <p:spPr>
          <a:xfrm>
            <a:off x="3063240" y="1810512"/>
            <a:ext cx="914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Turkey</a:t>
            </a:r>
            <a:endParaRPr b="0" i="0" sz="850" u="none" cap="none" strike="noStrike">
              <a:solidFill>
                <a:schemeClr val="dk1"/>
              </a:solidFill>
              <a:latin typeface="Calibri"/>
              <a:ea typeface="Calibri"/>
              <a:cs typeface="Calibri"/>
              <a:sym typeface="Calibri"/>
            </a:endParaRPr>
          </a:p>
        </p:txBody>
      </p:sp>
      <p:sp>
        <p:nvSpPr>
          <p:cNvPr id="286" name="Google Shape;286;p21"/>
          <p:cNvSpPr/>
          <p:nvPr/>
        </p:nvSpPr>
        <p:spPr>
          <a:xfrm>
            <a:off x="594360" y="2066544"/>
            <a:ext cx="1051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Sugar</a:t>
            </a:r>
            <a:endParaRPr b="0" i="0" sz="850" u="none" cap="none" strike="noStrike">
              <a:solidFill>
                <a:schemeClr val="dk1"/>
              </a:solidFill>
              <a:latin typeface="Calibri"/>
              <a:ea typeface="Calibri"/>
              <a:cs typeface="Calibri"/>
              <a:sym typeface="Calibri"/>
            </a:endParaRPr>
          </a:p>
        </p:txBody>
      </p:sp>
      <p:sp>
        <p:nvSpPr>
          <p:cNvPr id="287" name="Google Shape;287;p21"/>
          <p:cNvSpPr/>
          <p:nvPr/>
        </p:nvSpPr>
        <p:spPr>
          <a:xfrm>
            <a:off x="1645920" y="2066544"/>
            <a:ext cx="777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10,000 MT</a:t>
            </a:r>
            <a:endParaRPr b="0" i="0" sz="850" u="none" cap="none" strike="noStrike">
              <a:solidFill>
                <a:schemeClr val="dk1"/>
              </a:solidFill>
              <a:latin typeface="Calibri"/>
              <a:ea typeface="Calibri"/>
              <a:cs typeface="Calibri"/>
              <a:sym typeface="Calibri"/>
            </a:endParaRPr>
          </a:p>
        </p:txBody>
      </p:sp>
      <p:sp>
        <p:nvSpPr>
          <p:cNvPr id="288" name="Google Shape;288;p21"/>
          <p:cNvSpPr/>
          <p:nvPr/>
        </p:nvSpPr>
        <p:spPr>
          <a:xfrm>
            <a:off x="2423160" y="2066544"/>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~$4M</a:t>
            </a:r>
            <a:endParaRPr b="0" i="0" sz="850" u="none" cap="none" strike="noStrike">
              <a:solidFill>
                <a:schemeClr val="dk1"/>
              </a:solidFill>
              <a:latin typeface="Calibri"/>
              <a:ea typeface="Calibri"/>
              <a:cs typeface="Calibri"/>
              <a:sym typeface="Calibri"/>
            </a:endParaRPr>
          </a:p>
        </p:txBody>
      </p:sp>
      <p:sp>
        <p:nvSpPr>
          <p:cNvPr id="289" name="Google Shape;289;p21"/>
          <p:cNvSpPr/>
          <p:nvPr/>
        </p:nvSpPr>
        <p:spPr>
          <a:xfrm>
            <a:off x="3063240" y="2066544"/>
            <a:ext cx="914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Brazil</a:t>
            </a:r>
            <a:endParaRPr b="0" i="0" sz="850" u="none" cap="none" strike="noStrike">
              <a:solidFill>
                <a:schemeClr val="dk1"/>
              </a:solidFill>
              <a:latin typeface="Calibri"/>
              <a:ea typeface="Calibri"/>
              <a:cs typeface="Calibri"/>
              <a:sym typeface="Calibri"/>
            </a:endParaRPr>
          </a:p>
        </p:txBody>
      </p:sp>
      <p:sp>
        <p:nvSpPr>
          <p:cNvPr id="290" name="Google Shape;290;p21"/>
          <p:cNvSpPr/>
          <p:nvPr/>
        </p:nvSpPr>
        <p:spPr>
          <a:xfrm>
            <a:off x="548640" y="2304288"/>
            <a:ext cx="3657600" cy="256032"/>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1"/>
          <p:cNvSpPr/>
          <p:nvPr/>
        </p:nvSpPr>
        <p:spPr>
          <a:xfrm>
            <a:off x="594360" y="2322576"/>
            <a:ext cx="1051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Milk Powder</a:t>
            </a:r>
            <a:endParaRPr b="0" i="0" sz="850" u="none" cap="none" strike="noStrike">
              <a:solidFill>
                <a:schemeClr val="dk1"/>
              </a:solidFill>
              <a:latin typeface="Calibri"/>
              <a:ea typeface="Calibri"/>
              <a:cs typeface="Calibri"/>
              <a:sym typeface="Calibri"/>
            </a:endParaRPr>
          </a:p>
        </p:txBody>
      </p:sp>
      <p:sp>
        <p:nvSpPr>
          <p:cNvPr id="292" name="Google Shape;292;p21"/>
          <p:cNvSpPr/>
          <p:nvPr/>
        </p:nvSpPr>
        <p:spPr>
          <a:xfrm>
            <a:off x="1645920" y="2322576"/>
            <a:ext cx="777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20 containers</a:t>
            </a:r>
            <a:endParaRPr b="0" i="0" sz="850" u="none" cap="none" strike="noStrike">
              <a:solidFill>
                <a:schemeClr val="dk1"/>
              </a:solidFill>
              <a:latin typeface="Calibri"/>
              <a:ea typeface="Calibri"/>
              <a:cs typeface="Calibri"/>
              <a:sym typeface="Calibri"/>
            </a:endParaRPr>
          </a:p>
        </p:txBody>
      </p:sp>
      <p:sp>
        <p:nvSpPr>
          <p:cNvPr id="293" name="Google Shape;293;p21"/>
          <p:cNvSpPr/>
          <p:nvPr/>
        </p:nvSpPr>
        <p:spPr>
          <a:xfrm>
            <a:off x="2423160" y="2322576"/>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~$1M</a:t>
            </a:r>
            <a:endParaRPr b="0" i="0" sz="850" u="none" cap="none" strike="noStrike">
              <a:solidFill>
                <a:schemeClr val="dk1"/>
              </a:solidFill>
              <a:latin typeface="Calibri"/>
              <a:ea typeface="Calibri"/>
              <a:cs typeface="Calibri"/>
              <a:sym typeface="Calibri"/>
            </a:endParaRPr>
          </a:p>
        </p:txBody>
      </p:sp>
      <p:sp>
        <p:nvSpPr>
          <p:cNvPr id="294" name="Google Shape;294;p21"/>
          <p:cNvSpPr/>
          <p:nvPr/>
        </p:nvSpPr>
        <p:spPr>
          <a:xfrm>
            <a:off x="3063240" y="2322576"/>
            <a:ext cx="914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Poland</a:t>
            </a:r>
            <a:endParaRPr b="0" i="0" sz="850" u="none" cap="none" strike="noStrike">
              <a:solidFill>
                <a:schemeClr val="dk1"/>
              </a:solidFill>
              <a:latin typeface="Calibri"/>
              <a:ea typeface="Calibri"/>
              <a:cs typeface="Calibri"/>
              <a:sym typeface="Calibri"/>
            </a:endParaRPr>
          </a:p>
        </p:txBody>
      </p:sp>
      <p:sp>
        <p:nvSpPr>
          <p:cNvPr id="295" name="Google Shape;295;p21"/>
          <p:cNvSpPr/>
          <p:nvPr/>
        </p:nvSpPr>
        <p:spPr>
          <a:xfrm>
            <a:off x="594360" y="2578608"/>
            <a:ext cx="1051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Sunflower Oil</a:t>
            </a:r>
            <a:endParaRPr b="0" i="0" sz="850" u="none" cap="none" strike="noStrike">
              <a:solidFill>
                <a:schemeClr val="dk1"/>
              </a:solidFill>
              <a:latin typeface="Calibri"/>
              <a:ea typeface="Calibri"/>
              <a:cs typeface="Calibri"/>
              <a:sym typeface="Calibri"/>
            </a:endParaRPr>
          </a:p>
        </p:txBody>
      </p:sp>
      <p:sp>
        <p:nvSpPr>
          <p:cNvPr id="296" name="Google Shape;296;p21"/>
          <p:cNvSpPr/>
          <p:nvPr/>
        </p:nvSpPr>
        <p:spPr>
          <a:xfrm>
            <a:off x="1645920" y="2578608"/>
            <a:ext cx="777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40 containers</a:t>
            </a:r>
            <a:endParaRPr b="0" i="0" sz="850" u="none" cap="none" strike="noStrike">
              <a:solidFill>
                <a:schemeClr val="dk1"/>
              </a:solidFill>
              <a:latin typeface="Calibri"/>
              <a:ea typeface="Calibri"/>
              <a:cs typeface="Calibri"/>
              <a:sym typeface="Calibri"/>
            </a:endParaRPr>
          </a:p>
        </p:txBody>
      </p:sp>
      <p:sp>
        <p:nvSpPr>
          <p:cNvPr id="297" name="Google Shape;297;p21"/>
          <p:cNvSpPr/>
          <p:nvPr/>
        </p:nvSpPr>
        <p:spPr>
          <a:xfrm>
            <a:off x="2423160" y="2578608"/>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~$1.2M</a:t>
            </a:r>
            <a:endParaRPr b="0" i="0" sz="850" u="none" cap="none" strike="noStrike">
              <a:solidFill>
                <a:schemeClr val="dk1"/>
              </a:solidFill>
              <a:latin typeface="Calibri"/>
              <a:ea typeface="Calibri"/>
              <a:cs typeface="Calibri"/>
              <a:sym typeface="Calibri"/>
            </a:endParaRPr>
          </a:p>
        </p:txBody>
      </p:sp>
      <p:sp>
        <p:nvSpPr>
          <p:cNvPr id="298" name="Google Shape;298;p21"/>
          <p:cNvSpPr/>
          <p:nvPr/>
        </p:nvSpPr>
        <p:spPr>
          <a:xfrm>
            <a:off x="3063240" y="2578608"/>
            <a:ext cx="914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Turkey</a:t>
            </a:r>
            <a:endParaRPr b="0" i="0" sz="850" u="none" cap="none" strike="noStrike">
              <a:solidFill>
                <a:schemeClr val="dk1"/>
              </a:solidFill>
              <a:latin typeface="Calibri"/>
              <a:ea typeface="Calibri"/>
              <a:cs typeface="Calibri"/>
              <a:sym typeface="Calibri"/>
            </a:endParaRPr>
          </a:p>
        </p:txBody>
      </p:sp>
      <p:sp>
        <p:nvSpPr>
          <p:cNvPr id="299" name="Google Shape;299;p21"/>
          <p:cNvSpPr/>
          <p:nvPr/>
        </p:nvSpPr>
        <p:spPr>
          <a:xfrm>
            <a:off x="548640" y="2816352"/>
            <a:ext cx="3657600" cy="256032"/>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1"/>
          <p:cNvSpPr/>
          <p:nvPr/>
        </p:nvSpPr>
        <p:spPr>
          <a:xfrm>
            <a:off x="594360" y="2834640"/>
            <a:ext cx="1051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Lentils / Pasta</a:t>
            </a:r>
            <a:endParaRPr b="0" i="0" sz="850" u="none" cap="none" strike="noStrike">
              <a:solidFill>
                <a:schemeClr val="dk1"/>
              </a:solidFill>
              <a:latin typeface="Calibri"/>
              <a:ea typeface="Calibri"/>
              <a:cs typeface="Calibri"/>
              <a:sym typeface="Calibri"/>
            </a:endParaRPr>
          </a:p>
        </p:txBody>
      </p:sp>
      <p:sp>
        <p:nvSpPr>
          <p:cNvPr id="301" name="Google Shape;301;p21"/>
          <p:cNvSpPr/>
          <p:nvPr/>
        </p:nvSpPr>
        <p:spPr>
          <a:xfrm>
            <a:off x="1645920" y="2834640"/>
            <a:ext cx="777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Mixed</a:t>
            </a:r>
            <a:endParaRPr b="0" i="0" sz="850" u="none" cap="none" strike="noStrike">
              <a:solidFill>
                <a:schemeClr val="dk1"/>
              </a:solidFill>
              <a:latin typeface="Calibri"/>
              <a:ea typeface="Calibri"/>
              <a:cs typeface="Calibri"/>
              <a:sym typeface="Calibri"/>
            </a:endParaRPr>
          </a:p>
        </p:txBody>
      </p:sp>
      <p:sp>
        <p:nvSpPr>
          <p:cNvPr id="302" name="Google Shape;302;p21"/>
          <p:cNvSpPr/>
          <p:nvPr/>
        </p:nvSpPr>
        <p:spPr>
          <a:xfrm>
            <a:off x="2423160" y="2834640"/>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~$1.3M</a:t>
            </a:r>
            <a:endParaRPr b="0" i="0" sz="850" u="none" cap="none" strike="noStrike">
              <a:solidFill>
                <a:schemeClr val="dk1"/>
              </a:solidFill>
              <a:latin typeface="Calibri"/>
              <a:ea typeface="Calibri"/>
              <a:cs typeface="Calibri"/>
              <a:sym typeface="Calibri"/>
            </a:endParaRPr>
          </a:p>
        </p:txBody>
      </p:sp>
      <p:sp>
        <p:nvSpPr>
          <p:cNvPr id="303" name="Google Shape;303;p21"/>
          <p:cNvSpPr/>
          <p:nvPr/>
        </p:nvSpPr>
        <p:spPr>
          <a:xfrm>
            <a:off x="3063240" y="2834640"/>
            <a:ext cx="914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Turkey/Italy</a:t>
            </a:r>
            <a:endParaRPr b="0" i="0" sz="850" u="none" cap="none" strike="noStrike">
              <a:solidFill>
                <a:schemeClr val="dk1"/>
              </a:solidFill>
              <a:latin typeface="Calibri"/>
              <a:ea typeface="Calibri"/>
              <a:cs typeface="Calibri"/>
              <a:sym typeface="Calibri"/>
            </a:endParaRPr>
          </a:p>
        </p:txBody>
      </p:sp>
      <p:cxnSp>
        <p:nvCxnSpPr>
          <p:cNvPr id="304" name="Google Shape;304;p21"/>
          <p:cNvCxnSpPr/>
          <p:nvPr/>
        </p:nvCxnSpPr>
        <p:spPr>
          <a:xfrm>
            <a:off x="594360" y="3154680"/>
            <a:ext cx="3611880" cy="0"/>
          </a:xfrm>
          <a:prstGeom prst="straightConnector1">
            <a:avLst/>
          </a:prstGeom>
          <a:noFill/>
          <a:ln cap="flat" cmpd="sng" w="9525">
            <a:solidFill>
              <a:srgbClr val="DEE2E6"/>
            </a:solidFill>
            <a:prstDash val="solid"/>
            <a:round/>
            <a:headEnd len="sm" w="sm" type="none"/>
            <a:tailEnd len="sm" w="sm" type="none"/>
          </a:ln>
        </p:spPr>
      </p:cxnSp>
      <p:sp>
        <p:nvSpPr>
          <p:cNvPr id="305" name="Google Shape;305;p21"/>
          <p:cNvSpPr/>
          <p:nvPr/>
        </p:nvSpPr>
        <p:spPr>
          <a:xfrm>
            <a:off x="594360" y="3218688"/>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Ciclo piloto: ~$14–16M por ciclo</a:t>
            </a:r>
            <a:endParaRPr b="0" i="0" sz="900" u="none" cap="none" strike="noStrike">
              <a:solidFill>
                <a:schemeClr val="dk1"/>
              </a:solidFill>
              <a:latin typeface="Calibri"/>
              <a:ea typeface="Calibri"/>
              <a:cs typeface="Calibri"/>
              <a:sym typeface="Calibri"/>
            </a:endParaRPr>
          </a:p>
        </p:txBody>
      </p:sp>
      <p:sp>
        <p:nvSpPr>
          <p:cNvPr id="306" name="Google Shape;306;p21"/>
          <p:cNvSpPr/>
          <p:nvPr/>
        </p:nvSpPr>
        <p:spPr>
          <a:xfrm>
            <a:off x="594360" y="3493008"/>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900"/>
              <a:buFont typeface="Arial"/>
              <a:buNone/>
            </a:pPr>
            <a:r>
              <a:rPr b="1" i="0" lang="en-US" sz="900" u="none" cap="none" strike="noStrike">
                <a:solidFill>
                  <a:srgbClr val="0F2B46"/>
                </a:solidFill>
                <a:latin typeface="Arial"/>
                <a:ea typeface="Arial"/>
                <a:cs typeface="Arial"/>
                <a:sym typeface="Arial"/>
              </a:rPr>
              <a:t>Demanda del gobierno: 30.000 TM de trigo/mes (~$12M/mes)</a:t>
            </a:r>
            <a:endParaRPr b="0" i="0" sz="900" u="none" cap="none" strike="noStrike">
              <a:solidFill>
                <a:schemeClr val="dk1"/>
              </a:solidFill>
              <a:latin typeface="Calibri"/>
              <a:ea typeface="Calibri"/>
              <a:cs typeface="Calibri"/>
              <a:sym typeface="Calibri"/>
            </a:endParaRPr>
          </a:p>
        </p:txBody>
      </p:sp>
      <p:sp>
        <p:nvSpPr>
          <p:cNvPr id="307" name="Google Shape;307;p21"/>
          <p:cNvSpPr/>
          <p:nvPr/>
        </p:nvSpPr>
        <p:spPr>
          <a:xfrm>
            <a:off x="594360" y="3767328"/>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Respaldado por el gobierno de Sudán</a:t>
            </a:r>
            <a:endParaRPr b="0" i="0" sz="900" u="none" cap="none" strike="noStrike">
              <a:solidFill>
                <a:schemeClr val="dk1"/>
              </a:solidFill>
              <a:latin typeface="Calibri"/>
              <a:ea typeface="Calibri"/>
              <a:cs typeface="Calibri"/>
              <a:sym typeface="Calibri"/>
            </a:endParaRPr>
          </a:p>
        </p:txBody>
      </p:sp>
      <p:sp>
        <p:nvSpPr>
          <p:cNvPr id="308" name="Google Shape;308;p21"/>
          <p:cNvSpPr/>
          <p:nvPr/>
        </p:nvSpPr>
        <p:spPr>
          <a:xfrm>
            <a:off x="594360" y="4041648"/>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Status: Government partnership, </a:t>
            </a:r>
            <a:r>
              <a:rPr lang="en-US" sz="900">
                <a:solidFill>
                  <a:srgbClr val="4A5568"/>
                </a:solidFill>
              </a:rPr>
              <a:t>MOU signed </a:t>
            </a:r>
            <a:endParaRPr b="0" i="0" sz="900" u="none" cap="none" strike="noStrike">
              <a:solidFill>
                <a:schemeClr val="dk1"/>
              </a:solidFill>
              <a:latin typeface="Calibri"/>
              <a:ea typeface="Calibri"/>
              <a:cs typeface="Calibri"/>
              <a:sym typeface="Calibri"/>
            </a:endParaRPr>
          </a:p>
        </p:txBody>
      </p:sp>
      <p:sp>
        <p:nvSpPr>
          <p:cNvPr id="309" name="Google Shape;309;p21"/>
          <p:cNvSpPr/>
          <p:nvPr/>
        </p:nvSpPr>
        <p:spPr>
          <a:xfrm>
            <a:off x="4754880" y="1097280"/>
            <a:ext cx="3931920" cy="22860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1"/>
          <p:cNvSpPr/>
          <p:nvPr/>
        </p:nvSpPr>
        <p:spPr>
          <a:xfrm>
            <a:off x="4754880" y="1097280"/>
            <a:ext cx="3931920" cy="36576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1"/>
          <p:cNvSpPr/>
          <p:nvPr/>
        </p:nvSpPr>
        <p:spPr>
          <a:xfrm>
            <a:off x="4937760" y="109728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GHANA — Corredor de Diversificación</a:t>
            </a:r>
            <a:endParaRPr b="0" i="0" sz="1100" u="none" cap="none" strike="noStrike">
              <a:solidFill>
                <a:schemeClr val="dk1"/>
              </a:solidFill>
              <a:latin typeface="Calibri"/>
              <a:ea typeface="Calibri"/>
              <a:cs typeface="Calibri"/>
              <a:sym typeface="Calibri"/>
            </a:endParaRPr>
          </a:p>
        </p:txBody>
      </p:sp>
      <p:sp>
        <p:nvSpPr>
          <p:cNvPr id="312" name="Google Shape;312;p21"/>
          <p:cNvSpPr/>
          <p:nvPr/>
        </p:nvSpPr>
        <p:spPr>
          <a:xfrm>
            <a:off x="4937760" y="1572768"/>
            <a:ext cx="1463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850"/>
              <a:buFont typeface="Arial"/>
              <a:buNone/>
            </a:pPr>
            <a:r>
              <a:rPr b="1" i="0" lang="en-US" sz="850" u="none" cap="none" strike="noStrike">
                <a:solidFill>
                  <a:srgbClr val="0C5392"/>
                </a:solidFill>
                <a:latin typeface="Arial"/>
                <a:ea typeface="Arial"/>
                <a:cs typeface="Arial"/>
                <a:sym typeface="Arial"/>
              </a:rPr>
              <a:t>Commodity</a:t>
            </a:r>
            <a:endParaRPr b="0" i="0" sz="850" u="none" cap="none" strike="noStrike">
              <a:solidFill>
                <a:srgbClr val="0C5392"/>
              </a:solidFill>
              <a:latin typeface="Calibri"/>
              <a:ea typeface="Calibri"/>
              <a:cs typeface="Calibri"/>
              <a:sym typeface="Calibri"/>
            </a:endParaRPr>
          </a:p>
        </p:txBody>
      </p:sp>
      <p:sp>
        <p:nvSpPr>
          <p:cNvPr id="313" name="Google Shape;313;p21"/>
          <p:cNvSpPr/>
          <p:nvPr/>
        </p:nvSpPr>
        <p:spPr>
          <a:xfrm>
            <a:off x="6400800" y="1572768"/>
            <a:ext cx="640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850"/>
              <a:buFont typeface="Arial"/>
              <a:buNone/>
            </a:pPr>
            <a:r>
              <a:rPr b="1" i="0" lang="en-US" sz="850" u="none" cap="none" strike="noStrike">
                <a:solidFill>
                  <a:srgbClr val="0C5392"/>
                </a:solidFill>
                <a:latin typeface="Arial"/>
                <a:ea typeface="Arial"/>
                <a:cs typeface="Arial"/>
                <a:sym typeface="Arial"/>
              </a:rPr>
              <a:t>Value</a:t>
            </a:r>
            <a:endParaRPr b="0" i="0" sz="850" u="none" cap="none" strike="noStrike">
              <a:solidFill>
                <a:srgbClr val="0C5392"/>
              </a:solidFill>
              <a:latin typeface="Calibri"/>
              <a:ea typeface="Calibri"/>
              <a:cs typeface="Calibri"/>
              <a:sym typeface="Calibri"/>
            </a:endParaRPr>
          </a:p>
        </p:txBody>
      </p:sp>
      <p:sp>
        <p:nvSpPr>
          <p:cNvPr id="314" name="Google Shape;314;p21"/>
          <p:cNvSpPr/>
          <p:nvPr/>
        </p:nvSpPr>
        <p:spPr>
          <a:xfrm>
            <a:off x="7040880" y="1572768"/>
            <a:ext cx="1188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9E"/>
              </a:buClr>
              <a:buSzPts val="850"/>
              <a:buFont typeface="Arial"/>
              <a:buNone/>
            </a:pPr>
            <a:r>
              <a:rPr b="1" i="0" lang="en-US" sz="850" u="none" cap="none" strike="noStrike">
                <a:solidFill>
                  <a:srgbClr val="0C5392"/>
                </a:solidFill>
                <a:latin typeface="Arial"/>
                <a:ea typeface="Arial"/>
                <a:cs typeface="Arial"/>
                <a:sym typeface="Arial"/>
              </a:rPr>
              <a:t>Source</a:t>
            </a:r>
            <a:endParaRPr b="0" i="0" sz="850" u="none" cap="none" strike="noStrike">
              <a:solidFill>
                <a:srgbClr val="0C5392"/>
              </a:solidFill>
              <a:latin typeface="Calibri"/>
              <a:ea typeface="Calibri"/>
              <a:cs typeface="Calibri"/>
              <a:sym typeface="Calibri"/>
            </a:endParaRPr>
          </a:p>
        </p:txBody>
      </p:sp>
      <p:sp>
        <p:nvSpPr>
          <p:cNvPr id="315" name="Google Shape;315;p21"/>
          <p:cNvSpPr/>
          <p:nvPr/>
        </p:nvSpPr>
        <p:spPr>
          <a:xfrm>
            <a:off x="4892040" y="1792224"/>
            <a:ext cx="3657600" cy="256032"/>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1"/>
          <p:cNvSpPr/>
          <p:nvPr/>
        </p:nvSpPr>
        <p:spPr>
          <a:xfrm>
            <a:off x="4937760" y="1810512"/>
            <a:ext cx="1463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Dairy / Milk Powder</a:t>
            </a:r>
            <a:endParaRPr b="0" i="0" sz="850" u="none" cap="none" strike="noStrike">
              <a:solidFill>
                <a:schemeClr val="dk1"/>
              </a:solidFill>
              <a:latin typeface="Calibri"/>
              <a:ea typeface="Calibri"/>
              <a:cs typeface="Calibri"/>
              <a:sym typeface="Calibri"/>
            </a:endParaRPr>
          </a:p>
        </p:txBody>
      </p:sp>
      <p:sp>
        <p:nvSpPr>
          <p:cNvPr id="317" name="Google Shape;317;p21"/>
          <p:cNvSpPr/>
          <p:nvPr/>
        </p:nvSpPr>
        <p:spPr>
          <a:xfrm>
            <a:off x="6400800" y="1810512"/>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~$1M</a:t>
            </a:r>
            <a:endParaRPr b="0" i="0" sz="850" u="none" cap="none" strike="noStrike">
              <a:solidFill>
                <a:schemeClr val="dk1"/>
              </a:solidFill>
              <a:latin typeface="Calibri"/>
              <a:ea typeface="Calibri"/>
              <a:cs typeface="Calibri"/>
              <a:sym typeface="Calibri"/>
            </a:endParaRPr>
          </a:p>
        </p:txBody>
      </p:sp>
      <p:sp>
        <p:nvSpPr>
          <p:cNvPr id="318" name="Google Shape;318;p21"/>
          <p:cNvSpPr/>
          <p:nvPr/>
        </p:nvSpPr>
        <p:spPr>
          <a:xfrm>
            <a:off x="7040880" y="1810512"/>
            <a:ext cx="1188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Poland</a:t>
            </a:r>
            <a:endParaRPr b="0" i="0" sz="850" u="none" cap="none" strike="noStrike">
              <a:solidFill>
                <a:schemeClr val="dk1"/>
              </a:solidFill>
              <a:latin typeface="Calibri"/>
              <a:ea typeface="Calibri"/>
              <a:cs typeface="Calibri"/>
              <a:sym typeface="Calibri"/>
            </a:endParaRPr>
          </a:p>
        </p:txBody>
      </p:sp>
      <p:sp>
        <p:nvSpPr>
          <p:cNvPr id="319" name="Google Shape;319;p21"/>
          <p:cNvSpPr/>
          <p:nvPr/>
        </p:nvSpPr>
        <p:spPr>
          <a:xfrm>
            <a:off x="4937760" y="2066544"/>
            <a:ext cx="1463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Chicken / Poultry</a:t>
            </a:r>
            <a:endParaRPr b="0" i="0" sz="850" u="none" cap="none" strike="noStrike">
              <a:solidFill>
                <a:schemeClr val="dk1"/>
              </a:solidFill>
              <a:latin typeface="Calibri"/>
              <a:ea typeface="Calibri"/>
              <a:cs typeface="Calibri"/>
              <a:sym typeface="Calibri"/>
            </a:endParaRPr>
          </a:p>
        </p:txBody>
      </p:sp>
      <p:sp>
        <p:nvSpPr>
          <p:cNvPr id="320" name="Google Shape;320;p21"/>
          <p:cNvSpPr/>
          <p:nvPr/>
        </p:nvSpPr>
        <p:spPr>
          <a:xfrm>
            <a:off x="6400800" y="2066544"/>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~$1M</a:t>
            </a:r>
            <a:endParaRPr b="0" i="0" sz="850" u="none" cap="none" strike="noStrike">
              <a:solidFill>
                <a:schemeClr val="dk1"/>
              </a:solidFill>
              <a:latin typeface="Calibri"/>
              <a:ea typeface="Calibri"/>
              <a:cs typeface="Calibri"/>
              <a:sym typeface="Calibri"/>
            </a:endParaRPr>
          </a:p>
        </p:txBody>
      </p:sp>
      <p:sp>
        <p:nvSpPr>
          <p:cNvPr id="321" name="Google Shape;321;p21"/>
          <p:cNvSpPr/>
          <p:nvPr/>
        </p:nvSpPr>
        <p:spPr>
          <a:xfrm>
            <a:off x="7040880" y="2066544"/>
            <a:ext cx="1188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Brazil / EU</a:t>
            </a:r>
            <a:endParaRPr b="0" i="0" sz="850" u="none" cap="none" strike="noStrike">
              <a:solidFill>
                <a:schemeClr val="dk1"/>
              </a:solidFill>
              <a:latin typeface="Calibri"/>
              <a:ea typeface="Calibri"/>
              <a:cs typeface="Calibri"/>
              <a:sym typeface="Calibri"/>
            </a:endParaRPr>
          </a:p>
        </p:txBody>
      </p:sp>
      <p:sp>
        <p:nvSpPr>
          <p:cNvPr id="322" name="Google Shape;322;p21"/>
          <p:cNvSpPr/>
          <p:nvPr/>
        </p:nvSpPr>
        <p:spPr>
          <a:xfrm>
            <a:off x="4892040" y="2304288"/>
            <a:ext cx="3657600" cy="256032"/>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1"/>
          <p:cNvSpPr/>
          <p:nvPr/>
        </p:nvSpPr>
        <p:spPr>
          <a:xfrm>
            <a:off x="4937760" y="2322576"/>
            <a:ext cx="1463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1" i="0" lang="en-US" sz="850" u="none" cap="none" strike="noStrike">
                <a:solidFill>
                  <a:srgbClr val="1A2332"/>
                </a:solidFill>
                <a:latin typeface="Arial"/>
                <a:ea typeface="Arial"/>
                <a:cs typeface="Arial"/>
                <a:sym typeface="Arial"/>
              </a:rPr>
              <a:t>Sugar</a:t>
            </a:r>
            <a:endParaRPr b="0" i="0" sz="850" u="none" cap="none" strike="noStrike">
              <a:solidFill>
                <a:schemeClr val="dk1"/>
              </a:solidFill>
              <a:latin typeface="Calibri"/>
              <a:ea typeface="Calibri"/>
              <a:cs typeface="Calibri"/>
              <a:sym typeface="Calibri"/>
            </a:endParaRPr>
          </a:p>
        </p:txBody>
      </p:sp>
      <p:sp>
        <p:nvSpPr>
          <p:cNvPr id="324" name="Google Shape;324;p21"/>
          <p:cNvSpPr/>
          <p:nvPr/>
        </p:nvSpPr>
        <p:spPr>
          <a:xfrm>
            <a:off x="6400800" y="2322576"/>
            <a:ext cx="640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850"/>
              <a:buFont typeface="Arial"/>
              <a:buNone/>
            </a:pPr>
            <a:r>
              <a:rPr b="0" i="0" lang="en-US" sz="850" u="none" cap="none" strike="noStrike">
                <a:solidFill>
                  <a:srgbClr val="1A2332"/>
                </a:solidFill>
                <a:latin typeface="Arial"/>
                <a:ea typeface="Arial"/>
                <a:cs typeface="Arial"/>
                <a:sym typeface="Arial"/>
              </a:rPr>
              <a:t>~$4M</a:t>
            </a:r>
            <a:endParaRPr b="0" i="0" sz="850" u="none" cap="none" strike="noStrike">
              <a:solidFill>
                <a:schemeClr val="dk1"/>
              </a:solidFill>
              <a:latin typeface="Calibri"/>
              <a:ea typeface="Calibri"/>
              <a:cs typeface="Calibri"/>
              <a:sym typeface="Calibri"/>
            </a:endParaRPr>
          </a:p>
        </p:txBody>
      </p:sp>
      <p:sp>
        <p:nvSpPr>
          <p:cNvPr id="325" name="Google Shape;325;p21"/>
          <p:cNvSpPr/>
          <p:nvPr/>
        </p:nvSpPr>
        <p:spPr>
          <a:xfrm>
            <a:off x="7040880" y="2322576"/>
            <a:ext cx="1188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Arial"/>
              <a:buNone/>
            </a:pPr>
            <a:r>
              <a:rPr b="0" i="0" lang="en-US" sz="850" u="none" cap="none" strike="noStrike">
                <a:solidFill>
                  <a:srgbClr val="4A5568"/>
                </a:solidFill>
                <a:latin typeface="Arial"/>
                <a:ea typeface="Arial"/>
                <a:cs typeface="Arial"/>
                <a:sym typeface="Arial"/>
              </a:rPr>
              <a:t>Brazil</a:t>
            </a:r>
            <a:endParaRPr b="0" i="0" sz="850" u="none" cap="none" strike="noStrike">
              <a:solidFill>
                <a:schemeClr val="dk1"/>
              </a:solidFill>
              <a:latin typeface="Calibri"/>
              <a:ea typeface="Calibri"/>
              <a:cs typeface="Calibri"/>
              <a:sym typeface="Calibri"/>
            </a:endParaRPr>
          </a:p>
        </p:txBody>
      </p:sp>
      <p:cxnSp>
        <p:nvCxnSpPr>
          <p:cNvPr id="326" name="Google Shape;326;p21"/>
          <p:cNvCxnSpPr/>
          <p:nvPr/>
        </p:nvCxnSpPr>
        <p:spPr>
          <a:xfrm>
            <a:off x="4937760" y="2633472"/>
            <a:ext cx="3611880" cy="0"/>
          </a:xfrm>
          <a:prstGeom prst="straightConnector1">
            <a:avLst/>
          </a:prstGeom>
          <a:noFill/>
          <a:ln cap="flat" cmpd="sng" w="9525">
            <a:solidFill>
              <a:srgbClr val="DEE2E6"/>
            </a:solidFill>
            <a:prstDash val="solid"/>
            <a:round/>
            <a:headEnd len="sm" w="sm" type="none"/>
            <a:tailEnd len="sm" w="sm" type="none"/>
          </a:ln>
        </p:spPr>
      </p:cxnSp>
      <p:sp>
        <p:nvSpPr>
          <p:cNvPr id="327" name="Google Shape;327;p21"/>
          <p:cNvSpPr/>
          <p:nvPr/>
        </p:nvSpPr>
        <p:spPr>
          <a:xfrm>
            <a:off x="4937760" y="2697480"/>
            <a:ext cx="3566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Ciclo piloto: ~$7M | 0% arancel bajo EPA UE-Ghana</a:t>
            </a:r>
            <a:endParaRPr b="0" i="0" sz="900" u="none" cap="none" strike="noStrike">
              <a:solidFill>
                <a:schemeClr val="dk1"/>
              </a:solidFill>
              <a:latin typeface="Calibri"/>
              <a:ea typeface="Calibri"/>
              <a:cs typeface="Calibri"/>
              <a:sym typeface="Calibri"/>
            </a:endParaRPr>
          </a:p>
        </p:txBody>
      </p:sp>
      <p:sp>
        <p:nvSpPr>
          <p:cNvPr id="328" name="Google Shape;328;p21"/>
          <p:cNvSpPr/>
          <p:nvPr/>
        </p:nvSpPr>
        <p:spPr>
          <a:xfrm>
            <a:off x="4937760" y="2907792"/>
            <a:ext cx="3566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Menor riesgo — puerto establecido (Tema), ruta probada</a:t>
            </a:r>
            <a:endParaRPr b="0" i="0" sz="900" u="none" cap="none" strike="noStrike">
              <a:solidFill>
                <a:schemeClr val="dk1"/>
              </a:solidFill>
              <a:latin typeface="Calibri"/>
              <a:ea typeface="Calibri"/>
              <a:cs typeface="Calibri"/>
              <a:sym typeface="Calibri"/>
            </a:endParaRPr>
          </a:p>
        </p:txBody>
      </p:sp>
      <p:sp>
        <p:nvSpPr>
          <p:cNvPr id="329" name="Google Shape;329;p21"/>
          <p:cNvSpPr/>
          <p:nvPr/>
        </p:nvSpPr>
        <p:spPr>
          <a:xfrm>
            <a:off x="4754880" y="3566160"/>
            <a:ext cx="3931920" cy="86868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1"/>
          <p:cNvSpPr/>
          <p:nvPr/>
        </p:nvSpPr>
        <p:spPr>
          <a:xfrm>
            <a:off x="4937760" y="3639312"/>
            <a:ext cx="3566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100"/>
              <a:buFont typeface="Arial"/>
              <a:buNone/>
            </a:pPr>
            <a:r>
              <a:rPr b="1" i="0" lang="en-US" sz="1100" u="none" cap="none" strike="noStrike">
                <a:solidFill>
                  <a:srgbClr val="CCDDEE"/>
                </a:solidFill>
                <a:latin typeface="Arial"/>
                <a:ea typeface="Arial"/>
                <a:cs typeface="Arial"/>
                <a:sym typeface="Arial"/>
              </a:rPr>
              <a:t>Entrada a la UE</a:t>
            </a:r>
            <a:endParaRPr b="0" i="0" sz="1100" u="none" cap="none" strike="noStrike">
              <a:solidFill>
                <a:srgbClr val="CCDDEE"/>
              </a:solidFill>
              <a:latin typeface="Calibri"/>
              <a:ea typeface="Calibri"/>
              <a:cs typeface="Calibri"/>
              <a:sym typeface="Calibri"/>
            </a:endParaRPr>
          </a:p>
        </p:txBody>
      </p:sp>
      <p:sp>
        <p:nvSpPr>
          <p:cNvPr id="331" name="Google Shape;331;p21"/>
          <p:cNvSpPr/>
          <p:nvPr/>
        </p:nvSpPr>
        <p:spPr>
          <a:xfrm>
            <a:off x="4937760" y="388620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Puerto de Tesalónica — tránsito más corto a África del Este.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Puerto seco de Sofía para consolidación por ferrocarril a Europa Central.</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336" name="Shape 336"/>
        <p:cNvGrpSpPr/>
        <p:nvPr/>
      </p:nvGrpSpPr>
      <p:grpSpPr>
        <a:xfrm>
          <a:off x="0" y="0"/>
          <a:ext cx="0" cy="0"/>
          <a:chOff x="0" y="0"/>
          <a:chExt cx="0" cy="0"/>
        </a:xfrm>
      </p:grpSpPr>
      <p:sp>
        <p:nvSpPr>
          <p:cNvPr id="337" name="Google Shape;337;p22"/>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2"/>
          <p:cNvSpPr/>
          <p:nvPr/>
        </p:nvSpPr>
        <p:spPr>
          <a:xfrm>
            <a:off x="731520" y="22860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Business Model &amp; Revenue</a:t>
            </a:r>
            <a:endParaRPr b="0" i="0" sz="2800" u="none" cap="none" strike="noStrike">
              <a:solidFill>
                <a:schemeClr val="dk1"/>
              </a:solidFill>
              <a:latin typeface="Calibri"/>
              <a:ea typeface="Calibri"/>
              <a:cs typeface="Calibri"/>
              <a:sym typeface="Calibri"/>
            </a:endParaRPr>
          </a:p>
        </p:txBody>
      </p:sp>
      <p:sp>
        <p:nvSpPr>
          <p:cNvPr id="339" name="Google Shape;339;p22"/>
          <p:cNvSpPr/>
          <p:nvPr/>
        </p:nvSpPr>
        <p:spPr>
          <a:xfrm>
            <a:off x="457200" y="777240"/>
            <a:ext cx="2606040" cy="196596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2"/>
          <p:cNvSpPr/>
          <p:nvPr/>
        </p:nvSpPr>
        <p:spPr>
          <a:xfrm>
            <a:off x="594360" y="86868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200"/>
              <a:buFont typeface="Arial"/>
              <a:buNone/>
            </a:pPr>
            <a:r>
              <a:rPr b="1" i="0" lang="en-US" sz="1200" u="none" cap="none" strike="noStrike">
                <a:solidFill>
                  <a:srgbClr val="CCDDEE"/>
                </a:solidFill>
                <a:latin typeface="Arial"/>
                <a:ea typeface="Arial"/>
                <a:cs typeface="Arial"/>
                <a:sym typeface="Arial"/>
              </a:rPr>
              <a:t>Márgenes Comerciales</a:t>
            </a:r>
            <a:endParaRPr b="0" i="0" sz="1200" u="none" cap="none" strike="noStrike">
              <a:solidFill>
                <a:srgbClr val="CCDDEE"/>
              </a:solidFill>
              <a:latin typeface="Calibri"/>
              <a:ea typeface="Calibri"/>
              <a:cs typeface="Calibri"/>
              <a:sym typeface="Calibri"/>
            </a:endParaRPr>
          </a:p>
        </p:txBody>
      </p:sp>
      <p:sp>
        <p:nvSpPr>
          <p:cNvPr id="341" name="Google Shape;341;p22"/>
          <p:cNvSpPr/>
          <p:nvPr/>
        </p:nvSpPr>
        <p:spPr>
          <a:xfrm>
            <a:off x="594360" y="1170432"/>
            <a:ext cx="23317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5–8%+</a:t>
            </a:r>
            <a:endParaRPr b="0" i="0" sz="2600" u="none" cap="none" strike="noStrike">
              <a:solidFill>
                <a:schemeClr val="dk1"/>
              </a:solidFill>
              <a:latin typeface="Calibri"/>
              <a:ea typeface="Calibri"/>
              <a:cs typeface="Calibri"/>
              <a:sym typeface="Calibri"/>
            </a:endParaRPr>
          </a:p>
        </p:txBody>
      </p:sp>
      <p:sp>
        <p:nvSpPr>
          <p:cNvPr id="342" name="Google Shape;342;p22"/>
          <p:cNvSpPr/>
          <p:nvPr/>
        </p:nvSpPr>
        <p:spPr>
          <a:xfrm>
            <a:off x="594360" y="1554480"/>
            <a:ext cx="23317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Estimación conservadora por operación. Compramos commodities en origen y los vendemos en destino. Múltiples ciclos al año multiplican significativamente los retornos anualizados.</a:t>
            </a:r>
            <a:endParaRPr b="0" i="0" sz="950" u="none" cap="none" strike="noStrike">
              <a:solidFill>
                <a:schemeClr val="dk1"/>
              </a:solidFill>
              <a:latin typeface="Calibri"/>
              <a:ea typeface="Calibri"/>
              <a:cs typeface="Calibri"/>
              <a:sym typeface="Calibri"/>
            </a:endParaRPr>
          </a:p>
        </p:txBody>
      </p:sp>
      <p:sp>
        <p:nvSpPr>
          <p:cNvPr id="343" name="Google Shape;343;p22"/>
          <p:cNvSpPr/>
          <p:nvPr/>
        </p:nvSpPr>
        <p:spPr>
          <a:xfrm>
            <a:off x="3291840" y="777240"/>
            <a:ext cx="2606040" cy="1965960"/>
          </a:xfrm>
          <a:prstGeom prst="rect">
            <a:avLst/>
          </a:prstGeom>
          <a:solidFill>
            <a:srgbClr val="1E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2"/>
          <p:cNvSpPr/>
          <p:nvPr/>
        </p:nvSpPr>
        <p:spPr>
          <a:xfrm>
            <a:off x="3429000" y="86868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200"/>
              <a:buFont typeface="Arial"/>
              <a:buNone/>
            </a:pPr>
            <a:r>
              <a:rPr b="1" i="0" lang="en-US" sz="1200" u="none" cap="none" strike="noStrike">
                <a:solidFill>
                  <a:srgbClr val="CCDDEE"/>
                </a:solidFill>
                <a:latin typeface="Arial"/>
                <a:ea typeface="Arial"/>
                <a:cs typeface="Arial"/>
                <a:sym typeface="Arial"/>
              </a:rPr>
              <a:t>Comisiones por Transacción</a:t>
            </a:r>
            <a:endParaRPr b="0" i="0" sz="1200" u="none" cap="none" strike="noStrike">
              <a:solidFill>
                <a:srgbClr val="CCDDEE"/>
              </a:solidFill>
              <a:latin typeface="Calibri"/>
              <a:ea typeface="Calibri"/>
              <a:cs typeface="Calibri"/>
              <a:sym typeface="Calibri"/>
            </a:endParaRPr>
          </a:p>
        </p:txBody>
      </p:sp>
      <p:sp>
        <p:nvSpPr>
          <p:cNvPr id="345" name="Google Shape;345;p22"/>
          <p:cNvSpPr/>
          <p:nvPr/>
        </p:nvSpPr>
        <p:spPr>
          <a:xfrm>
            <a:off x="3429000" y="1170432"/>
            <a:ext cx="23317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1.5–2.5%</a:t>
            </a:r>
            <a:endParaRPr b="0" i="0" sz="2600" u="none" cap="none" strike="noStrike">
              <a:solidFill>
                <a:schemeClr val="dk1"/>
              </a:solidFill>
              <a:latin typeface="Calibri"/>
              <a:ea typeface="Calibri"/>
              <a:cs typeface="Calibri"/>
              <a:sym typeface="Calibri"/>
            </a:endParaRPr>
          </a:p>
        </p:txBody>
      </p:sp>
      <p:sp>
        <p:nvSpPr>
          <p:cNvPr id="346" name="Google Shape;346;p22"/>
          <p:cNvSpPr/>
          <p:nvPr/>
        </p:nvSpPr>
        <p:spPr>
          <a:xfrm>
            <a:off x="3429000" y="1554480"/>
            <a:ext cx="23317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Tarifa de plataforma por operación. Cubre verificación KYC, integridad de datos, procesamiento de documentos e infraestructura de liquidación.</a:t>
            </a:r>
            <a:endParaRPr b="0" i="0" sz="950" u="none" cap="none" strike="noStrike">
              <a:solidFill>
                <a:schemeClr val="dk1"/>
              </a:solidFill>
              <a:latin typeface="Calibri"/>
              <a:ea typeface="Calibri"/>
              <a:cs typeface="Calibri"/>
              <a:sym typeface="Calibri"/>
            </a:endParaRPr>
          </a:p>
        </p:txBody>
      </p:sp>
      <p:sp>
        <p:nvSpPr>
          <p:cNvPr id="347" name="Google Shape;347;p22"/>
          <p:cNvSpPr/>
          <p:nvPr/>
        </p:nvSpPr>
        <p:spPr>
          <a:xfrm>
            <a:off x="6126480" y="777240"/>
            <a:ext cx="2606040" cy="196596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2"/>
          <p:cNvSpPr/>
          <p:nvPr/>
        </p:nvSpPr>
        <p:spPr>
          <a:xfrm>
            <a:off x="6263640" y="86868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200"/>
              <a:buFont typeface="Arial"/>
              <a:buNone/>
            </a:pPr>
            <a:r>
              <a:rPr b="1" i="0" lang="en-US" sz="1200" u="none" cap="none" strike="noStrike">
                <a:solidFill>
                  <a:srgbClr val="CCDDEE"/>
                </a:solidFill>
                <a:latin typeface="Arial"/>
                <a:ea typeface="Arial"/>
                <a:cs typeface="Arial"/>
                <a:sym typeface="Arial"/>
              </a:rPr>
              <a:t>Participación de Capital</a:t>
            </a:r>
            <a:endParaRPr b="0" i="0" sz="1200" u="none" cap="none" strike="noStrike">
              <a:solidFill>
                <a:srgbClr val="CCDDEE"/>
              </a:solidFill>
              <a:latin typeface="Calibri"/>
              <a:ea typeface="Calibri"/>
              <a:cs typeface="Calibri"/>
              <a:sym typeface="Calibri"/>
            </a:endParaRPr>
          </a:p>
        </p:txBody>
      </p:sp>
      <p:sp>
        <p:nvSpPr>
          <p:cNvPr id="349" name="Google Shape;349;p22"/>
          <p:cNvSpPr/>
          <p:nvPr/>
        </p:nvSpPr>
        <p:spPr>
          <a:xfrm>
            <a:off x="6263640" y="1170432"/>
            <a:ext cx="23317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3–4%/cycle</a:t>
            </a:r>
            <a:endParaRPr b="0" i="0" sz="2600" u="none" cap="none" strike="noStrike">
              <a:solidFill>
                <a:schemeClr val="dk1"/>
              </a:solidFill>
              <a:latin typeface="Calibri"/>
              <a:ea typeface="Calibri"/>
              <a:cs typeface="Calibri"/>
              <a:sym typeface="Calibri"/>
            </a:endParaRPr>
          </a:p>
        </p:txBody>
      </p:sp>
      <p:sp>
        <p:nvSpPr>
          <p:cNvPr id="350" name="Google Shape;350;p22"/>
          <p:cNvSpPr/>
          <p:nvPr/>
        </p:nvSpPr>
        <p:spPr>
          <a:xfrm>
            <a:off x="6263640" y="1554480"/>
            <a:ext cx="23317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950"/>
              <a:buFont typeface="Arial"/>
              <a:buNone/>
            </a:pPr>
            <a:r>
              <a:rPr b="0" i="0" lang="en-US" sz="950" u="none" cap="none" strike="noStrike">
                <a:solidFill>
                  <a:srgbClr val="CCDDEE"/>
                </a:solidFill>
                <a:latin typeface="Arial"/>
                <a:ea typeface="Arial"/>
                <a:cs typeface="Arial"/>
                <a:sym typeface="Arial"/>
              </a:rPr>
              <a:t>Los inversores obtienen retornos por ciclo de operación (45-60 días). Múltiples ciclos al año. Respaldado por commodities reales, no especulación.</a:t>
            </a:r>
            <a:endParaRPr b="0" i="0" sz="950" u="none" cap="none" strike="noStrike">
              <a:solidFill>
                <a:schemeClr val="dk1"/>
              </a:solidFill>
              <a:latin typeface="Calibri"/>
              <a:ea typeface="Calibri"/>
              <a:cs typeface="Calibri"/>
              <a:sym typeface="Calibri"/>
            </a:endParaRPr>
          </a:p>
        </p:txBody>
      </p:sp>
      <p:sp>
        <p:nvSpPr>
          <p:cNvPr id="351" name="Google Shape;351;p22"/>
          <p:cNvSpPr/>
          <p:nvPr/>
        </p:nvSpPr>
        <p:spPr>
          <a:xfrm>
            <a:off x="457200" y="2926080"/>
            <a:ext cx="8229600" cy="640080"/>
          </a:xfrm>
          <a:prstGeom prst="rect">
            <a:avLst/>
          </a:prstGeom>
          <a:solidFill>
            <a:srgbClr val="F0F7F5"/>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2"/>
          <p:cNvSpPr/>
          <p:nvPr/>
        </p:nvSpPr>
        <p:spPr>
          <a:xfrm>
            <a:off x="640080" y="292608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100"/>
              <a:buFont typeface="Arial"/>
              <a:buNone/>
            </a:pPr>
            <a:r>
              <a:rPr b="1" i="0" lang="en-US" sz="1100" u="none" cap="none" strike="noStrike">
                <a:solidFill>
                  <a:srgbClr val="0F2B46"/>
                </a:solidFill>
                <a:latin typeface="Arial"/>
                <a:ea typeface="Arial"/>
                <a:cs typeface="Arial"/>
                <a:sym typeface="Arial"/>
              </a:rPr>
              <a:t>Retornos Anualizados: </a:t>
            </a:r>
            <a:r>
              <a:rPr b="0" i="0" lang="en-US" sz="1100" u="none" cap="none" strike="noStrike">
                <a:solidFill>
                  <a:srgbClr val="4A5568"/>
                </a:solidFill>
                <a:latin typeface="Arial"/>
                <a:ea typeface="Arial"/>
                <a:cs typeface="Arial"/>
                <a:sym typeface="Arial"/>
              </a:rPr>
              <a:t>5–8% margin per trade × 6–8 cycles/year = </a:t>
            </a:r>
            <a:r>
              <a:rPr b="1" i="0" lang="en-US" sz="1100" u="none" cap="none" strike="noStrike">
                <a:solidFill>
                  <a:srgbClr val="0C5392"/>
                </a:solidFill>
                <a:latin typeface="Arial"/>
                <a:ea typeface="Arial"/>
                <a:cs typeface="Arial"/>
                <a:sym typeface="Arial"/>
              </a:rPr>
              <a:t>30–60%+ annualized returns on deployed capital. </a:t>
            </a:r>
            <a:r>
              <a:rPr b="0" i="0" lang="en-US" sz="1100" u="none" cap="none" strike="noStrike">
                <a:solidFill>
                  <a:srgbClr val="4A5568"/>
                </a:solidFill>
                <a:latin typeface="Arial"/>
                <a:ea typeface="Arial"/>
                <a:cs typeface="Arial"/>
                <a:sym typeface="Arial"/>
              </a:rPr>
              <a:t>Los datos del programa piloto de Sudán proyectan 15–25% por operación en mercados de alta demanda.</a:t>
            </a:r>
            <a:endParaRPr b="0" i="0" sz="1100" u="none" cap="none" strike="noStrike">
              <a:solidFill>
                <a:schemeClr val="dk1"/>
              </a:solidFill>
              <a:latin typeface="Calibri"/>
              <a:ea typeface="Calibri"/>
              <a:cs typeface="Calibri"/>
              <a:sym typeface="Calibri"/>
            </a:endParaRPr>
          </a:p>
        </p:txBody>
      </p:sp>
      <p:sp>
        <p:nvSpPr>
          <p:cNvPr id="353" name="Google Shape;353;p22"/>
          <p:cNvSpPr/>
          <p:nvPr/>
        </p:nvSpPr>
        <p:spPr>
          <a:xfrm>
            <a:off x="457200" y="3703320"/>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Proyecciones de Ingresos del Programa Piloto (Solo Corredores Iniciales)</a:t>
            </a:r>
            <a:endParaRPr b="0" i="0" sz="1200" u="none" cap="none" strike="noStrike">
              <a:solidFill>
                <a:schemeClr val="dk1"/>
              </a:solidFill>
              <a:latin typeface="Calibri"/>
              <a:ea typeface="Calibri"/>
              <a:cs typeface="Calibri"/>
              <a:sym typeface="Calibri"/>
            </a:endParaRPr>
          </a:p>
        </p:txBody>
      </p:sp>
      <p:sp>
        <p:nvSpPr>
          <p:cNvPr id="354" name="Google Shape;354;p22"/>
          <p:cNvSpPr/>
          <p:nvPr/>
        </p:nvSpPr>
        <p:spPr>
          <a:xfrm>
            <a:off x="457200" y="3977640"/>
            <a:ext cx="8229600" cy="256032"/>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
          <p:cNvSpPr/>
          <p:nvPr/>
        </p:nvSpPr>
        <p:spPr>
          <a:xfrm>
            <a:off x="502920" y="397764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Period</a:t>
            </a:r>
            <a:endParaRPr b="0" i="0" sz="900" u="none" cap="none" strike="noStrike">
              <a:solidFill>
                <a:schemeClr val="dk1"/>
              </a:solidFill>
              <a:latin typeface="Calibri"/>
              <a:ea typeface="Calibri"/>
              <a:cs typeface="Calibri"/>
              <a:sym typeface="Calibri"/>
            </a:endParaRPr>
          </a:p>
        </p:txBody>
      </p:sp>
      <p:sp>
        <p:nvSpPr>
          <p:cNvPr id="356" name="Google Shape;356;p22"/>
          <p:cNvSpPr/>
          <p:nvPr/>
        </p:nvSpPr>
        <p:spPr>
          <a:xfrm>
            <a:off x="1874520" y="397764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Volumen Comercial</a:t>
            </a:r>
            <a:endParaRPr b="0" i="0" sz="900" u="none" cap="none" strike="noStrike">
              <a:solidFill>
                <a:schemeClr val="dk1"/>
              </a:solidFill>
              <a:latin typeface="Calibri"/>
              <a:ea typeface="Calibri"/>
              <a:cs typeface="Calibri"/>
              <a:sym typeface="Calibri"/>
            </a:endParaRPr>
          </a:p>
        </p:txBody>
      </p:sp>
      <p:sp>
        <p:nvSpPr>
          <p:cNvPr id="357" name="Google Shape;357;p22"/>
          <p:cNvSpPr/>
          <p:nvPr/>
        </p:nvSpPr>
        <p:spPr>
          <a:xfrm>
            <a:off x="3246120" y="397764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Trades</a:t>
            </a:r>
            <a:endParaRPr b="0" i="0" sz="900" u="none" cap="none" strike="noStrike">
              <a:solidFill>
                <a:schemeClr val="dk1"/>
              </a:solidFill>
              <a:latin typeface="Calibri"/>
              <a:ea typeface="Calibri"/>
              <a:cs typeface="Calibri"/>
              <a:sym typeface="Calibri"/>
            </a:endParaRPr>
          </a:p>
        </p:txBody>
      </p:sp>
      <p:sp>
        <p:nvSpPr>
          <p:cNvPr id="358" name="Google Shape;358;p22"/>
          <p:cNvSpPr/>
          <p:nvPr/>
        </p:nvSpPr>
        <p:spPr>
          <a:xfrm>
            <a:off x="3977640" y="3977640"/>
            <a:ext cx="1188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Ingreso Est.</a:t>
            </a:r>
            <a:endParaRPr b="0" i="0" sz="900" u="none" cap="none" strike="noStrike">
              <a:solidFill>
                <a:schemeClr val="dk1"/>
              </a:solidFill>
              <a:latin typeface="Calibri"/>
              <a:ea typeface="Calibri"/>
              <a:cs typeface="Calibri"/>
              <a:sym typeface="Calibri"/>
            </a:endParaRPr>
          </a:p>
        </p:txBody>
      </p:sp>
      <p:sp>
        <p:nvSpPr>
          <p:cNvPr id="359" name="Google Shape;359;p22"/>
          <p:cNvSpPr/>
          <p:nvPr/>
        </p:nvSpPr>
        <p:spPr>
          <a:xfrm>
            <a:off x="5166360" y="397764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Hito</a:t>
            </a:r>
            <a:endParaRPr b="0" i="0" sz="900" u="none" cap="none" strike="noStrike">
              <a:solidFill>
                <a:schemeClr val="dk1"/>
              </a:solidFill>
              <a:latin typeface="Calibri"/>
              <a:ea typeface="Calibri"/>
              <a:cs typeface="Calibri"/>
              <a:sym typeface="Calibri"/>
            </a:endParaRPr>
          </a:p>
        </p:txBody>
      </p:sp>
      <p:sp>
        <p:nvSpPr>
          <p:cNvPr id="360" name="Google Shape;360;p22"/>
          <p:cNvSpPr/>
          <p:nvPr/>
        </p:nvSpPr>
        <p:spPr>
          <a:xfrm>
            <a:off x="457200" y="4233672"/>
            <a:ext cx="8229600" cy="274320"/>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
          <p:cNvSpPr/>
          <p:nvPr/>
        </p:nvSpPr>
        <p:spPr>
          <a:xfrm>
            <a:off x="502920" y="4233672"/>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900"/>
              <a:buFont typeface="Arial"/>
              <a:buNone/>
            </a:pPr>
            <a:r>
              <a:rPr b="1" i="0" lang="en-US" sz="900" u="none" cap="none" strike="noStrike">
                <a:solidFill>
                  <a:srgbClr val="0F2B46"/>
                </a:solidFill>
                <a:latin typeface="Arial"/>
                <a:ea typeface="Arial"/>
                <a:cs typeface="Arial"/>
                <a:sym typeface="Arial"/>
              </a:rPr>
              <a:t>Año 1 — Piloto</a:t>
            </a:r>
            <a:endParaRPr b="0" i="0" sz="900" u="none" cap="none" strike="noStrike">
              <a:solidFill>
                <a:schemeClr val="dk1"/>
              </a:solidFill>
              <a:latin typeface="Calibri"/>
              <a:ea typeface="Calibri"/>
              <a:cs typeface="Calibri"/>
              <a:sym typeface="Calibri"/>
            </a:endParaRPr>
          </a:p>
        </p:txBody>
      </p:sp>
      <p:sp>
        <p:nvSpPr>
          <p:cNvPr id="362" name="Google Shape;362;p22"/>
          <p:cNvSpPr/>
          <p:nvPr/>
        </p:nvSpPr>
        <p:spPr>
          <a:xfrm>
            <a:off x="1874520" y="4233672"/>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00"/>
              <a:buFont typeface="Arial"/>
              <a:buNone/>
            </a:pPr>
            <a:r>
              <a:rPr b="0" i="0" lang="en-US" sz="900" u="none" cap="none" strike="noStrike">
                <a:solidFill>
                  <a:srgbClr val="1A2332"/>
                </a:solidFill>
                <a:latin typeface="Arial"/>
                <a:ea typeface="Arial"/>
                <a:cs typeface="Arial"/>
                <a:sym typeface="Arial"/>
              </a:rPr>
              <a:t>$40M</a:t>
            </a:r>
            <a:endParaRPr b="0" i="0" sz="900" u="none" cap="none" strike="noStrike">
              <a:solidFill>
                <a:schemeClr val="dk1"/>
              </a:solidFill>
              <a:latin typeface="Calibri"/>
              <a:ea typeface="Calibri"/>
              <a:cs typeface="Calibri"/>
              <a:sym typeface="Calibri"/>
            </a:endParaRPr>
          </a:p>
        </p:txBody>
      </p:sp>
      <p:sp>
        <p:nvSpPr>
          <p:cNvPr id="363" name="Google Shape;363;p22"/>
          <p:cNvSpPr/>
          <p:nvPr/>
        </p:nvSpPr>
        <p:spPr>
          <a:xfrm>
            <a:off x="3246120" y="4233672"/>
            <a:ext cx="731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00"/>
              <a:buFont typeface="Arial"/>
              <a:buNone/>
            </a:pPr>
            <a:r>
              <a:rPr b="0" i="0" lang="en-US" sz="900" u="none" cap="none" strike="noStrike">
                <a:solidFill>
                  <a:srgbClr val="1A2332"/>
                </a:solidFill>
                <a:latin typeface="Arial"/>
                <a:ea typeface="Arial"/>
                <a:cs typeface="Arial"/>
                <a:sym typeface="Arial"/>
              </a:rPr>
              <a:t>4–6</a:t>
            </a:r>
            <a:endParaRPr b="0" i="0" sz="900" u="none" cap="none" strike="noStrike">
              <a:solidFill>
                <a:schemeClr val="dk1"/>
              </a:solidFill>
              <a:latin typeface="Calibri"/>
              <a:ea typeface="Calibri"/>
              <a:cs typeface="Calibri"/>
              <a:sym typeface="Calibri"/>
            </a:endParaRPr>
          </a:p>
        </p:txBody>
      </p:sp>
      <p:sp>
        <p:nvSpPr>
          <p:cNvPr id="364" name="Google Shape;364;p22"/>
          <p:cNvSpPr/>
          <p:nvPr/>
        </p:nvSpPr>
        <p:spPr>
          <a:xfrm>
            <a:off x="3977640" y="4233672"/>
            <a:ext cx="1188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900"/>
              <a:buFont typeface="Arial"/>
              <a:buNone/>
            </a:pPr>
            <a:r>
              <a:rPr b="1" i="0" lang="en-US" sz="900" u="none" cap="none" strike="noStrike">
                <a:solidFill>
                  <a:srgbClr val="0C5392"/>
                </a:solidFill>
                <a:latin typeface="Arial"/>
                <a:ea typeface="Arial"/>
                <a:cs typeface="Arial"/>
                <a:sym typeface="Arial"/>
              </a:rPr>
              <a:t>$1–1.6M</a:t>
            </a:r>
            <a:endParaRPr b="0" i="0" sz="900" u="none" cap="none" strike="noStrike">
              <a:solidFill>
                <a:srgbClr val="0C5392"/>
              </a:solidFill>
              <a:latin typeface="Calibri"/>
              <a:ea typeface="Calibri"/>
              <a:cs typeface="Calibri"/>
              <a:sym typeface="Calibri"/>
            </a:endParaRPr>
          </a:p>
        </p:txBody>
      </p:sp>
      <p:sp>
        <p:nvSpPr>
          <p:cNvPr id="365" name="Google Shape;365;p22"/>
          <p:cNvSpPr/>
          <p:nvPr/>
        </p:nvSpPr>
        <p:spPr>
          <a:xfrm>
            <a:off x="5166360" y="4233672"/>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Primeras operaciones, probar márgenes, construir historial</a:t>
            </a:r>
            <a:endParaRPr b="0" i="0" sz="900" u="none" cap="none" strike="noStrike">
              <a:solidFill>
                <a:schemeClr val="dk1"/>
              </a:solidFill>
              <a:latin typeface="Calibri"/>
              <a:ea typeface="Calibri"/>
              <a:cs typeface="Calibri"/>
              <a:sym typeface="Calibri"/>
            </a:endParaRPr>
          </a:p>
        </p:txBody>
      </p:sp>
      <p:sp>
        <p:nvSpPr>
          <p:cNvPr id="366" name="Google Shape;366;p22"/>
          <p:cNvSpPr/>
          <p:nvPr/>
        </p:nvSpPr>
        <p:spPr>
          <a:xfrm>
            <a:off x="502920" y="4507992"/>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900"/>
              <a:buFont typeface="Arial"/>
              <a:buNone/>
            </a:pPr>
            <a:r>
              <a:rPr b="1" i="0" lang="en-US" sz="900" u="none" cap="none" strike="noStrike">
                <a:solidFill>
                  <a:srgbClr val="0F2B46"/>
                </a:solidFill>
                <a:latin typeface="Arial"/>
                <a:ea typeface="Arial"/>
                <a:cs typeface="Arial"/>
                <a:sym typeface="Arial"/>
              </a:rPr>
              <a:t>Año 2 — Escala</a:t>
            </a:r>
            <a:endParaRPr b="0" i="0" sz="900" u="none" cap="none" strike="noStrike">
              <a:solidFill>
                <a:schemeClr val="dk1"/>
              </a:solidFill>
              <a:latin typeface="Calibri"/>
              <a:ea typeface="Calibri"/>
              <a:cs typeface="Calibri"/>
              <a:sym typeface="Calibri"/>
            </a:endParaRPr>
          </a:p>
        </p:txBody>
      </p:sp>
      <p:sp>
        <p:nvSpPr>
          <p:cNvPr id="367" name="Google Shape;367;p22"/>
          <p:cNvSpPr/>
          <p:nvPr/>
        </p:nvSpPr>
        <p:spPr>
          <a:xfrm>
            <a:off x="1874520" y="4507992"/>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00"/>
              <a:buFont typeface="Arial"/>
              <a:buNone/>
            </a:pPr>
            <a:r>
              <a:rPr b="0" i="0" lang="en-US" sz="900" u="none" cap="none" strike="noStrike">
                <a:solidFill>
                  <a:srgbClr val="1A2332"/>
                </a:solidFill>
                <a:latin typeface="Arial"/>
                <a:ea typeface="Arial"/>
                <a:cs typeface="Arial"/>
                <a:sym typeface="Arial"/>
              </a:rPr>
              <a:t>$120M</a:t>
            </a:r>
            <a:endParaRPr b="0" i="0" sz="900" u="none" cap="none" strike="noStrike">
              <a:solidFill>
                <a:schemeClr val="dk1"/>
              </a:solidFill>
              <a:latin typeface="Calibri"/>
              <a:ea typeface="Calibri"/>
              <a:cs typeface="Calibri"/>
              <a:sym typeface="Calibri"/>
            </a:endParaRPr>
          </a:p>
        </p:txBody>
      </p:sp>
      <p:sp>
        <p:nvSpPr>
          <p:cNvPr id="368" name="Google Shape;368;p22"/>
          <p:cNvSpPr/>
          <p:nvPr/>
        </p:nvSpPr>
        <p:spPr>
          <a:xfrm>
            <a:off x="3246120" y="4507992"/>
            <a:ext cx="731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00"/>
              <a:buFont typeface="Arial"/>
              <a:buNone/>
            </a:pPr>
            <a:r>
              <a:rPr b="0" i="0" lang="en-US" sz="900" u="none" cap="none" strike="noStrike">
                <a:solidFill>
                  <a:srgbClr val="1A2332"/>
                </a:solidFill>
                <a:latin typeface="Arial"/>
                <a:ea typeface="Arial"/>
                <a:cs typeface="Arial"/>
                <a:sym typeface="Arial"/>
              </a:rPr>
              <a:t>12–15</a:t>
            </a:r>
            <a:endParaRPr b="0" i="0" sz="900" u="none" cap="none" strike="noStrike">
              <a:solidFill>
                <a:schemeClr val="dk1"/>
              </a:solidFill>
              <a:latin typeface="Calibri"/>
              <a:ea typeface="Calibri"/>
              <a:cs typeface="Calibri"/>
              <a:sym typeface="Calibri"/>
            </a:endParaRPr>
          </a:p>
        </p:txBody>
      </p:sp>
      <p:sp>
        <p:nvSpPr>
          <p:cNvPr id="369" name="Google Shape;369;p22"/>
          <p:cNvSpPr/>
          <p:nvPr/>
        </p:nvSpPr>
        <p:spPr>
          <a:xfrm>
            <a:off x="3977640" y="4507992"/>
            <a:ext cx="1188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900"/>
              <a:buFont typeface="Arial"/>
              <a:buNone/>
            </a:pPr>
            <a:r>
              <a:rPr b="1" i="0" lang="en-US" sz="900" u="none" cap="none" strike="noStrike">
                <a:solidFill>
                  <a:srgbClr val="0C5392"/>
                </a:solidFill>
                <a:latin typeface="Arial"/>
                <a:ea typeface="Arial"/>
                <a:cs typeface="Arial"/>
                <a:sym typeface="Arial"/>
              </a:rPr>
              <a:t>$3.3–5.5M</a:t>
            </a:r>
            <a:endParaRPr b="0" i="0" sz="900" u="none" cap="none" strike="noStrike">
              <a:solidFill>
                <a:srgbClr val="0C5392"/>
              </a:solidFill>
              <a:latin typeface="Calibri"/>
              <a:ea typeface="Calibri"/>
              <a:cs typeface="Calibri"/>
              <a:sym typeface="Calibri"/>
            </a:endParaRPr>
          </a:p>
        </p:txBody>
      </p:sp>
      <p:sp>
        <p:nvSpPr>
          <p:cNvPr id="370" name="Google Shape;370;p22"/>
          <p:cNvSpPr/>
          <p:nvPr/>
        </p:nvSpPr>
        <p:spPr>
          <a:xfrm>
            <a:off x="5166360" y="4507992"/>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Múltiples corredores, 5–7 países, expandir pipeline</a:t>
            </a:r>
            <a:endParaRPr b="0" i="0" sz="900" u="none" cap="none" strike="noStrike">
              <a:solidFill>
                <a:schemeClr val="dk1"/>
              </a:solidFill>
              <a:latin typeface="Calibri"/>
              <a:ea typeface="Calibri"/>
              <a:cs typeface="Calibri"/>
              <a:sym typeface="Calibri"/>
            </a:endParaRPr>
          </a:p>
        </p:txBody>
      </p:sp>
      <p:sp>
        <p:nvSpPr>
          <p:cNvPr id="371" name="Google Shape;371;p22"/>
          <p:cNvSpPr/>
          <p:nvPr/>
        </p:nvSpPr>
        <p:spPr>
          <a:xfrm>
            <a:off x="457200" y="4782312"/>
            <a:ext cx="8229600" cy="274320"/>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p:nvPr/>
        </p:nvSpPr>
        <p:spPr>
          <a:xfrm>
            <a:off x="502920" y="4782312"/>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900"/>
              <a:buFont typeface="Arial"/>
              <a:buNone/>
            </a:pPr>
            <a:r>
              <a:rPr b="1" i="0" lang="en-US" sz="900" u="none" cap="none" strike="noStrike">
                <a:solidFill>
                  <a:srgbClr val="0F2B46"/>
                </a:solidFill>
                <a:latin typeface="Arial"/>
                <a:ea typeface="Arial"/>
                <a:cs typeface="Arial"/>
                <a:sym typeface="Arial"/>
              </a:rPr>
              <a:t>Año 3 — Expansión</a:t>
            </a:r>
            <a:endParaRPr b="0" i="0" sz="900" u="none" cap="none" strike="noStrike">
              <a:solidFill>
                <a:schemeClr val="dk1"/>
              </a:solidFill>
              <a:latin typeface="Calibri"/>
              <a:ea typeface="Calibri"/>
              <a:cs typeface="Calibri"/>
              <a:sym typeface="Calibri"/>
            </a:endParaRPr>
          </a:p>
        </p:txBody>
      </p:sp>
      <p:sp>
        <p:nvSpPr>
          <p:cNvPr id="373" name="Google Shape;373;p22"/>
          <p:cNvSpPr/>
          <p:nvPr/>
        </p:nvSpPr>
        <p:spPr>
          <a:xfrm>
            <a:off x="1874520" y="4782312"/>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00"/>
              <a:buFont typeface="Arial"/>
              <a:buNone/>
            </a:pPr>
            <a:r>
              <a:rPr b="0" i="0" lang="en-US" sz="900" u="none" cap="none" strike="noStrike">
                <a:solidFill>
                  <a:srgbClr val="1A2332"/>
                </a:solidFill>
                <a:latin typeface="Arial"/>
                <a:ea typeface="Arial"/>
                <a:cs typeface="Arial"/>
                <a:sym typeface="Arial"/>
              </a:rPr>
              <a:t>$175–200M</a:t>
            </a:r>
            <a:endParaRPr b="0" i="0" sz="900" u="none" cap="none" strike="noStrike">
              <a:solidFill>
                <a:schemeClr val="dk1"/>
              </a:solidFill>
              <a:latin typeface="Calibri"/>
              <a:ea typeface="Calibri"/>
              <a:cs typeface="Calibri"/>
              <a:sym typeface="Calibri"/>
            </a:endParaRPr>
          </a:p>
        </p:txBody>
      </p:sp>
      <p:sp>
        <p:nvSpPr>
          <p:cNvPr id="374" name="Google Shape;374;p22"/>
          <p:cNvSpPr/>
          <p:nvPr/>
        </p:nvSpPr>
        <p:spPr>
          <a:xfrm>
            <a:off x="3246120" y="4782312"/>
            <a:ext cx="731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00"/>
              <a:buFont typeface="Arial"/>
              <a:buNone/>
            </a:pPr>
            <a:r>
              <a:rPr b="0" i="0" lang="en-US" sz="900" u="none" cap="none" strike="noStrike">
                <a:solidFill>
                  <a:srgbClr val="1A2332"/>
                </a:solidFill>
                <a:latin typeface="Arial"/>
                <a:ea typeface="Arial"/>
                <a:cs typeface="Arial"/>
                <a:sym typeface="Arial"/>
              </a:rPr>
              <a:t>18–25</a:t>
            </a:r>
            <a:endParaRPr b="0" i="0" sz="900" u="none" cap="none" strike="noStrike">
              <a:solidFill>
                <a:schemeClr val="dk1"/>
              </a:solidFill>
              <a:latin typeface="Calibri"/>
              <a:ea typeface="Calibri"/>
              <a:cs typeface="Calibri"/>
              <a:sym typeface="Calibri"/>
            </a:endParaRPr>
          </a:p>
        </p:txBody>
      </p:sp>
      <p:sp>
        <p:nvSpPr>
          <p:cNvPr id="375" name="Google Shape;375;p22"/>
          <p:cNvSpPr/>
          <p:nvPr/>
        </p:nvSpPr>
        <p:spPr>
          <a:xfrm>
            <a:off x="3977640" y="4782312"/>
            <a:ext cx="1188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900"/>
              <a:buFont typeface="Arial"/>
              <a:buNone/>
            </a:pPr>
            <a:r>
              <a:rPr b="1" i="0" lang="en-US" sz="900" u="none" cap="none" strike="noStrike">
                <a:solidFill>
                  <a:srgbClr val="0C5392"/>
                </a:solidFill>
                <a:latin typeface="Arial"/>
                <a:ea typeface="Arial"/>
                <a:cs typeface="Arial"/>
                <a:sym typeface="Arial"/>
              </a:rPr>
              <a:t>$8.8–12.3M</a:t>
            </a:r>
            <a:endParaRPr b="0" i="0" sz="900" u="none" cap="none" strike="noStrike">
              <a:solidFill>
                <a:srgbClr val="0C5392"/>
              </a:solidFill>
              <a:latin typeface="Calibri"/>
              <a:ea typeface="Calibri"/>
              <a:cs typeface="Calibri"/>
              <a:sym typeface="Calibri"/>
            </a:endParaRPr>
          </a:p>
        </p:txBody>
      </p:sp>
      <p:sp>
        <p:nvSpPr>
          <p:cNvPr id="376" name="Google Shape;376;p22"/>
          <p:cNvSpPr/>
          <p:nvPr/>
        </p:nvSpPr>
        <p:spPr>
          <a:xfrm>
            <a:off x="5166360" y="4782312"/>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Arial"/>
              <a:buNone/>
            </a:pPr>
            <a:r>
              <a:rPr b="0" i="0" lang="en-US" sz="900" u="none" cap="none" strike="noStrike">
                <a:solidFill>
                  <a:srgbClr val="4A5568"/>
                </a:solidFill>
                <a:latin typeface="Arial"/>
                <a:ea typeface="Arial"/>
                <a:cs typeface="Arial"/>
                <a:sym typeface="Arial"/>
              </a:rPr>
              <a:t>Socios institucionales, nuevas regiones, escala completa</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381" name="Shape 381"/>
        <p:cNvGrpSpPr/>
        <p:nvPr/>
      </p:nvGrpSpPr>
      <p:grpSpPr>
        <a:xfrm>
          <a:off x="0" y="0"/>
          <a:ext cx="0" cy="0"/>
          <a:chOff x="0" y="0"/>
          <a:chExt cx="0" cy="0"/>
        </a:xfrm>
      </p:grpSpPr>
      <p:sp>
        <p:nvSpPr>
          <p:cNvPr id="382" name="Google Shape;382;p23"/>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3"/>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Oportunidad de Mercado</a:t>
            </a:r>
            <a:endParaRPr b="0" i="0" sz="2800" u="none" cap="none" strike="noStrike">
              <a:solidFill>
                <a:schemeClr val="dk1"/>
              </a:solidFill>
              <a:latin typeface="Calibri"/>
              <a:ea typeface="Calibri"/>
              <a:cs typeface="Calibri"/>
              <a:sym typeface="Calibri"/>
            </a:endParaRPr>
          </a:p>
        </p:txBody>
      </p:sp>
      <p:sp>
        <p:nvSpPr>
          <p:cNvPr id="384" name="Google Shape;384;p23"/>
          <p:cNvSpPr/>
          <p:nvPr/>
        </p:nvSpPr>
        <p:spPr>
          <a:xfrm>
            <a:off x="457200" y="822960"/>
            <a:ext cx="2606040" cy="164592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3"/>
          <p:cNvSpPr/>
          <p:nvPr/>
        </p:nvSpPr>
        <p:spPr>
          <a:xfrm>
            <a:off x="594360" y="91440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Georgia"/>
              <a:buNone/>
            </a:pPr>
            <a:r>
              <a:rPr b="1" i="0" lang="en-US" sz="3600" u="none" cap="none" strike="noStrike">
                <a:solidFill>
                  <a:srgbClr val="FFFFFF"/>
                </a:solidFill>
                <a:latin typeface="Georgia"/>
                <a:ea typeface="Georgia"/>
                <a:cs typeface="Georgia"/>
                <a:sym typeface="Georgia"/>
              </a:rPr>
              <a:t>$2.6T</a:t>
            </a:r>
            <a:endParaRPr b="0" i="0" sz="3600" u="none" cap="none" strike="noStrike">
              <a:solidFill>
                <a:schemeClr val="dk1"/>
              </a:solidFill>
              <a:latin typeface="Calibri"/>
              <a:ea typeface="Calibri"/>
              <a:cs typeface="Calibri"/>
              <a:sym typeface="Calibri"/>
            </a:endParaRPr>
          </a:p>
        </p:txBody>
      </p:sp>
      <p:sp>
        <p:nvSpPr>
          <p:cNvPr id="386" name="Google Shape;386;p23"/>
          <p:cNvSpPr/>
          <p:nvPr/>
        </p:nvSpPr>
        <p:spPr>
          <a:xfrm>
            <a:off x="594360" y="141732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400"/>
              <a:buFont typeface="Arial"/>
              <a:buNone/>
            </a:pPr>
            <a:r>
              <a:rPr b="1" i="0" lang="en-US" sz="1400" u="none" cap="none" strike="noStrike">
                <a:solidFill>
                  <a:srgbClr val="CCDDEE"/>
                </a:solidFill>
                <a:latin typeface="Arial"/>
                <a:ea typeface="Arial"/>
                <a:cs typeface="Arial"/>
                <a:sym typeface="Arial"/>
              </a:rPr>
              <a:t>TAM</a:t>
            </a:r>
            <a:endParaRPr b="0" i="0" sz="1400" u="none" cap="none" strike="noStrike">
              <a:solidFill>
                <a:srgbClr val="CCDDEE"/>
              </a:solidFill>
              <a:latin typeface="Calibri"/>
              <a:ea typeface="Calibri"/>
              <a:cs typeface="Calibri"/>
              <a:sym typeface="Calibri"/>
            </a:endParaRPr>
          </a:p>
        </p:txBody>
      </p:sp>
      <p:sp>
        <p:nvSpPr>
          <p:cNvPr id="387" name="Google Shape;387;p23"/>
          <p:cNvSpPr/>
          <p:nvPr/>
        </p:nvSpPr>
        <p:spPr>
          <a:xfrm>
            <a:off x="594360" y="1691640"/>
            <a:ext cx="2331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1000"/>
              <a:buFont typeface="Arial"/>
              <a:buNone/>
            </a:pPr>
            <a:r>
              <a:rPr b="0" i="0" lang="en-US" sz="1000" u="none" cap="none" strike="noStrike">
                <a:solidFill>
                  <a:srgbClr val="CCDDEE"/>
                </a:solidFill>
                <a:latin typeface="Arial"/>
                <a:ea typeface="Arial"/>
                <a:cs typeface="Arial"/>
                <a:sym typeface="Arial"/>
              </a:rPr>
              <a:t>Brecha global de financiamiento comercial para PYMES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CDDEE"/>
              </a:buClr>
              <a:buSzPts val="1000"/>
              <a:buFont typeface="Arial"/>
              <a:buNone/>
            </a:pPr>
            <a:r>
              <a:rPr b="0" i="0" lang="en-US" sz="1000" u="none" cap="none" strike="noStrike">
                <a:solidFill>
                  <a:srgbClr val="CCDDEE"/>
                </a:solidFill>
                <a:latin typeface="Arial"/>
                <a:ea typeface="Arial"/>
                <a:cs typeface="Arial"/>
                <a:sym typeface="Arial"/>
              </a:rPr>
              <a:t>Comisión Bancaria ICC 2024</a:t>
            </a:r>
            <a:endParaRPr b="0" i="0" sz="1000" u="none" cap="none" strike="noStrike">
              <a:solidFill>
                <a:schemeClr val="dk1"/>
              </a:solidFill>
              <a:latin typeface="Calibri"/>
              <a:ea typeface="Calibri"/>
              <a:cs typeface="Calibri"/>
              <a:sym typeface="Calibri"/>
            </a:endParaRPr>
          </a:p>
        </p:txBody>
      </p:sp>
      <p:sp>
        <p:nvSpPr>
          <p:cNvPr id="388" name="Google Shape;388;p23"/>
          <p:cNvSpPr/>
          <p:nvPr/>
        </p:nvSpPr>
        <p:spPr>
          <a:xfrm>
            <a:off x="3291840" y="822960"/>
            <a:ext cx="2606040" cy="1645920"/>
          </a:xfrm>
          <a:prstGeom prst="rect">
            <a:avLst/>
          </a:prstGeom>
          <a:solidFill>
            <a:srgbClr val="1E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3"/>
          <p:cNvSpPr/>
          <p:nvPr/>
        </p:nvSpPr>
        <p:spPr>
          <a:xfrm>
            <a:off x="3429000" y="91440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Georgia"/>
              <a:buNone/>
            </a:pPr>
            <a:r>
              <a:rPr b="1" i="0" lang="en-US" sz="3600" u="none" cap="none" strike="noStrike">
                <a:solidFill>
                  <a:srgbClr val="FFFFFF"/>
                </a:solidFill>
                <a:latin typeface="Georgia"/>
                <a:ea typeface="Georgia"/>
                <a:cs typeface="Georgia"/>
                <a:sym typeface="Georgia"/>
              </a:rPr>
              <a:t>$260B</a:t>
            </a:r>
            <a:endParaRPr b="0" i="0" sz="3600" u="none" cap="none" strike="noStrike">
              <a:solidFill>
                <a:schemeClr val="dk1"/>
              </a:solidFill>
              <a:latin typeface="Calibri"/>
              <a:ea typeface="Calibri"/>
              <a:cs typeface="Calibri"/>
              <a:sym typeface="Calibri"/>
            </a:endParaRPr>
          </a:p>
        </p:txBody>
      </p:sp>
      <p:sp>
        <p:nvSpPr>
          <p:cNvPr id="390" name="Google Shape;390;p23"/>
          <p:cNvSpPr/>
          <p:nvPr/>
        </p:nvSpPr>
        <p:spPr>
          <a:xfrm>
            <a:off x="3429000" y="141732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400"/>
              <a:buFont typeface="Arial"/>
              <a:buNone/>
            </a:pPr>
            <a:r>
              <a:rPr b="1" i="0" lang="en-US" sz="1400" u="none" cap="none" strike="noStrike">
                <a:solidFill>
                  <a:srgbClr val="CCDDEE"/>
                </a:solidFill>
                <a:latin typeface="Arial"/>
                <a:ea typeface="Arial"/>
                <a:cs typeface="Arial"/>
                <a:sym typeface="Arial"/>
              </a:rPr>
              <a:t>SAM</a:t>
            </a:r>
            <a:endParaRPr b="0" i="0" sz="1400" u="none" cap="none" strike="noStrike">
              <a:solidFill>
                <a:srgbClr val="CCDDEE"/>
              </a:solidFill>
              <a:latin typeface="Calibri"/>
              <a:ea typeface="Calibri"/>
              <a:cs typeface="Calibri"/>
              <a:sym typeface="Calibri"/>
            </a:endParaRPr>
          </a:p>
        </p:txBody>
      </p:sp>
      <p:sp>
        <p:nvSpPr>
          <p:cNvPr id="391" name="Google Shape;391;p23"/>
          <p:cNvSpPr/>
          <p:nvPr/>
        </p:nvSpPr>
        <p:spPr>
          <a:xfrm>
            <a:off x="3429000" y="1691640"/>
            <a:ext cx="2331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1000"/>
              <a:buFont typeface="Arial"/>
              <a:buNone/>
            </a:pPr>
            <a:r>
              <a:rPr b="0" i="0" lang="en-US" sz="1000" u="none" cap="none" strike="noStrike">
                <a:solidFill>
                  <a:srgbClr val="CCDDEE"/>
                </a:solidFill>
                <a:latin typeface="Arial"/>
                <a:ea typeface="Arial"/>
                <a:cs typeface="Arial"/>
                <a:sym typeface="Arial"/>
              </a:rPr>
              <a:t>EU ↔ emerging market corridors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CDDEE"/>
              </a:buClr>
              <a:buSzPts val="1000"/>
              <a:buFont typeface="Arial"/>
              <a:buNone/>
            </a:pPr>
            <a:r>
              <a:rPr b="0" i="0" lang="en-US" sz="1000" u="none" cap="none" strike="noStrike">
                <a:solidFill>
                  <a:srgbClr val="CCDDEE"/>
                </a:solidFill>
                <a:latin typeface="Arial"/>
                <a:ea typeface="Arial"/>
                <a:cs typeface="Arial"/>
                <a:sym typeface="Arial"/>
              </a:rPr>
              <a:t>addressable from our platform</a:t>
            </a:r>
            <a:endParaRPr b="0" i="0" sz="1000" u="none" cap="none" strike="noStrike">
              <a:solidFill>
                <a:schemeClr val="dk1"/>
              </a:solidFill>
              <a:latin typeface="Calibri"/>
              <a:ea typeface="Calibri"/>
              <a:cs typeface="Calibri"/>
              <a:sym typeface="Calibri"/>
            </a:endParaRPr>
          </a:p>
        </p:txBody>
      </p:sp>
      <p:sp>
        <p:nvSpPr>
          <p:cNvPr id="392" name="Google Shape;392;p23"/>
          <p:cNvSpPr/>
          <p:nvPr/>
        </p:nvSpPr>
        <p:spPr>
          <a:xfrm>
            <a:off x="6126480" y="822960"/>
            <a:ext cx="2606040" cy="164592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3"/>
          <p:cNvSpPr/>
          <p:nvPr/>
        </p:nvSpPr>
        <p:spPr>
          <a:xfrm>
            <a:off x="6263640" y="91440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Georgia"/>
              <a:buNone/>
            </a:pPr>
            <a:r>
              <a:rPr b="1" i="0" lang="en-US" sz="3600" u="none" cap="none" strike="noStrike">
                <a:solidFill>
                  <a:srgbClr val="FFFFFF"/>
                </a:solidFill>
                <a:latin typeface="Georgia"/>
                <a:ea typeface="Georgia"/>
                <a:cs typeface="Georgia"/>
                <a:sym typeface="Georgia"/>
              </a:rPr>
              <a:t>$52–65B</a:t>
            </a:r>
            <a:endParaRPr b="0" i="0" sz="3600" u="none" cap="none" strike="noStrike">
              <a:solidFill>
                <a:schemeClr val="dk1"/>
              </a:solidFill>
              <a:latin typeface="Calibri"/>
              <a:ea typeface="Calibri"/>
              <a:cs typeface="Calibri"/>
              <a:sym typeface="Calibri"/>
            </a:endParaRPr>
          </a:p>
        </p:txBody>
      </p:sp>
      <p:sp>
        <p:nvSpPr>
          <p:cNvPr id="394" name="Google Shape;394;p23"/>
          <p:cNvSpPr/>
          <p:nvPr/>
        </p:nvSpPr>
        <p:spPr>
          <a:xfrm>
            <a:off x="6263640" y="141732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400"/>
              <a:buFont typeface="Arial"/>
              <a:buNone/>
            </a:pPr>
            <a:r>
              <a:rPr b="1" i="0" lang="en-US" sz="1400" u="none" cap="none" strike="noStrike">
                <a:solidFill>
                  <a:srgbClr val="CCDDEE"/>
                </a:solidFill>
                <a:latin typeface="Arial"/>
                <a:ea typeface="Arial"/>
                <a:cs typeface="Arial"/>
                <a:sym typeface="Arial"/>
              </a:rPr>
              <a:t>SOM</a:t>
            </a:r>
            <a:endParaRPr b="0" i="0" sz="1400" u="none" cap="none" strike="noStrike">
              <a:solidFill>
                <a:srgbClr val="CCDDEE"/>
              </a:solidFill>
              <a:latin typeface="Calibri"/>
              <a:ea typeface="Calibri"/>
              <a:cs typeface="Calibri"/>
              <a:sym typeface="Calibri"/>
            </a:endParaRPr>
          </a:p>
        </p:txBody>
      </p:sp>
      <p:sp>
        <p:nvSpPr>
          <p:cNvPr id="395" name="Google Shape;395;p23"/>
          <p:cNvSpPr/>
          <p:nvPr/>
        </p:nvSpPr>
        <p:spPr>
          <a:xfrm>
            <a:off x="6263640" y="1691640"/>
            <a:ext cx="2331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DDEE"/>
              </a:buClr>
              <a:buSzPts val="1000"/>
              <a:buFont typeface="Arial"/>
              <a:buNone/>
            </a:pPr>
            <a:r>
              <a:rPr b="0" i="0" lang="en-US" sz="1000" u="none" cap="none" strike="noStrike">
                <a:solidFill>
                  <a:srgbClr val="CCDDEE"/>
                </a:solidFill>
                <a:latin typeface="Arial"/>
                <a:ea typeface="Arial"/>
                <a:cs typeface="Arial"/>
                <a:sym typeface="Arial"/>
              </a:rPr>
              <a:t>Africa ↔ EU corridors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CDDEE"/>
              </a:buClr>
              <a:buSzPts val="1000"/>
              <a:buFont typeface="Arial"/>
              <a:buNone/>
            </a:pPr>
            <a:r>
              <a:rPr b="0" i="0" lang="en-US" sz="1000" u="none" cap="none" strike="noStrike">
                <a:solidFill>
                  <a:srgbClr val="CCDDEE"/>
                </a:solidFill>
                <a:latin typeface="Arial"/>
                <a:ea typeface="Arial"/>
                <a:cs typeface="Arial"/>
                <a:sym typeface="Arial"/>
              </a:rPr>
              <a:t>initial target regions</a:t>
            </a:r>
            <a:endParaRPr b="0" i="0" sz="1000" u="none" cap="none" strike="noStrike">
              <a:solidFill>
                <a:schemeClr val="dk1"/>
              </a:solidFill>
              <a:latin typeface="Calibri"/>
              <a:ea typeface="Calibri"/>
              <a:cs typeface="Calibri"/>
              <a:sym typeface="Calibri"/>
            </a:endParaRPr>
          </a:p>
        </p:txBody>
      </p:sp>
      <p:sp>
        <p:nvSpPr>
          <p:cNvPr id="396" name="Google Shape;396;p23"/>
          <p:cNvSpPr/>
          <p:nvPr/>
        </p:nvSpPr>
        <p:spPr>
          <a:xfrm>
            <a:off x="457200" y="2651760"/>
            <a:ext cx="8229600" cy="41148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3"/>
          <p:cNvSpPr/>
          <p:nvPr/>
        </p:nvSpPr>
        <p:spPr>
          <a:xfrm>
            <a:off x="640080" y="2651760"/>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050"/>
              <a:buFont typeface="Arial"/>
              <a:buNone/>
            </a:pPr>
            <a:r>
              <a:rPr b="1" i="0" lang="en-US" sz="1050" u="none" cap="none" strike="noStrike">
                <a:solidFill>
                  <a:srgbClr val="0F2B46"/>
                </a:solidFill>
                <a:latin typeface="Arial"/>
                <a:ea typeface="Arial"/>
                <a:cs typeface="Arial"/>
                <a:sym typeface="Arial"/>
              </a:rPr>
              <a:t>Enfoque de Commodities: Productos Agrícolas | Bienes Esenciales (FMCG) | Equipo Industrial | Materiales de Construcción | Carga Contenerizada</a:t>
            </a:r>
            <a:endParaRPr b="0" i="0" sz="1050" u="none" cap="none" strike="noStrike">
              <a:solidFill>
                <a:schemeClr val="dk1"/>
              </a:solidFill>
              <a:latin typeface="Calibri"/>
              <a:ea typeface="Calibri"/>
              <a:cs typeface="Calibri"/>
              <a:sym typeface="Calibri"/>
            </a:endParaRPr>
          </a:p>
        </p:txBody>
      </p:sp>
      <p:sp>
        <p:nvSpPr>
          <p:cNvPr id="398" name="Google Shape;398;p23"/>
          <p:cNvSpPr/>
          <p:nvPr/>
        </p:nvSpPr>
        <p:spPr>
          <a:xfrm>
            <a:off x="457200" y="3246120"/>
            <a:ext cx="8229600" cy="15546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3"/>
          <p:cNvSpPr/>
          <p:nvPr/>
        </p:nvSpPr>
        <p:spPr>
          <a:xfrm>
            <a:off x="685800" y="3337560"/>
            <a:ext cx="7772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300"/>
              <a:buFont typeface="Arial"/>
              <a:buNone/>
            </a:pPr>
            <a:r>
              <a:rPr b="1" i="0" lang="en-US" sz="1300" u="none" cap="none" strike="noStrike">
                <a:solidFill>
                  <a:srgbClr val="0F2B46"/>
                </a:solidFill>
                <a:latin typeface="Arial"/>
                <a:ea typeface="Arial"/>
                <a:cs typeface="Arial"/>
                <a:sym typeface="Arial"/>
              </a:rPr>
              <a:t>Plataforma Global — Los Números Piloto Representan Solo la Fase de Lanzamiento</a:t>
            </a:r>
            <a:endParaRPr b="0" i="0" sz="1300" u="none" cap="none" strike="noStrike">
              <a:solidFill>
                <a:schemeClr val="dk1"/>
              </a:solidFill>
              <a:latin typeface="Calibri"/>
              <a:ea typeface="Calibri"/>
              <a:cs typeface="Calibri"/>
              <a:sym typeface="Calibri"/>
            </a:endParaRPr>
          </a:p>
        </p:txBody>
      </p:sp>
      <p:sp>
        <p:nvSpPr>
          <p:cNvPr id="400" name="Google Shape;400;p23"/>
          <p:cNvSpPr/>
          <p:nvPr/>
        </p:nvSpPr>
        <p:spPr>
          <a:xfrm>
            <a:off x="685800" y="3657600"/>
            <a:ext cx="77724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050"/>
              <a:buFont typeface="Arial"/>
              <a:buNone/>
            </a:pPr>
            <a:r>
              <a:t/>
            </a:r>
            <a:endParaRPr b="1" sz="1050">
              <a:solidFill>
                <a:srgbClr val="0F2B46"/>
              </a:solidFill>
            </a:endParaRPr>
          </a:p>
          <a:p>
            <a:pPr indent="0" lvl="0" marL="0" marR="0" rtl="0" algn="l">
              <a:spcBef>
                <a:spcPts val="0"/>
              </a:spcBef>
              <a:spcAft>
                <a:spcPts val="0"/>
              </a:spcAft>
              <a:buClr>
                <a:srgbClr val="0F2B46"/>
              </a:buClr>
              <a:buSzPts val="1050"/>
              <a:buFont typeface="Arial"/>
              <a:buNone/>
            </a:pPr>
            <a:r>
              <a:rPr b="1" i="0" lang="en-US" sz="1050" u="none" cap="none" strike="noStrike">
                <a:solidFill>
                  <a:srgbClr val="0F2B46"/>
                </a:solidFill>
                <a:latin typeface="Arial"/>
                <a:ea typeface="Arial"/>
                <a:cs typeface="Arial"/>
                <a:sym typeface="Arial"/>
              </a:rPr>
              <a:t>Pilot corridors (Sudan + Ghana): </a:t>
            </a:r>
            <a:r>
              <a:rPr lang="en-US" sz="1050">
                <a:solidFill>
                  <a:srgbClr val="4A5568"/>
                </a:solidFill>
              </a:rPr>
              <a:t>$21–23M confirmed pipeline, first cycle. Sudan government demand: 30,000 MT wheat/month (~$12M/month). Pipeline is institutional-scale — execution is capital-constrained, not demand-constrained.</a:t>
            </a:r>
            <a:endParaRPr sz="1050">
              <a:solidFill>
                <a:srgbClr val="4A5568"/>
              </a:solidFill>
            </a:endParaRPr>
          </a:p>
          <a:p>
            <a:pPr indent="0" lvl="0" marL="0" marR="0" rtl="0" algn="l">
              <a:spcBef>
                <a:spcPts val="0"/>
              </a:spcBef>
              <a:spcAft>
                <a:spcPts val="0"/>
              </a:spcAft>
              <a:buClr>
                <a:srgbClr val="0F2B46"/>
              </a:buClr>
              <a:buSzPts val="1050"/>
              <a:buFont typeface="Arial"/>
              <a:buNone/>
            </a:pPr>
            <a:br>
              <a:rPr b="0" i="0" lang="en-US" sz="1050" u="none" cap="none" strike="noStrike">
                <a:solidFill>
                  <a:srgbClr val="4A5568"/>
                </a:solidFill>
                <a:latin typeface="Arial"/>
                <a:ea typeface="Arial"/>
                <a:cs typeface="Arial"/>
                <a:sym typeface="Arial"/>
              </a:rPr>
            </a:br>
            <a:r>
              <a:rPr b="1" i="0" lang="en-US" sz="1050" u="none" cap="none" strike="noStrike">
                <a:solidFill>
                  <a:srgbClr val="0F2B46"/>
                </a:solidFill>
                <a:latin typeface="Arial"/>
                <a:ea typeface="Arial"/>
                <a:cs typeface="Arial"/>
                <a:sym typeface="Arial"/>
              </a:rPr>
              <a:t>Global platform: </a:t>
            </a:r>
            <a:r>
              <a:rPr lang="en-US" sz="1050">
                <a:solidFill>
                  <a:srgbClr val="4A5568"/>
                </a:solidFill>
              </a:rPr>
              <a:t>Pilot success validates expansion to LATAM, Asia, and additional African markets. Capital scales directly into volume.</a:t>
            </a:r>
            <a:endParaRPr sz="1050">
              <a:solidFill>
                <a:srgbClr val="4A5568"/>
              </a:solidFill>
            </a:endParaRPr>
          </a:p>
          <a:p>
            <a:pPr indent="0" lvl="0" marL="0" marR="0" rtl="0" algn="l">
              <a:spcBef>
                <a:spcPts val="0"/>
              </a:spcBef>
              <a:spcAft>
                <a:spcPts val="0"/>
              </a:spcAft>
              <a:buClr>
                <a:srgbClr val="0F2B46"/>
              </a:buClr>
              <a:buSzPts val="1050"/>
              <a:buFont typeface="Arial"/>
              <a:buNone/>
            </a:pPr>
            <a:r>
              <a:t/>
            </a:r>
            <a:endParaRPr sz="1050">
              <a:solidFill>
                <a:srgbClr val="4A5568"/>
              </a:solidFill>
            </a:endParaRPr>
          </a:p>
        </p:txBody>
      </p:sp>
      <p:sp>
        <p:nvSpPr>
          <p:cNvPr id="401" name="Google Shape;401;p23"/>
          <p:cNvSpPr/>
          <p:nvPr/>
        </p:nvSpPr>
        <p:spPr>
          <a:xfrm>
            <a:off x="457200" y="4754880"/>
            <a:ext cx="4572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800"/>
              <a:buFont typeface="Arial"/>
              <a:buNone/>
            </a:pPr>
            <a:r>
              <a:rPr b="0" i="0" lang="en-US" sz="800" u="none" cap="none" strike="noStrike">
                <a:solidFill>
                  <a:srgbClr val="8899AA"/>
                </a:solidFill>
                <a:latin typeface="Arial"/>
                <a:ea typeface="Arial"/>
                <a:cs typeface="Arial"/>
                <a:sym typeface="Arial"/>
              </a:rPr>
              <a:t>Fuentes: ADB 2023, ICC 2024, OMC 2023, Banco Mundial 2023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406" name="Shape 406"/>
        <p:cNvGrpSpPr/>
        <p:nvPr/>
      </p:nvGrpSpPr>
      <p:grpSpPr>
        <a:xfrm>
          <a:off x="0" y="0"/>
          <a:ext cx="0" cy="0"/>
          <a:chOff x="0" y="0"/>
          <a:chExt cx="0" cy="0"/>
        </a:xfrm>
      </p:grpSpPr>
      <p:sp>
        <p:nvSpPr>
          <p:cNvPr id="407" name="Google Shape;407;p24"/>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4"/>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Posicionamiento Competitivo</a:t>
            </a:r>
            <a:endParaRPr b="0" i="0" sz="2800" u="none" cap="none" strike="noStrike">
              <a:solidFill>
                <a:schemeClr val="dk1"/>
              </a:solidFill>
              <a:latin typeface="Calibri"/>
              <a:ea typeface="Calibri"/>
              <a:cs typeface="Calibri"/>
              <a:sym typeface="Calibri"/>
            </a:endParaRPr>
          </a:p>
        </p:txBody>
      </p:sp>
      <p:sp>
        <p:nvSpPr>
          <p:cNvPr id="409" name="Google Shape;409;p24"/>
          <p:cNvSpPr/>
          <p:nvPr/>
        </p:nvSpPr>
        <p:spPr>
          <a:xfrm>
            <a:off x="457200" y="822960"/>
            <a:ext cx="8229600" cy="36576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4"/>
          <p:cNvSpPr/>
          <p:nvPr/>
        </p:nvSpPr>
        <p:spPr>
          <a:xfrm>
            <a:off x="457200" y="82296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Capacidad</a:t>
            </a:r>
            <a:endParaRPr b="0" i="0" sz="1000" u="none" cap="none" strike="noStrike">
              <a:solidFill>
                <a:schemeClr val="dk1"/>
              </a:solidFill>
              <a:latin typeface="Calibri"/>
              <a:ea typeface="Calibri"/>
              <a:cs typeface="Calibri"/>
              <a:sym typeface="Calibri"/>
            </a:endParaRPr>
          </a:p>
        </p:txBody>
      </p:sp>
      <p:sp>
        <p:nvSpPr>
          <p:cNvPr id="411" name="Google Shape;411;p24"/>
          <p:cNvSpPr/>
          <p:nvPr/>
        </p:nvSpPr>
        <p:spPr>
          <a:xfrm>
            <a:off x="2377440" y="82296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Skyocean</a:t>
            </a:r>
            <a:endParaRPr b="0" i="0" sz="1000" u="none" cap="none" strike="noStrike">
              <a:solidFill>
                <a:schemeClr val="dk1"/>
              </a:solidFill>
              <a:latin typeface="Calibri"/>
              <a:ea typeface="Calibri"/>
              <a:cs typeface="Calibri"/>
              <a:sym typeface="Calibri"/>
            </a:endParaRPr>
          </a:p>
        </p:txBody>
      </p:sp>
      <p:sp>
        <p:nvSpPr>
          <p:cNvPr id="412" name="Google Shape;412;p24"/>
          <p:cNvSpPr/>
          <p:nvPr/>
        </p:nvSpPr>
        <p:spPr>
          <a:xfrm>
            <a:off x="4297680" y="822960"/>
            <a:ext cx="1325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Drip Capital</a:t>
            </a:r>
            <a:endParaRPr b="0" i="0" sz="1000" u="none" cap="none" strike="noStrike">
              <a:solidFill>
                <a:schemeClr val="dk1"/>
              </a:solidFill>
              <a:latin typeface="Calibri"/>
              <a:ea typeface="Calibri"/>
              <a:cs typeface="Calibri"/>
              <a:sym typeface="Calibri"/>
            </a:endParaRPr>
          </a:p>
        </p:txBody>
      </p:sp>
      <p:sp>
        <p:nvSpPr>
          <p:cNvPr id="413" name="Google Shape;413;p24"/>
          <p:cNvSpPr/>
          <p:nvPr/>
        </p:nvSpPr>
        <p:spPr>
          <a:xfrm>
            <a:off x="5623560" y="822960"/>
            <a:ext cx="1600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Centrifuge</a:t>
            </a:r>
            <a:endParaRPr b="0" i="0" sz="1000" u="none" cap="none" strike="noStrike">
              <a:solidFill>
                <a:schemeClr val="dk1"/>
              </a:solidFill>
              <a:latin typeface="Calibri"/>
              <a:ea typeface="Calibri"/>
              <a:cs typeface="Calibri"/>
              <a:sym typeface="Calibri"/>
            </a:endParaRPr>
          </a:p>
        </p:txBody>
      </p:sp>
      <p:sp>
        <p:nvSpPr>
          <p:cNvPr id="414" name="Google Shape;414;p24"/>
          <p:cNvSpPr/>
          <p:nvPr/>
        </p:nvSpPr>
        <p:spPr>
          <a:xfrm>
            <a:off x="7223760" y="822960"/>
            <a:ext cx="1463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Bancos</a:t>
            </a:r>
            <a:endParaRPr b="0" i="0" sz="1000" u="none" cap="none" strike="noStrike">
              <a:solidFill>
                <a:schemeClr val="dk1"/>
              </a:solidFill>
              <a:latin typeface="Calibri"/>
              <a:ea typeface="Calibri"/>
              <a:cs typeface="Calibri"/>
              <a:sym typeface="Calibri"/>
            </a:endParaRPr>
          </a:p>
        </p:txBody>
      </p:sp>
      <p:sp>
        <p:nvSpPr>
          <p:cNvPr id="415" name="Google Shape;415;p24"/>
          <p:cNvSpPr/>
          <p:nvPr/>
        </p:nvSpPr>
        <p:spPr>
          <a:xfrm>
            <a:off x="457200" y="1188720"/>
            <a:ext cx="8229600" cy="338328"/>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4"/>
          <p:cNvSpPr/>
          <p:nvPr/>
        </p:nvSpPr>
        <p:spPr>
          <a:xfrm>
            <a:off x="502920" y="1188720"/>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Financiamiento Rápido PYMES</a:t>
            </a:r>
            <a:endParaRPr b="0" i="0" sz="950" u="none" cap="none" strike="noStrike">
              <a:solidFill>
                <a:schemeClr val="dk1"/>
              </a:solidFill>
              <a:latin typeface="Calibri"/>
              <a:ea typeface="Calibri"/>
              <a:cs typeface="Calibri"/>
              <a:sym typeface="Calibri"/>
            </a:endParaRPr>
          </a:p>
        </p:txBody>
      </p:sp>
      <p:pic>
        <p:nvPicPr>
          <p:cNvPr descr="preencoded.png" id="417" name="Google Shape;417;p24"/>
          <p:cNvPicPr preferRelativeResize="0"/>
          <p:nvPr/>
        </p:nvPicPr>
        <p:blipFill rotWithShape="1">
          <a:blip r:embed="rId3">
            <a:alphaModFix/>
          </a:blip>
          <a:srcRect b="0" l="0" r="0" t="0"/>
          <a:stretch/>
        </p:blipFill>
        <p:spPr>
          <a:xfrm>
            <a:off x="3246120" y="1261872"/>
            <a:ext cx="182880" cy="182880"/>
          </a:xfrm>
          <a:prstGeom prst="rect">
            <a:avLst/>
          </a:prstGeom>
          <a:noFill/>
          <a:ln>
            <a:noFill/>
          </a:ln>
        </p:spPr>
      </p:pic>
      <p:pic>
        <p:nvPicPr>
          <p:cNvPr descr="preencoded.png" id="418" name="Google Shape;418;p24"/>
          <p:cNvPicPr preferRelativeResize="0"/>
          <p:nvPr/>
        </p:nvPicPr>
        <p:blipFill rotWithShape="1">
          <a:blip r:embed="rId3">
            <a:alphaModFix/>
          </a:blip>
          <a:srcRect b="0" l="0" r="0" t="0"/>
          <a:stretch/>
        </p:blipFill>
        <p:spPr>
          <a:xfrm>
            <a:off x="4869180" y="1261872"/>
            <a:ext cx="182880" cy="182880"/>
          </a:xfrm>
          <a:prstGeom prst="rect">
            <a:avLst/>
          </a:prstGeom>
          <a:noFill/>
          <a:ln>
            <a:noFill/>
          </a:ln>
        </p:spPr>
      </p:pic>
      <p:pic>
        <p:nvPicPr>
          <p:cNvPr descr="preencoded.png" id="419" name="Google Shape;419;p24"/>
          <p:cNvPicPr preferRelativeResize="0"/>
          <p:nvPr/>
        </p:nvPicPr>
        <p:blipFill rotWithShape="1">
          <a:blip r:embed="rId4">
            <a:alphaModFix/>
          </a:blip>
          <a:srcRect b="0" l="0" r="0" t="0"/>
          <a:stretch/>
        </p:blipFill>
        <p:spPr>
          <a:xfrm>
            <a:off x="6332220" y="1261872"/>
            <a:ext cx="182880" cy="182880"/>
          </a:xfrm>
          <a:prstGeom prst="rect">
            <a:avLst/>
          </a:prstGeom>
          <a:noFill/>
          <a:ln>
            <a:noFill/>
          </a:ln>
        </p:spPr>
      </p:pic>
      <p:pic>
        <p:nvPicPr>
          <p:cNvPr descr="preencoded.png" id="420" name="Google Shape;420;p24"/>
          <p:cNvPicPr preferRelativeResize="0"/>
          <p:nvPr/>
        </p:nvPicPr>
        <p:blipFill rotWithShape="1">
          <a:blip r:embed="rId4">
            <a:alphaModFix/>
          </a:blip>
          <a:srcRect b="0" l="0" r="0" t="0"/>
          <a:stretch/>
        </p:blipFill>
        <p:spPr>
          <a:xfrm>
            <a:off x="7863840" y="1261872"/>
            <a:ext cx="182880" cy="182880"/>
          </a:xfrm>
          <a:prstGeom prst="rect">
            <a:avLst/>
          </a:prstGeom>
          <a:noFill/>
          <a:ln>
            <a:noFill/>
          </a:ln>
        </p:spPr>
      </p:pic>
      <p:sp>
        <p:nvSpPr>
          <p:cNvPr id="421" name="Google Shape;421;p24"/>
          <p:cNvSpPr/>
          <p:nvPr/>
        </p:nvSpPr>
        <p:spPr>
          <a:xfrm>
            <a:off x="502920" y="1527048"/>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Posee la Cadena de Suministro</a:t>
            </a:r>
            <a:endParaRPr b="0" i="0" sz="950" u="none" cap="none" strike="noStrike">
              <a:solidFill>
                <a:schemeClr val="dk1"/>
              </a:solidFill>
              <a:latin typeface="Calibri"/>
              <a:ea typeface="Calibri"/>
              <a:cs typeface="Calibri"/>
              <a:sym typeface="Calibri"/>
            </a:endParaRPr>
          </a:p>
        </p:txBody>
      </p:sp>
      <p:pic>
        <p:nvPicPr>
          <p:cNvPr descr="preencoded.png" id="422" name="Google Shape;422;p24"/>
          <p:cNvPicPr preferRelativeResize="0"/>
          <p:nvPr/>
        </p:nvPicPr>
        <p:blipFill rotWithShape="1">
          <a:blip r:embed="rId3">
            <a:alphaModFix/>
          </a:blip>
          <a:srcRect b="0" l="0" r="0" t="0"/>
          <a:stretch/>
        </p:blipFill>
        <p:spPr>
          <a:xfrm>
            <a:off x="3246120" y="1600200"/>
            <a:ext cx="182880" cy="182880"/>
          </a:xfrm>
          <a:prstGeom prst="rect">
            <a:avLst/>
          </a:prstGeom>
          <a:noFill/>
          <a:ln>
            <a:noFill/>
          </a:ln>
        </p:spPr>
      </p:pic>
      <p:pic>
        <p:nvPicPr>
          <p:cNvPr descr="preencoded.png" id="423" name="Google Shape;423;p24"/>
          <p:cNvPicPr preferRelativeResize="0"/>
          <p:nvPr/>
        </p:nvPicPr>
        <p:blipFill rotWithShape="1">
          <a:blip r:embed="rId4">
            <a:alphaModFix/>
          </a:blip>
          <a:srcRect b="0" l="0" r="0" t="0"/>
          <a:stretch/>
        </p:blipFill>
        <p:spPr>
          <a:xfrm>
            <a:off x="4869180" y="1600200"/>
            <a:ext cx="182880" cy="182880"/>
          </a:xfrm>
          <a:prstGeom prst="rect">
            <a:avLst/>
          </a:prstGeom>
          <a:noFill/>
          <a:ln>
            <a:noFill/>
          </a:ln>
        </p:spPr>
      </p:pic>
      <p:pic>
        <p:nvPicPr>
          <p:cNvPr descr="preencoded.png" id="424" name="Google Shape;424;p24"/>
          <p:cNvPicPr preferRelativeResize="0"/>
          <p:nvPr/>
        </p:nvPicPr>
        <p:blipFill rotWithShape="1">
          <a:blip r:embed="rId4">
            <a:alphaModFix/>
          </a:blip>
          <a:srcRect b="0" l="0" r="0" t="0"/>
          <a:stretch/>
        </p:blipFill>
        <p:spPr>
          <a:xfrm>
            <a:off x="6332220" y="1600200"/>
            <a:ext cx="182880" cy="182880"/>
          </a:xfrm>
          <a:prstGeom prst="rect">
            <a:avLst/>
          </a:prstGeom>
          <a:noFill/>
          <a:ln>
            <a:noFill/>
          </a:ln>
        </p:spPr>
      </p:pic>
      <p:pic>
        <p:nvPicPr>
          <p:cNvPr descr="preencoded.png" id="425" name="Google Shape;425;p24"/>
          <p:cNvPicPr preferRelativeResize="0"/>
          <p:nvPr/>
        </p:nvPicPr>
        <p:blipFill rotWithShape="1">
          <a:blip r:embed="rId4">
            <a:alphaModFix/>
          </a:blip>
          <a:srcRect b="0" l="0" r="0" t="0"/>
          <a:stretch/>
        </p:blipFill>
        <p:spPr>
          <a:xfrm>
            <a:off x="7863840" y="1600200"/>
            <a:ext cx="182880" cy="182880"/>
          </a:xfrm>
          <a:prstGeom prst="rect">
            <a:avLst/>
          </a:prstGeom>
          <a:noFill/>
          <a:ln>
            <a:noFill/>
          </a:ln>
        </p:spPr>
      </p:pic>
      <p:sp>
        <p:nvSpPr>
          <p:cNvPr id="426" name="Google Shape;426;p24"/>
          <p:cNvSpPr/>
          <p:nvPr/>
        </p:nvSpPr>
        <p:spPr>
          <a:xfrm>
            <a:off x="457200" y="1865376"/>
            <a:ext cx="8229600" cy="338328"/>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4"/>
          <p:cNvSpPr/>
          <p:nvPr/>
        </p:nvSpPr>
        <p:spPr>
          <a:xfrm>
            <a:off x="502920" y="1865376"/>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Earns Márgenes Comerciales (not interest)</a:t>
            </a:r>
            <a:endParaRPr b="0" i="0" sz="950" u="none" cap="none" strike="noStrike">
              <a:solidFill>
                <a:schemeClr val="dk1"/>
              </a:solidFill>
              <a:latin typeface="Calibri"/>
              <a:ea typeface="Calibri"/>
              <a:cs typeface="Calibri"/>
              <a:sym typeface="Calibri"/>
            </a:endParaRPr>
          </a:p>
        </p:txBody>
      </p:sp>
      <p:pic>
        <p:nvPicPr>
          <p:cNvPr descr="preencoded.png" id="428" name="Google Shape;428;p24"/>
          <p:cNvPicPr preferRelativeResize="0"/>
          <p:nvPr/>
        </p:nvPicPr>
        <p:blipFill rotWithShape="1">
          <a:blip r:embed="rId3">
            <a:alphaModFix/>
          </a:blip>
          <a:srcRect b="0" l="0" r="0" t="0"/>
          <a:stretch/>
        </p:blipFill>
        <p:spPr>
          <a:xfrm>
            <a:off x="3246120" y="1938528"/>
            <a:ext cx="182880" cy="182880"/>
          </a:xfrm>
          <a:prstGeom prst="rect">
            <a:avLst/>
          </a:prstGeom>
          <a:noFill/>
          <a:ln>
            <a:noFill/>
          </a:ln>
        </p:spPr>
      </p:pic>
      <p:pic>
        <p:nvPicPr>
          <p:cNvPr descr="preencoded.png" id="429" name="Google Shape;429;p24"/>
          <p:cNvPicPr preferRelativeResize="0"/>
          <p:nvPr/>
        </p:nvPicPr>
        <p:blipFill rotWithShape="1">
          <a:blip r:embed="rId4">
            <a:alphaModFix/>
          </a:blip>
          <a:srcRect b="0" l="0" r="0" t="0"/>
          <a:stretch/>
        </p:blipFill>
        <p:spPr>
          <a:xfrm>
            <a:off x="4869180" y="1938528"/>
            <a:ext cx="182880" cy="182880"/>
          </a:xfrm>
          <a:prstGeom prst="rect">
            <a:avLst/>
          </a:prstGeom>
          <a:noFill/>
          <a:ln>
            <a:noFill/>
          </a:ln>
        </p:spPr>
      </p:pic>
      <p:pic>
        <p:nvPicPr>
          <p:cNvPr descr="preencoded.png" id="430" name="Google Shape;430;p24"/>
          <p:cNvPicPr preferRelativeResize="0"/>
          <p:nvPr/>
        </p:nvPicPr>
        <p:blipFill rotWithShape="1">
          <a:blip r:embed="rId4">
            <a:alphaModFix/>
          </a:blip>
          <a:srcRect b="0" l="0" r="0" t="0"/>
          <a:stretch/>
        </p:blipFill>
        <p:spPr>
          <a:xfrm>
            <a:off x="6332220" y="1938528"/>
            <a:ext cx="182880" cy="182880"/>
          </a:xfrm>
          <a:prstGeom prst="rect">
            <a:avLst/>
          </a:prstGeom>
          <a:noFill/>
          <a:ln>
            <a:noFill/>
          </a:ln>
        </p:spPr>
      </p:pic>
      <p:pic>
        <p:nvPicPr>
          <p:cNvPr descr="preencoded.png" id="431" name="Google Shape;431;p24"/>
          <p:cNvPicPr preferRelativeResize="0"/>
          <p:nvPr/>
        </p:nvPicPr>
        <p:blipFill rotWithShape="1">
          <a:blip r:embed="rId4">
            <a:alphaModFix/>
          </a:blip>
          <a:srcRect b="0" l="0" r="0" t="0"/>
          <a:stretch/>
        </p:blipFill>
        <p:spPr>
          <a:xfrm>
            <a:off x="7863840" y="1938528"/>
            <a:ext cx="182880" cy="182880"/>
          </a:xfrm>
          <a:prstGeom prst="rect">
            <a:avLst/>
          </a:prstGeom>
          <a:noFill/>
          <a:ln>
            <a:noFill/>
          </a:ln>
        </p:spPr>
      </p:pic>
      <p:sp>
        <p:nvSpPr>
          <p:cNvPr id="432" name="Google Shape;432;p24"/>
          <p:cNvSpPr/>
          <p:nvPr/>
        </p:nvSpPr>
        <p:spPr>
          <a:xfrm>
            <a:off x="502920" y="2203704"/>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Digital Verification &amp; Transparency</a:t>
            </a:r>
            <a:endParaRPr b="0" i="0" sz="950" u="none" cap="none" strike="noStrike">
              <a:solidFill>
                <a:schemeClr val="dk1"/>
              </a:solidFill>
              <a:latin typeface="Calibri"/>
              <a:ea typeface="Calibri"/>
              <a:cs typeface="Calibri"/>
              <a:sym typeface="Calibri"/>
            </a:endParaRPr>
          </a:p>
        </p:txBody>
      </p:sp>
      <p:pic>
        <p:nvPicPr>
          <p:cNvPr descr="preencoded.png" id="433" name="Google Shape;433;p24"/>
          <p:cNvPicPr preferRelativeResize="0"/>
          <p:nvPr/>
        </p:nvPicPr>
        <p:blipFill rotWithShape="1">
          <a:blip r:embed="rId3">
            <a:alphaModFix/>
          </a:blip>
          <a:srcRect b="0" l="0" r="0" t="0"/>
          <a:stretch/>
        </p:blipFill>
        <p:spPr>
          <a:xfrm>
            <a:off x="3246120" y="2276856"/>
            <a:ext cx="182880" cy="182880"/>
          </a:xfrm>
          <a:prstGeom prst="rect">
            <a:avLst/>
          </a:prstGeom>
          <a:noFill/>
          <a:ln>
            <a:noFill/>
          </a:ln>
        </p:spPr>
      </p:pic>
      <p:pic>
        <p:nvPicPr>
          <p:cNvPr descr="preencoded.png" id="434" name="Google Shape;434;p24"/>
          <p:cNvPicPr preferRelativeResize="0"/>
          <p:nvPr/>
        </p:nvPicPr>
        <p:blipFill rotWithShape="1">
          <a:blip r:embed="rId4">
            <a:alphaModFix/>
          </a:blip>
          <a:srcRect b="0" l="0" r="0" t="0"/>
          <a:stretch/>
        </p:blipFill>
        <p:spPr>
          <a:xfrm>
            <a:off x="4869180" y="2276856"/>
            <a:ext cx="182880" cy="182880"/>
          </a:xfrm>
          <a:prstGeom prst="rect">
            <a:avLst/>
          </a:prstGeom>
          <a:noFill/>
          <a:ln>
            <a:noFill/>
          </a:ln>
        </p:spPr>
      </p:pic>
      <p:pic>
        <p:nvPicPr>
          <p:cNvPr descr="preencoded.png" id="435" name="Google Shape;435;p24"/>
          <p:cNvPicPr preferRelativeResize="0"/>
          <p:nvPr/>
        </p:nvPicPr>
        <p:blipFill rotWithShape="1">
          <a:blip r:embed="rId3">
            <a:alphaModFix/>
          </a:blip>
          <a:srcRect b="0" l="0" r="0" t="0"/>
          <a:stretch/>
        </p:blipFill>
        <p:spPr>
          <a:xfrm>
            <a:off x="6332220" y="2276856"/>
            <a:ext cx="182880" cy="182880"/>
          </a:xfrm>
          <a:prstGeom prst="rect">
            <a:avLst/>
          </a:prstGeom>
          <a:noFill/>
          <a:ln>
            <a:noFill/>
          </a:ln>
        </p:spPr>
      </p:pic>
      <p:pic>
        <p:nvPicPr>
          <p:cNvPr descr="preencoded.png" id="436" name="Google Shape;436;p24"/>
          <p:cNvPicPr preferRelativeResize="0"/>
          <p:nvPr/>
        </p:nvPicPr>
        <p:blipFill rotWithShape="1">
          <a:blip r:embed="rId4">
            <a:alphaModFix/>
          </a:blip>
          <a:srcRect b="0" l="0" r="0" t="0"/>
          <a:stretch/>
        </p:blipFill>
        <p:spPr>
          <a:xfrm>
            <a:off x="7863840" y="2276856"/>
            <a:ext cx="182880" cy="182880"/>
          </a:xfrm>
          <a:prstGeom prst="rect">
            <a:avLst/>
          </a:prstGeom>
          <a:noFill/>
          <a:ln>
            <a:noFill/>
          </a:ln>
        </p:spPr>
      </p:pic>
      <p:sp>
        <p:nvSpPr>
          <p:cNvPr id="437" name="Google Shape;437;p24"/>
          <p:cNvSpPr/>
          <p:nvPr/>
        </p:nvSpPr>
        <p:spPr>
          <a:xfrm>
            <a:off x="457200" y="2542032"/>
            <a:ext cx="8229600" cy="338328"/>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4"/>
          <p:cNvSpPr/>
          <p:nvPr/>
        </p:nvSpPr>
        <p:spPr>
          <a:xfrm>
            <a:off x="502920" y="2542032"/>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Menores Requisitos de Colateral</a:t>
            </a:r>
            <a:endParaRPr b="0" i="0" sz="950" u="none" cap="none" strike="noStrike">
              <a:solidFill>
                <a:schemeClr val="dk1"/>
              </a:solidFill>
              <a:latin typeface="Calibri"/>
              <a:ea typeface="Calibri"/>
              <a:cs typeface="Calibri"/>
              <a:sym typeface="Calibri"/>
            </a:endParaRPr>
          </a:p>
        </p:txBody>
      </p:sp>
      <p:pic>
        <p:nvPicPr>
          <p:cNvPr descr="preencoded.png" id="439" name="Google Shape;439;p24"/>
          <p:cNvPicPr preferRelativeResize="0"/>
          <p:nvPr/>
        </p:nvPicPr>
        <p:blipFill rotWithShape="1">
          <a:blip r:embed="rId3">
            <a:alphaModFix/>
          </a:blip>
          <a:srcRect b="0" l="0" r="0" t="0"/>
          <a:stretch/>
        </p:blipFill>
        <p:spPr>
          <a:xfrm>
            <a:off x="3246120" y="2615184"/>
            <a:ext cx="182880" cy="182880"/>
          </a:xfrm>
          <a:prstGeom prst="rect">
            <a:avLst/>
          </a:prstGeom>
          <a:noFill/>
          <a:ln>
            <a:noFill/>
          </a:ln>
        </p:spPr>
      </p:pic>
      <p:pic>
        <p:nvPicPr>
          <p:cNvPr descr="preencoded.png" id="440" name="Google Shape;440;p24"/>
          <p:cNvPicPr preferRelativeResize="0"/>
          <p:nvPr/>
        </p:nvPicPr>
        <p:blipFill rotWithShape="1">
          <a:blip r:embed="rId3">
            <a:alphaModFix/>
          </a:blip>
          <a:srcRect b="0" l="0" r="0" t="0"/>
          <a:stretch/>
        </p:blipFill>
        <p:spPr>
          <a:xfrm>
            <a:off x="4869180" y="2615184"/>
            <a:ext cx="182880" cy="182880"/>
          </a:xfrm>
          <a:prstGeom prst="rect">
            <a:avLst/>
          </a:prstGeom>
          <a:noFill/>
          <a:ln>
            <a:noFill/>
          </a:ln>
        </p:spPr>
      </p:pic>
      <p:pic>
        <p:nvPicPr>
          <p:cNvPr descr="preencoded.png" id="441" name="Google Shape;441;p24"/>
          <p:cNvPicPr preferRelativeResize="0"/>
          <p:nvPr/>
        </p:nvPicPr>
        <p:blipFill rotWithShape="1">
          <a:blip r:embed="rId4">
            <a:alphaModFix/>
          </a:blip>
          <a:srcRect b="0" l="0" r="0" t="0"/>
          <a:stretch/>
        </p:blipFill>
        <p:spPr>
          <a:xfrm>
            <a:off x="6332220" y="2615184"/>
            <a:ext cx="182880" cy="182880"/>
          </a:xfrm>
          <a:prstGeom prst="rect">
            <a:avLst/>
          </a:prstGeom>
          <a:noFill/>
          <a:ln>
            <a:noFill/>
          </a:ln>
        </p:spPr>
      </p:pic>
      <p:pic>
        <p:nvPicPr>
          <p:cNvPr descr="preencoded.png" id="442" name="Google Shape;442;p24"/>
          <p:cNvPicPr preferRelativeResize="0"/>
          <p:nvPr/>
        </p:nvPicPr>
        <p:blipFill rotWithShape="1">
          <a:blip r:embed="rId4">
            <a:alphaModFix/>
          </a:blip>
          <a:srcRect b="0" l="0" r="0" t="0"/>
          <a:stretch/>
        </p:blipFill>
        <p:spPr>
          <a:xfrm>
            <a:off x="7863840" y="2615184"/>
            <a:ext cx="182880" cy="182880"/>
          </a:xfrm>
          <a:prstGeom prst="rect">
            <a:avLst/>
          </a:prstGeom>
          <a:noFill/>
          <a:ln>
            <a:noFill/>
          </a:ln>
        </p:spPr>
      </p:pic>
      <p:sp>
        <p:nvSpPr>
          <p:cNvPr id="443" name="Google Shape;443;p24"/>
          <p:cNvSpPr/>
          <p:nvPr/>
        </p:nvSpPr>
        <p:spPr>
          <a:xfrm>
            <a:off x="502920" y="2880360"/>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Sin Intereses Cobrados a PYMES</a:t>
            </a:r>
            <a:endParaRPr b="0" i="0" sz="950" u="none" cap="none" strike="noStrike">
              <a:solidFill>
                <a:schemeClr val="dk1"/>
              </a:solidFill>
              <a:latin typeface="Calibri"/>
              <a:ea typeface="Calibri"/>
              <a:cs typeface="Calibri"/>
              <a:sym typeface="Calibri"/>
            </a:endParaRPr>
          </a:p>
        </p:txBody>
      </p:sp>
      <p:pic>
        <p:nvPicPr>
          <p:cNvPr descr="preencoded.png" id="444" name="Google Shape;444;p24"/>
          <p:cNvPicPr preferRelativeResize="0"/>
          <p:nvPr/>
        </p:nvPicPr>
        <p:blipFill rotWithShape="1">
          <a:blip r:embed="rId3">
            <a:alphaModFix/>
          </a:blip>
          <a:srcRect b="0" l="0" r="0" t="0"/>
          <a:stretch/>
        </p:blipFill>
        <p:spPr>
          <a:xfrm>
            <a:off x="3246120" y="2953512"/>
            <a:ext cx="182880" cy="182880"/>
          </a:xfrm>
          <a:prstGeom prst="rect">
            <a:avLst/>
          </a:prstGeom>
          <a:noFill/>
          <a:ln>
            <a:noFill/>
          </a:ln>
        </p:spPr>
      </p:pic>
      <p:pic>
        <p:nvPicPr>
          <p:cNvPr descr="preencoded.png" id="445" name="Google Shape;445;p24"/>
          <p:cNvPicPr preferRelativeResize="0"/>
          <p:nvPr/>
        </p:nvPicPr>
        <p:blipFill rotWithShape="1">
          <a:blip r:embed="rId4">
            <a:alphaModFix/>
          </a:blip>
          <a:srcRect b="0" l="0" r="0" t="0"/>
          <a:stretch/>
        </p:blipFill>
        <p:spPr>
          <a:xfrm>
            <a:off x="4869180" y="2953512"/>
            <a:ext cx="182880" cy="182880"/>
          </a:xfrm>
          <a:prstGeom prst="rect">
            <a:avLst/>
          </a:prstGeom>
          <a:noFill/>
          <a:ln>
            <a:noFill/>
          </a:ln>
        </p:spPr>
      </p:pic>
      <p:pic>
        <p:nvPicPr>
          <p:cNvPr descr="preencoded.png" id="446" name="Google Shape;446;p24"/>
          <p:cNvPicPr preferRelativeResize="0"/>
          <p:nvPr/>
        </p:nvPicPr>
        <p:blipFill rotWithShape="1">
          <a:blip r:embed="rId4">
            <a:alphaModFix/>
          </a:blip>
          <a:srcRect b="0" l="0" r="0" t="0"/>
          <a:stretch/>
        </p:blipFill>
        <p:spPr>
          <a:xfrm>
            <a:off x="6332220" y="2953512"/>
            <a:ext cx="182880" cy="182880"/>
          </a:xfrm>
          <a:prstGeom prst="rect">
            <a:avLst/>
          </a:prstGeom>
          <a:noFill/>
          <a:ln>
            <a:noFill/>
          </a:ln>
        </p:spPr>
      </p:pic>
      <p:pic>
        <p:nvPicPr>
          <p:cNvPr descr="preencoded.png" id="447" name="Google Shape;447;p24"/>
          <p:cNvPicPr preferRelativeResize="0"/>
          <p:nvPr/>
        </p:nvPicPr>
        <p:blipFill rotWithShape="1">
          <a:blip r:embed="rId4">
            <a:alphaModFix/>
          </a:blip>
          <a:srcRect b="0" l="0" r="0" t="0"/>
          <a:stretch/>
        </p:blipFill>
        <p:spPr>
          <a:xfrm>
            <a:off x="7863840" y="2953512"/>
            <a:ext cx="182880" cy="182880"/>
          </a:xfrm>
          <a:prstGeom prst="rect">
            <a:avLst/>
          </a:prstGeom>
          <a:noFill/>
          <a:ln>
            <a:noFill/>
          </a:ln>
        </p:spPr>
      </p:pic>
      <p:sp>
        <p:nvSpPr>
          <p:cNvPr id="448" name="Google Shape;448;p24"/>
          <p:cNvSpPr/>
          <p:nvPr/>
        </p:nvSpPr>
        <p:spPr>
          <a:xfrm>
            <a:off x="457200" y="3218688"/>
            <a:ext cx="8229600" cy="338328"/>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4"/>
          <p:cNvSpPr/>
          <p:nvPr/>
        </p:nvSpPr>
        <p:spPr>
          <a:xfrm>
            <a:off x="502920" y="3218688"/>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Conectividad Global de Pagos</a:t>
            </a:r>
            <a:endParaRPr b="0" i="0" sz="950" u="none" cap="none" strike="noStrike">
              <a:solidFill>
                <a:schemeClr val="dk1"/>
              </a:solidFill>
              <a:latin typeface="Calibri"/>
              <a:ea typeface="Calibri"/>
              <a:cs typeface="Calibri"/>
              <a:sym typeface="Calibri"/>
            </a:endParaRPr>
          </a:p>
        </p:txBody>
      </p:sp>
      <p:pic>
        <p:nvPicPr>
          <p:cNvPr descr="preencoded.png" id="450" name="Google Shape;450;p24"/>
          <p:cNvPicPr preferRelativeResize="0"/>
          <p:nvPr/>
        </p:nvPicPr>
        <p:blipFill rotWithShape="1">
          <a:blip r:embed="rId3">
            <a:alphaModFix/>
          </a:blip>
          <a:srcRect b="0" l="0" r="0" t="0"/>
          <a:stretch/>
        </p:blipFill>
        <p:spPr>
          <a:xfrm>
            <a:off x="3246120" y="3291840"/>
            <a:ext cx="182880" cy="182880"/>
          </a:xfrm>
          <a:prstGeom prst="rect">
            <a:avLst/>
          </a:prstGeom>
          <a:noFill/>
          <a:ln>
            <a:noFill/>
          </a:ln>
        </p:spPr>
      </p:pic>
      <p:pic>
        <p:nvPicPr>
          <p:cNvPr descr="preencoded.png" id="451" name="Google Shape;451;p24"/>
          <p:cNvPicPr preferRelativeResize="0"/>
          <p:nvPr/>
        </p:nvPicPr>
        <p:blipFill rotWithShape="1">
          <a:blip r:embed="rId4">
            <a:alphaModFix/>
          </a:blip>
          <a:srcRect b="0" l="0" r="0" t="0"/>
          <a:stretch/>
        </p:blipFill>
        <p:spPr>
          <a:xfrm>
            <a:off x="4869180" y="3291840"/>
            <a:ext cx="182880" cy="182880"/>
          </a:xfrm>
          <a:prstGeom prst="rect">
            <a:avLst/>
          </a:prstGeom>
          <a:noFill/>
          <a:ln>
            <a:noFill/>
          </a:ln>
        </p:spPr>
      </p:pic>
      <p:pic>
        <p:nvPicPr>
          <p:cNvPr descr="preencoded.png" id="452" name="Google Shape;452;p24"/>
          <p:cNvPicPr preferRelativeResize="0"/>
          <p:nvPr/>
        </p:nvPicPr>
        <p:blipFill rotWithShape="1">
          <a:blip r:embed="rId4">
            <a:alphaModFix/>
          </a:blip>
          <a:srcRect b="0" l="0" r="0" t="0"/>
          <a:stretch/>
        </p:blipFill>
        <p:spPr>
          <a:xfrm>
            <a:off x="6332220" y="3291840"/>
            <a:ext cx="182880" cy="182880"/>
          </a:xfrm>
          <a:prstGeom prst="rect">
            <a:avLst/>
          </a:prstGeom>
          <a:noFill/>
          <a:ln>
            <a:noFill/>
          </a:ln>
        </p:spPr>
      </p:pic>
      <p:pic>
        <p:nvPicPr>
          <p:cNvPr descr="preencoded.png" id="453" name="Google Shape;453;p24"/>
          <p:cNvPicPr preferRelativeResize="0"/>
          <p:nvPr/>
        </p:nvPicPr>
        <p:blipFill rotWithShape="1">
          <a:blip r:embed="rId3">
            <a:alphaModFix/>
          </a:blip>
          <a:srcRect b="0" l="0" r="0" t="0"/>
          <a:stretch/>
        </p:blipFill>
        <p:spPr>
          <a:xfrm>
            <a:off x="7863840" y="3291840"/>
            <a:ext cx="182880" cy="182880"/>
          </a:xfrm>
          <a:prstGeom prst="rect">
            <a:avLst/>
          </a:prstGeom>
          <a:noFill/>
          <a:ln>
            <a:noFill/>
          </a:ln>
        </p:spPr>
      </p:pic>
      <p:sp>
        <p:nvSpPr>
          <p:cNvPr id="454" name="Google Shape;454;p24"/>
          <p:cNvSpPr/>
          <p:nvPr/>
        </p:nvSpPr>
        <p:spPr>
          <a:xfrm>
            <a:off x="502920" y="3557016"/>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Acceso Directo a Comerciantes</a:t>
            </a:r>
            <a:endParaRPr b="0" i="0" sz="950" u="none" cap="none" strike="noStrike">
              <a:solidFill>
                <a:schemeClr val="dk1"/>
              </a:solidFill>
              <a:latin typeface="Calibri"/>
              <a:ea typeface="Calibri"/>
              <a:cs typeface="Calibri"/>
              <a:sym typeface="Calibri"/>
            </a:endParaRPr>
          </a:p>
        </p:txBody>
      </p:sp>
      <p:pic>
        <p:nvPicPr>
          <p:cNvPr descr="preencoded.png" id="455" name="Google Shape;455;p24"/>
          <p:cNvPicPr preferRelativeResize="0"/>
          <p:nvPr/>
        </p:nvPicPr>
        <p:blipFill rotWithShape="1">
          <a:blip r:embed="rId3">
            <a:alphaModFix/>
          </a:blip>
          <a:srcRect b="0" l="0" r="0" t="0"/>
          <a:stretch/>
        </p:blipFill>
        <p:spPr>
          <a:xfrm>
            <a:off x="3246120" y="3630168"/>
            <a:ext cx="182880" cy="182880"/>
          </a:xfrm>
          <a:prstGeom prst="rect">
            <a:avLst/>
          </a:prstGeom>
          <a:noFill/>
          <a:ln>
            <a:noFill/>
          </a:ln>
        </p:spPr>
      </p:pic>
      <p:pic>
        <p:nvPicPr>
          <p:cNvPr descr="preencoded.png" id="456" name="Google Shape;456;p24"/>
          <p:cNvPicPr preferRelativeResize="0"/>
          <p:nvPr/>
        </p:nvPicPr>
        <p:blipFill rotWithShape="1">
          <a:blip r:embed="rId4">
            <a:alphaModFix/>
          </a:blip>
          <a:srcRect b="0" l="0" r="0" t="0"/>
          <a:stretch/>
        </p:blipFill>
        <p:spPr>
          <a:xfrm>
            <a:off x="4869180" y="3630168"/>
            <a:ext cx="182880" cy="182880"/>
          </a:xfrm>
          <a:prstGeom prst="rect">
            <a:avLst/>
          </a:prstGeom>
          <a:noFill/>
          <a:ln>
            <a:noFill/>
          </a:ln>
        </p:spPr>
      </p:pic>
      <p:pic>
        <p:nvPicPr>
          <p:cNvPr descr="preencoded.png" id="457" name="Google Shape;457;p24"/>
          <p:cNvPicPr preferRelativeResize="0"/>
          <p:nvPr/>
        </p:nvPicPr>
        <p:blipFill rotWithShape="1">
          <a:blip r:embed="rId4">
            <a:alphaModFix/>
          </a:blip>
          <a:srcRect b="0" l="0" r="0" t="0"/>
          <a:stretch/>
        </p:blipFill>
        <p:spPr>
          <a:xfrm>
            <a:off x="6332220" y="3630168"/>
            <a:ext cx="182880" cy="182880"/>
          </a:xfrm>
          <a:prstGeom prst="rect">
            <a:avLst/>
          </a:prstGeom>
          <a:noFill/>
          <a:ln>
            <a:noFill/>
          </a:ln>
        </p:spPr>
      </p:pic>
      <p:pic>
        <p:nvPicPr>
          <p:cNvPr descr="preencoded.png" id="458" name="Google Shape;458;p24"/>
          <p:cNvPicPr preferRelativeResize="0"/>
          <p:nvPr/>
        </p:nvPicPr>
        <p:blipFill rotWithShape="1">
          <a:blip r:embed="rId4">
            <a:alphaModFix/>
          </a:blip>
          <a:srcRect b="0" l="0" r="0" t="0"/>
          <a:stretch/>
        </p:blipFill>
        <p:spPr>
          <a:xfrm>
            <a:off x="7863840" y="3630168"/>
            <a:ext cx="182880" cy="182880"/>
          </a:xfrm>
          <a:prstGeom prst="rect">
            <a:avLst/>
          </a:prstGeom>
          <a:noFill/>
          <a:ln>
            <a:noFill/>
          </a:ln>
        </p:spPr>
      </p:pic>
      <p:sp>
        <p:nvSpPr>
          <p:cNvPr id="459" name="Google Shape;459;p24"/>
          <p:cNvSpPr/>
          <p:nvPr/>
        </p:nvSpPr>
        <p:spPr>
          <a:xfrm>
            <a:off x="457200" y="3895344"/>
            <a:ext cx="8229600" cy="338328"/>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4"/>
          <p:cNvSpPr/>
          <p:nvPr/>
        </p:nvSpPr>
        <p:spPr>
          <a:xfrm>
            <a:off x="502920" y="3895344"/>
            <a:ext cx="18288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950"/>
              <a:buFont typeface="Arial"/>
              <a:buNone/>
            </a:pPr>
            <a:r>
              <a:rPr b="0" i="0" lang="en-US" sz="950" u="none" cap="none" strike="noStrike">
                <a:solidFill>
                  <a:srgbClr val="1A2332"/>
                </a:solidFill>
                <a:latin typeface="Arial"/>
                <a:ea typeface="Arial"/>
                <a:cs typeface="Arial"/>
                <a:sym typeface="Arial"/>
              </a:rPr>
              <a:t>Hybrid (Crypto &amp; Non-Crypto)</a:t>
            </a:r>
            <a:endParaRPr b="0" i="0" sz="950" u="none" cap="none" strike="noStrike">
              <a:solidFill>
                <a:schemeClr val="dk1"/>
              </a:solidFill>
              <a:latin typeface="Calibri"/>
              <a:ea typeface="Calibri"/>
              <a:cs typeface="Calibri"/>
              <a:sym typeface="Calibri"/>
            </a:endParaRPr>
          </a:p>
        </p:txBody>
      </p:sp>
      <p:pic>
        <p:nvPicPr>
          <p:cNvPr descr="preencoded.png" id="461" name="Google Shape;461;p24"/>
          <p:cNvPicPr preferRelativeResize="0"/>
          <p:nvPr/>
        </p:nvPicPr>
        <p:blipFill rotWithShape="1">
          <a:blip r:embed="rId3">
            <a:alphaModFix/>
          </a:blip>
          <a:srcRect b="0" l="0" r="0" t="0"/>
          <a:stretch/>
        </p:blipFill>
        <p:spPr>
          <a:xfrm>
            <a:off x="3246120" y="3968496"/>
            <a:ext cx="182880" cy="182880"/>
          </a:xfrm>
          <a:prstGeom prst="rect">
            <a:avLst/>
          </a:prstGeom>
          <a:noFill/>
          <a:ln>
            <a:noFill/>
          </a:ln>
        </p:spPr>
      </p:pic>
      <p:pic>
        <p:nvPicPr>
          <p:cNvPr descr="preencoded.png" id="462" name="Google Shape;462;p24"/>
          <p:cNvPicPr preferRelativeResize="0"/>
          <p:nvPr/>
        </p:nvPicPr>
        <p:blipFill rotWithShape="1">
          <a:blip r:embed="rId4">
            <a:alphaModFix/>
          </a:blip>
          <a:srcRect b="0" l="0" r="0" t="0"/>
          <a:stretch/>
        </p:blipFill>
        <p:spPr>
          <a:xfrm>
            <a:off x="4869180" y="3968496"/>
            <a:ext cx="182880" cy="182880"/>
          </a:xfrm>
          <a:prstGeom prst="rect">
            <a:avLst/>
          </a:prstGeom>
          <a:noFill/>
          <a:ln>
            <a:noFill/>
          </a:ln>
        </p:spPr>
      </p:pic>
      <p:pic>
        <p:nvPicPr>
          <p:cNvPr descr="preencoded.png" id="463" name="Google Shape;463;p24"/>
          <p:cNvPicPr preferRelativeResize="0"/>
          <p:nvPr/>
        </p:nvPicPr>
        <p:blipFill rotWithShape="1">
          <a:blip r:embed="rId3">
            <a:alphaModFix/>
          </a:blip>
          <a:srcRect b="0" l="0" r="0" t="0"/>
          <a:stretch/>
        </p:blipFill>
        <p:spPr>
          <a:xfrm>
            <a:off x="6332220" y="3968496"/>
            <a:ext cx="182880" cy="182880"/>
          </a:xfrm>
          <a:prstGeom prst="rect">
            <a:avLst/>
          </a:prstGeom>
          <a:noFill/>
          <a:ln>
            <a:noFill/>
          </a:ln>
        </p:spPr>
      </p:pic>
      <p:pic>
        <p:nvPicPr>
          <p:cNvPr descr="preencoded.png" id="464" name="Google Shape;464;p24"/>
          <p:cNvPicPr preferRelativeResize="0"/>
          <p:nvPr/>
        </p:nvPicPr>
        <p:blipFill rotWithShape="1">
          <a:blip r:embed="rId4">
            <a:alphaModFix/>
          </a:blip>
          <a:srcRect b="0" l="0" r="0" t="0"/>
          <a:stretch/>
        </p:blipFill>
        <p:spPr>
          <a:xfrm>
            <a:off x="7863840" y="3968496"/>
            <a:ext cx="182880" cy="182880"/>
          </a:xfrm>
          <a:prstGeom prst="rect">
            <a:avLst/>
          </a:prstGeom>
          <a:noFill/>
          <a:ln>
            <a:noFill/>
          </a:ln>
        </p:spPr>
      </p:pic>
      <p:sp>
        <p:nvSpPr>
          <p:cNvPr id="465" name="Google Shape;465;p24"/>
          <p:cNvSpPr/>
          <p:nvPr/>
        </p:nvSpPr>
        <p:spPr>
          <a:xfrm>
            <a:off x="457200" y="4297680"/>
            <a:ext cx="8229600" cy="64008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4"/>
          <p:cNvSpPr/>
          <p:nvPr/>
        </p:nvSpPr>
        <p:spPr>
          <a:xfrm>
            <a:off x="640080" y="429768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050"/>
              <a:buFont typeface="Arial"/>
              <a:buNone/>
            </a:pPr>
            <a:r>
              <a:rPr b="1" i="0" lang="en-US" sz="1050" u="none" cap="none" strike="noStrike">
                <a:solidFill>
                  <a:srgbClr val="0C5392"/>
                </a:solidFill>
                <a:latin typeface="Arial"/>
                <a:ea typeface="Arial"/>
                <a:cs typeface="Arial"/>
                <a:sym typeface="Arial"/>
              </a:rPr>
              <a:t>Diferenciador Clave: </a:t>
            </a:r>
            <a:r>
              <a:rPr b="0" i="0" lang="en-US" sz="1000" u="none" cap="none" strike="noStrike">
                <a:solidFill>
                  <a:srgbClr val="CCDDEE"/>
                </a:solidFill>
                <a:latin typeface="Arial"/>
                <a:ea typeface="Arial"/>
                <a:cs typeface="Arial"/>
                <a:sym typeface="Arial"/>
              </a:rPr>
              <a:t>Los competidores prestan capital (Drip Capital, bancos) o facilitan financiamiento de terceros (Centrifuge). Skyocean posee la mercancía, controla la cadena de suministro y gana margen de la operación comercial — no de intereses. Plataformas fallidas (TradeLens, Marco Polo, we.trade) no poseían la cadena de valor. Nosotros sí.</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471" name="Shape 471"/>
        <p:cNvGrpSpPr/>
        <p:nvPr/>
      </p:nvGrpSpPr>
      <p:grpSpPr>
        <a:xfrm>
          <a:off x="0" y="0"/>
          <a:ext cx="0" cy="0"/>
          <a:chOff x="0" y="0"/>
          <a:chExt cx="0" cy="0"/>
        </a:xfrm>
      </p:grpSpPr>
      <p:sp>
        <p:nvSpPr>
          <p:cNvPr id="472" name="Google Shape;472;p25"/>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5"/>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Gestión de Riesgos</a:t>
            </a:r>
            <a:endParaRPr b="0" i="0" sz="2800" u="none" cap="none" strike="noStrike">
              <a:solidFill>
                <a:schemeClr val="dk1"/>
              </a:solidFill>
              <a:latin typeface="Calibri"/>
              <a:ea typeface="Calibri"/>
              <a:cs typeface="Calibri"/>
              <a:sym typeface="Calibri"/>
            </a:endParaRPr>
          </a:p>
        </p:txBody>
      </p:sp>
      <p:sp>
        <p:nvSpPr>
          <p:cNvPr id="474" name="Google Shape;474;p25"/>
          <p:cNvSpPr/>
          <p:nvPr/>
        </p:nvSpPr>
        <p:spPr>
          <a:xfrm>
            <a:off x="457200" y="822960"/>
            <a:ext cx="2606040" cy="1783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5"/>
          <p:cNvSpPr/>
          <p:nvPr/>
        </p:nvSpPr>
        <p:spPr>
          <a:xfrm>
            <a:off x="457200" y="822960"/>
            <a:ext cx="2606040" cy="54864"/>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5"/>
          <p:cNvSpPr/>
          <p:nvPr/>
        </p:nvSpPr>
        <p:spPr>
          <a:xfrm>
            <a:off x="594360" y="100584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Incumplimiento del Comprador</a:t>
            </a:r>
            <a:endParaRPr b="0" i="0" sz="1200" u="none" cap="none" strike="noStrike">
              <a:solidFill>
                <a:schemeClr val="dk1"/>
              </a:solidFill>
              <a:latin typeface="Calibri"/>
              <a:ea typeface="Calibri"/>
              <a:cs typeface="Calibri"/>
              <a:sym typeface="Calibri"/>
            </a:endParaRPr>
          </a:p>
        </p:txBody>
      </p:sp>
      <p:sp>
        <p:nvSpPr>
          <p:cNvPr id="477" name="Google Shape;477;p25"/>
          <p:cNvSpPr/>
          <p:nvPr/>
        </p:nvSpPr>
        <p:spPr>
          <a:xfrm>
            <a:off x="594360" y="1325880"/>
            <a:ext cx="2331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Auto-consignación: Skyocean retiene el título de los bienes. Si el comprador incumple = bienes revendidos al siguiente comprador. Sin pérdida de capital.</a:t>
            </a:r>
            <a:endParaRPr b="0" i="0" sz="950" u="none" cap="none" strike="noStrike">
              <a:solidFill>
                <a:schemeClr val="dk1"/>
              </a:solidFill>
              <a:latin typeface="Calibri"/>
              <a:ea typeface="Calibri"/>
              <a:cs typeface="Calibri"/>
              <a:sym typeface="Calibri"/>
            </a:endParaRPr>
          </a:p>
        </p:txBody>
      </p:sp>
      <p:sp>
        <p:nvSpPr>
          <p:cNvPr id="478" name="Google Shape;478;p25"/>
          <p:cNvSpPr/>
          <p:nvPr/>
        </p:nvSpPr>
        <p:spPr>
          <a:xfrm>
            <a:off x="3291840" y="822960"/>
            <a:ext cx="2606040" cy="1783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p:nvPr/>
        </p:nvSpPr>
        <p:spPr>
          <a:xfrm>
            <a:off x="3291840" y="822960"/>
            <a:ext cx="2606040" cy="54864"/>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5"/>
          <p:cNvSpPr/>
          <p:nvPr/>
        </p:nvSpPr>
        <p:spPr>
          <a:xfrm>
            <a:off x="3429000" y="100584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Seguridad (Sudán)</a:t>
            </a:r>
            <a:endParaRPr b="0" i="0" sz="1200" u="none" cap="none" strike="noStrike">
              <a:solidFill>
                <a:schemeClr val="dk1"/>
              </a:solidFill>
              <a:latin typeface="Calibri"/>
              <a:ea typeface="Calibri"/>
              <a:cs typeface="Calibri"/>
              <a:sym typeface="Calibri"/>
            </a:endParaRPr>
          </a:p>
        </p:txBody>
      </p:sp>
      <p:sp>
        <p:nvSpPr>
          <p:cNvPr id="481" name="Google Shape;481;p25"/>
          <p:cNvSpPr/>
          <p:nvPr/>
        </p:nvSpPr>
        <p:spPr>
          <a:xfrm>
            <a:off x="3429000" y="1325880"/>
            <a:ext cx="2331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Puerto Sudán bajo control de SAF. Riesgo de guerra + seguro de carga marítima. Ruta de respaldo por Egipto verificada. Modelo de primero en llegar primero en ser servido.</a:t>
            </a:r>
            <a:endParaRPr b="0" i="0" sz="950" u="none" cap="none" strike="noStrike">
              <a:solidFill>
                <a:schemeClr val="dk1"/>
              </a:solidFill>
              <a:latin typeface="Calibri"/>
              <a:ea typeface="Calibri"/>
              <a:cs typeface="Calibri"/>
              <a:sym typeface="Calibri"/>
            </a:endParaRPr>
          </a:p>
        </p:txBody>
      </p:sp>
      <p:sp>
        <p:nvSpPr>
          <p:cNvPr id="482" name="Google Shape;482;p25"/>
          <p:cNvSpPr/>
          <p:nvPr/>
        </p:nvSpPr>
        <p:spPr>
          <a:xfrm>
            <a:off x="6126480" y="822960"/>
            <a:ext cx="2606040" cy="1783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5"/>
          <p:cNvSpPr/>
          <p:nvPr/>
        </p:nvSpPr>
        <p:spPr>
          <a:xfrm>
            <a:off x="6126480" y="822960"/>
            <a:ext cx="2606040" cy="54864"/>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p:nvPr/>
        </p:nvSpPr>
        <p:spPr>
          <a:xfrm>
            <a:off x="6263640" y="100584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Precio del Commodity</a:t>
            </a:r>
            <a:endParaRPr b="0" i="0" sz="1200" u="none" cap="none" strike="noStrike">
              <a:solidFill>
                <a:schemeClr val="dk1"/>
              </a:solidFill>
              <a:latin typeface="Calibri"/>
              <a:ea typeface="Calibri"/>
              <a:cs typeface="Calibri"/>
              <a:sym typeface="Calibri"/>
            </a:endParaRPr>
          </a:p>
        </p:txBody>
      </p:sp>
      <p:sp>
        <p:nvSpPr>
          <p:cNvPr id="485" name="Google Shape;485;p25"/>
          <p:cNvSpPr/>
          <p:nvPr/>
        </p:nvSpPr>
        <p:spPr>
          <a:xfrm>
            <a:off x="6263640" y="1325880"/>
            <a:ext cx="2331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Ciclos cortos (45–60 días). Bienes esenciales con demanda estable (trigo, azúcar, lácteos). Ventana mínima de exposición al precio.</a:t>
            </a:r>
            <a:endParaRPr b="0" i="0" sz="950" u="none" cap="none" strike="noStrike">
              <a:solidFill>
                <a:schemeClr val="dk1"/>
              </a:solidFill>
              <a:latin typeface="Calibri"/>
              <a:ea typeface="Calibri"/>
              <a:cs typeface="Calibri"/>
              <a:sym typeface="Calibri"/>
            </a:endParaRPr>
          </a:p>
        </p:txBody>
      </p:sp>
      <p:sp>
        <p:nvSpPr>
          <p:cNvPr id="486" name="Google Shape;486;p25"/>
          <p:cNvSpPr/>
          <p:nvPr/>
        </p:nvSpPr>
        <p:spPr>
          <a:xfrm>
            <a:off x="457200" y="2788920"/>
            <a:ext cx="2606040" cy="1783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p:nvPr/>
        </p:nvSpPr>
        <p:spPr>
          <a:xfrm>
            <a:off x="457200" y="2788920"/>
            <a:ext cx="2606040" cy="54864"/>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5"/>
          <p:cNvSpPr/>
          <p:nvPr/>
        </p:nvSpPr>
        <p:spPr>
          <a:xfrm>
            <a:off x="594360" y="297180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Financiero / FX</a:t>
            </a:r>
            <a:endParaRPr b="0" i="0" sz="1200" u="none" cap="none" strike="noStrike">
              <a:solidFill>
                <a:schemeClr val="dk1"/>
              </a:solidFill>
              <a:latin typeface="Calibri"/>
              <a:ea typeface="Calibri"/>
              <a:cs typeface="Calibri"/>
              <a:sym typeface="Calibri"/>
            </a:endParaRPr>
          </a:p>
        </p:txBody>
      </p:sp>
      <p:sp>
        <p:nvSpPr>
          <p:cNvPr id="489" name="Google Shape;489;p25"/>
          <p:cNvSpPr/>
          <p:nvPr/>
        </p:nvSpPr>
        <p:spPr>
          <a:xfrm>
            <a:off x="594360" y="3291840"/>
            <a:ext cx="2331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Todos los contratos denominados en USD. Sin exposición a moneda local. Oro aceptado como alternativa en mercados seleccionados.</a:t>
            </a:r>
            <a:endParaRPr b="0" i="0" sz="950" u="none" cap="none" strike="noStrike">
              <a:solidFill>
                <a:schemeClr val="dk1"/>
              </a:solidFill>
              <a:latin typeface="Calibri"/>
              <a:ea typeface="Calibri"/>
              <a:cs typeface="Calibri"/>
              <a:sym typeface="Calibri"/>
            </a:endParaRPr>
          </a:p>
        </p:txBody>
      </p:sp>
      <p:sp>
        <p:nvSpPr>
          <p:cNvPr id="490" name="Google Shape;490;p25"/>
          <p:cNvSpPr/>
          <p:nvPr/>
        </p:nvSpPr>
        <p:spPr>
          <a:xfrm>
            <a:off x="3291840" y="2788920"/>
            <a:ext cx="2606040" cy="1783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5"/>
          <p:cNvSpPr/>
          <p:nvPr/>
        </p:nvSpPr>
        <p:spPr>
          <a:xfrm>
            <a:off x="3291840" y="2788920"/>
            <a:ext cx="2606040" cy="54864"/>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5"/>
          <p:cNvSpPr/>
          <p:nvPr/>
        </p:nvSpPr>
        <p:spPr>
          <a:xfrm>
            <a:off x="3429000" y="297180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Calidad / Disputas</a:t>
            </a:r>
            <a:endParaRPr b="0" i="0" sz="1200" u="none" cap="none" strike="noStrike">
              <a:solidFill>
                <a:schemeClr val="dk1"/>
              </a:solidFill>
              <a:latin typeface="Calibri"/>
              <a:ea typeface="Calibri"/>
              <a:cs typeface="Calibri"/>
              <a:sym typeface="Calibri"/>
            </a:endParaRPr>
          </a:p>
        </p:txBody>
      </p:sp>
      <p:sp>
        <p:nvSpPr>
          <p:cNvPr id="493" name="Google Shape;493;p25"/>
          <p:cNvSpPr/>
          <p:nvPr/>
        </p:nvSpPr>
        <p:spPr>
          <a:xfrm>
            <a:off x="3429000" y="3291840"/>
            <a:ext cx="2331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Inspección previa al embarque (SGS/Bureau Veritas). Inspector independiente. Cláusula de arbitraje ICC. Verificación digital.</a:t>
            </a:r>
            <a:endParaRPr b="0" i="0" sz="950" u="none" cap="none" strike="noStrike">
              <a:solidFill>
                <a:schemeClr val="dk1"/>
              </a:solidFill>
              <a:latin typeface="Calibri"/>
              <a:ea typeface="Calibri"/>
              <a:cs typeface="Calibri"/>
              <a:sym typeface="Calibri"/>
            </a:endParaRPr>
          </a:p>
        </p:txBody>
      </p:sp>
      <p:sp>
        <p:nvSpPr>
          <p:cNvPr id="494" name="Google Shape;494;p25"/>
          <p:cNvSpPr/>
          <p:nvPr/>
        </p:nvSpPr>
        <p:spPr>
          <a:xfrm>
            <a:off x="6126480" y="2788920"/>
            <a:ext cx="2606040" cy="17830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5"/>
          <p:cNvSpPr/>
          <p:nvPr/>
        </p:nvSpPr>
        <p:spPr>
          <a:xfrm>
            <a:off x="6126480" y="2788920"/>
            <a:ext cx="2606040" cy="54864"/>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p:nvPr/>
        </p:nvSpPr>
        <p:spPr>
          <a:xfrm>
            <a:off x="6263640" y="297180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Sanciones</a:t>
            </a:r>
            <a:endParaRPr b="0" i="0" sz="1200" u="none" cap="none" strike="noStrike">
              <a:solidFill>
                <a:schemeClr val="dk1"/>
              </a:solidFill>
              <a:latin typeface="Calibri"/>
              <a:ea typeface="Calibri"/>
              <a:cs typeface="Calibri"/>
              <a:sym typeface="Calibri"/>
            </a:endParaRPr>
          </a:p>
        </p:txBody>
      </p:sp>
      <p:sp>
        <p:nvSpPr>
          <p:cNvPr id="497" name="Google Shape;497;p25"/>
          <p:cNvSpPr/>
          <p:nvPr/>
        </p:nvSpPr>
        <p:spPr>
          <a:xfrm>
            <a:off x="6263640" y="3291840"/>
            <a:ext cx="2331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Arial"/>
              <a:buNone/>
            </a:pPr>
            <a:r>
              <a:rPr b="0" i="0" lang="en-US" sz="950" u="none" cap="none" strike="noStrike">
                <a:solidFill>
                  <a:srgbClr val="4A5568"/>
                </a:solidFill>
                <a:latin typeface="Arial"/>
                <a:ea typeface="Arial"/>
                <a:cs typeface="Arial"/>
                <a:sym typeface="Arial"/>
              </a:rPr>
              <a:t>Alimentos y bienes esenciales exentos de la mayoría de sanciones. Riguroso KYC/KYB en todas las partes. Cribado de lista SDN. Marco completo de cumplimiento.</a:t>
            </a:r>
            <a:endParaRPr b="0" i="0" sz="950" u="none" cap="none" strike="noStrike">
              <a:solidFill>
                <a:schemeClr val="dk1"/>
              </a:solidFill>
              <a:latin typeface="Calibri"/>
              <a:ea typeface="Calibri"/>
              <a:cs typeface="Calibri"/>
              <a:sym typeface="Calibri"/>
            </a:endParaRPr>
          </a:p>
        </p:txBody>
      </p:sp>
      <p:sp>
        <p:nvSpPr>
          <p:cNvPr id="498" name="Google Shape;498;p25"/>
          <p:cNvSpPr/>
          <p:nvPr/>
        </p:nvSpPr>
        <p:spPr>
          <a:xfrm>
            <a:off x="457200" y="4709160"/>
            <a:ext cx="8229600" cy="32004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5"/>
          <p:cNvSpPr/>
          <p:nvPr/>
        </p:nvSpPr>
        <p:spPr>
          <a:xfrm>
            <a:off x="640080" y="4709160"/>
            <a:ext cx="7863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000"/>
              <a:buFont typeface="Arial"/>
              <a:buNone/>
            </a:pPr>
            <a:r>
              <a:rPr b="1" i="0" lang="en-US" sz="1000" u="none" cap="none" strike="noStrike">
                <a:solidFill>
                  <a:srgbClr val="CCDDEE"/>
                </a:solidFill>
                <a:latin typeface="Arial"/>
                <a:ea typeface="Arial"/>
                <a:cs typeface="Arial"/>
                <a:sym typeface="Arial"/>
              </a:rPr>
              <a:t>Seguros: Carga Marítima ~1,5% + Riesgo de Guerra ~3% + Almacén ~0,5% = ~5% del valor de la carga (totalmente cubierto)</a:t>
            </a:r>
            <a:endParaRPr b="0" i="0" sz="1000" u="none" cap="none" strike="noStrike">
              <a:solidFill>
                <a:srgbClr val="CCDDEE"/>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504" name="Shape 504"/>
        <p:cNvGrpSpPr/>
        <p:nvPr/>
      </p:nvGrpSpPr>
      <p:grpSpPr>
        <a:xfrm>
          <a:off x="0" y="0"/>
          <a:ext cx="0" cy="0"/>
          <a:chOff x="0" y="0"/>
          <a:chExt cx="0" cy="0"/>
        </a:xfrm>
      </p:grpSpPr>
      <p:sp>
        <p:nvSpPr>
          <p:cNvPr id="505" name="Google Shape;505;p26"/>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6"/>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Equipo</a:t>
            </a:r>
            <a:endParaRPr b="0" i="0" sz="2800" u="none" cap="none" strike="noStrike">
              <a:solidFill>
                <a:schemeClr val="dk1"/>
              </a:solidFill>
              <a:latin typeface="Calibri"/>
              <a:ea typeface="Calibri"/>
              <a:cs typeface="Calibri"/>
              <a:sym typeface="Calibri"/>
            </a:endParaRPr>
          </a:p>
        </p:txBody>
      </p:sp>
      <p:sp>
        <p:nvSpPr>
          <p:cNvPr id="507" name="Google Shape;507;p26"/>
          <p:cNvSpPr/>
          <p:nvPr/>
        </p:nvSpPr>
        <p:spPr>
          <a:xfrm>
            <a:off x="1219049" y="923549"/>
            <a:ext cx="6705900" cy="3796800"/>
          </a:xfrm>
          <a:prstGeom prst="roundRect">
            <a:avLst>
              <a:gd fmla="val 16667" name="adj"/>
            </a:avLst>
          </a:prstGeom>
          <a:gradFill>
            <a:gsLst>
              <a:gs pos="0">
                <a:srgbClr val="1076D2"/>
              </a:gs>
              <a:gs pos="100000">
                <a:srgbClr val="093053"/>
              </a:gs>
            </a:gsLst>
            <a:path path="circle">
              <a:fillToRect b="50%" l="50%" r="50%" t="50%"/>
            </a:path>
            <a:tileRect/>
          </a:gradFill>
          <a:ln cap="flat" cmpd="sng" w="18025">
            <a:solidFill>
              <a:srgbClr val="595959"/>
            </a:solidFill>
            <a:prstDash val="solid"/>
            <a:round/>
            <a:headEnd len="sm" w="sm" type="none"/>
            <a:tailEnd len="sm" w="sm" type="none"/>
          </a:ln>
        </p:spPr>
        <p:txBody>
          <a:bodyPr anchorCtr="0" anchor="ctr" bIns="173050" lIns="173050" spcFirstLastPara="1" rIns="173050" wrap="square" tIns="173050">
            <a:noAutofit/>
          </a:bodyPr>
          <a:lstStyle/>
          <a:p>
            <a:pPr indent="0" lvl="0" marL="0" marR="0" rtl="0" algn="ctr">
              <a:lnSpc>
                <a:spcPct val="100000"/>
              </a:lnSpc>
              <a:spcBef>
                <a:spcPts val="0"/>
              </a:spcBef>
              <a:spcAft>
                <a:spcPts val="0"/>
              </a:spcAft>
              <a:buNone/>
            </a:pPr>
            <a:r>
              <a:t/>
            </a:r>
            <a:endParaRPr sz="2650"/>
          </a:p>
        </p:txBody>
      </p:sp>
      <p:sp>
        <p:nvSpPr>
          <p:cNvPr id="508" name="Google Shape;508;p26"/>
          <p:cNvSpPr txBox="1"/>
          <p:nvPr/>
        </p:nvSpPr>
        <p:spPr>
          <a:xfrm>
            <a:off x="2815065" y="3441894"/>
            <a:ext cx="1731900" cy="751200"/>
          </a:xfrm>
          <a:prstGeom prst="rect">
            <a:avLst/>
          </a:prstGeom>
          <a:noFill/>
          <a:ln>
            <a:noFill/>
          </a:ln>
        </p:spPr>
        <p:txBody>
          <a:bodyPr anchorCtr="0" anchor="t" bIns="79050" lIns="79050" spcFirstLastPara="1" rIns="79050" wrap="square" tIns="79050">
            <a:noAutofit/>
          </a:bodyPr>
          <a:lstStyle/>
          <a:p>
            <a:pPr indent="0" lvl="0" marL="0" rtl="0" algn="ctr">
              <a:spcBef>
                <a:spcPts val="0"/>
              </a:spcBef>
              <a:spcAft>
                <a:spcPts val="0"/>
              </a:spcAft>
              <a:buNone/>
            </a:pPr>
            <a:r>
              <a:rPr b="1" lang="en-US" sz="1226">
                <a:solidFill>
                  <a:srgbClr val="FFFFFF"/>
                </a:solidFill>
                <a:latin typeface="Nunito Sans"/>
                <a:ea typeface="Nunito Sans"/>
                <a:cs typeface="Nunito Sans"/>
                <a:sym typeface="Nunito Sans"/>
              </a:rPr>
              <a:t>Alexey Deshin</a:t>
            </a:r>
            <a:br>
              <a:rPr b="1" lang="en-US" sz="1226">
                <a:solidFill>
                  <a:srgbClr val="FFFFFF"/>
                </a:solidFill>
                <a:latin typeface="Nunito Sans"/>
                <a:ea typeface="Nunito Sans"/>
                <a:cs typeface="Nunito Sans"/>
                <a:sym typeface="Nunito Sans"/>
              </a:rPr>
            </a:br>
            <a:r>
              <a:rPr b="1" lang="en-US" sz="1226">
                <a:solidFill>
                  <a:srgbClr val="FFFFFF"/>
                </a:solidFill>
                <a:latin typeface="Nunito Sans"/>
                <a:ea typeface="Nunito Sans"/>
                <a:cs typeface="Nunito Sans"/>
                <a:sym typeface="Nunito Sans"/>
              </a:rPr>
              <a:t>CGO/Advisor</a:t>
            </a:r>
            <a:endParaRPr b="1" sz="1226">
              <a:solidFill>
                <a:srgbClr val="FFFFFF"/>
              </a:solidFill>
              <a:latin typeface="Nunito Sans"/>
              <a:ea typeface="Nunito Sans"/>
              <a:cs typeface="Nunito Sans"/>
              <a:sym typeface="Nunito Sans"/>
            </a:endParaRPr>
          </a:p>
        </p:txBody>
      </p:sp>
      <p:pic>
        <p:nvPicPr>
          <p:cNvPr id="509" name="Google Shape;509;p26" title="seb pic Large.png"/>
          <p:cNvPicPr preferRelativeResize="0"/>
          <p:nvPr/>
        </p:nvPicPr>
        <p:blipFill>
          <a:blip r:embed="rId3">
            <a:alphaModFix/>
          </a:blip>
          <a:stretch>
            <a:fillRect/>
          </a:stretch>
        </p:blipFill>
        <p:spPr>
          <a:xfrm>
            <a:off x="1482769" y="2076004"/>
            <a:ext cx="1283700" cy="1283700"/>
          </a:xfrm>
          <a:prstGeom prst="ellipse">
            <a:avLst/>
          </a:prstGeom>
          <a:noFill/>
          <a:ln>
            <a:noFill/>
          </a:ln>
        </p:spPr>
      </p:pic>
      <p:pic>
        <p:nvPicPr>
          <p:cNvPr id="510" name="Google Shape;510;p26" title="andrius pic Large.png"/>
          <p:cNvPicPr preferRelativeResize="0"/>
          <p:nvPr/>
        </p:nvPicPr>
        <p:blipFill>
          <a:blip r:embed="rId4">
            <a:alphaModFix/>
          </a:blip>
          <a:stretch>
            <a:fillRect/>
          </a:stretch>
        </p:blipFill>
        <p:spPr>
          <a:xfrm>
            <a:off x="6269219" y="1125163"/>
            <a:ext cx="1062900" cy="1062900"/>
          </a:xfrm>
          <a:prstGeom prst="ellipse">
            <a:avLst/>
          </a:prstGeom>
          <a:noFill/>
          <a:ln>
            <a:noFill/>
          </a:ln>
        </p:spPr>
      </p:pic>
      <p:pic>
        <p:nvPicPr>
          <p:cNvPr id="511" name="Google Shape;511;p26" title="gaurav pic Large.png"/>
          <p:cNvPicPr preferRelativeResize="0"/>
          <p:nvPr/>
        </p:nvPicPr>
        <p:blipFill rotWithShape="1">
          <a:blip r:embed="rId5">
            <a:alphaModFix/>
          </a:blip>
          <a:srcRect b="20431" l="0" r="0" t="4758"/>
          <a:stretch/>
        </p:blipFill>
        <p:spPr>
          <a:xfrm>
            <a:off x="4654141" y="1016865"/>
            <a:ext cx="1283700" cy="1279500"/>
          </a:xfrm>
          <a:prstGeom prst="ellipse">
            <a:avLst/>
          </a:prstGeom>
          <a:noFill/>
          <a:ln>
            <a:noFill/>
          </a:ln>
        </p:spPr>
      </p:pic>
      <p:sp>
        <p:nvSpPr>
          <p:cNvPr id="512" name="Google Shape;512;p26"/>
          <p:cNvSpPr txBox="1"/>
          <p:nvPr/>
        </p:nvSpPr>
        <p:spPr>
          <a:xfrm>
            <a:off x="1258738" y="3441908"/>
            <a:ext cx="1731900" cy="751200"/>
          </a:xfrm>
          <a:prstGeom prst="rect">
            <a:avLst/>
          </a:prstGeom>
          <a:noFill/>
          <a:ln>
            <a:noFill/>
          </a:ln>
        </p:spPr>
        <p:txBody>
          <a:bodyPr anchorCtr="0" anchor="t" bIns="79050" lIns="79050" spcFirstLastPara="1" rIns="79050" wrap="square" tIns="79050">
            <a:noAutofit/>
          </a:bodyPr>
          <a:lstStyle/>
          <a:p>
            <a:pPr indent="0" lvl="0" marL="0" rtl="0" algn="ctr">
              <a:spcBef>
                <a:spcPts val="0"/>
              </a:spcBef>
              <a:spcAft>
                <a:spcPts val="0"/>
              </a:spcAft>
              <a:buNone/>
            </a:pPr>
            <a:r>
              <a:rPr b="1" lang="en-US" sz="1226">
                <a:solidFill>
                  <a:srgbClr val="FFFFFF"/>
                </a:solidFill>
                <a:latin typeface="Nunito Sans"/>
                <a:ea typeface="Nunito Sans"/>
                <a:cs typeface="Nunito Sans"/>
                <a:sym typeface="Nunito Sans"/>
              </a:rPr>
              <a:t>Sebastian Gonzalez</a:t>
            </a:r>
            <a:br>
              <a:rPr b="1" lang="en-US" sz="1226">
                <a:solidFill>
                  <a:srgbClr val="FFFFFF"/>
                </a:solidFill>
                <a:latin typeface="Nunito Sans"/>
                <a:ea typeface="Nunito Sans"/>
                <a:cs typeface="Nunito Sans"/>
                <a:sym typeface="Nunito Sans"/>
              </a:rPr>
            </a:br>
            <a:r>
              <a:rPr b="1" lang="en-US" sz="1226">
                <a:solidFill>
                  <a:srgbClr val="FFFFFF"/>
                </a:solidFill>
                <a:latin typeface="Nunito Sans"/>
                <a:ea typeface="Nunito Sans"/>
                <a:cs typeface="Nunito Sans"/>
                <a:sym typeface="Nunito Sans"/>
              </a:rPr>
              <a:t>CEO/Co-founder</a:t>
            </a:r>
            <a:endParaRPr b="1" sz="1226">
              <a:solidFill>
                <a:srgbClr val="FFFFFF"/>
              </a:solidFill>
              <a:latin typeface="Nunito Sans"/>
              <a:ea typeface="Nunito Sans"/>
              <a:cs typeface="Nunito Sans"/>
              <a:sym typeface="Nunito Sans"/>
            </a:endParaRPr>
          </a:p>
        </p:txBody>
      </p:sp>
      <p:sp>
        <p:nvSpPr>
          <p:cNvPr id="513" name="Google Shape;513;p26"/>
          <p:cNvSpPr txBox="1"/>
          <p:nvPr/>
        </p:nvSpPr>
        <p:spPr>
          <a:xfrm>
            <a:off x="4333409" y="2306353"/>
            <a:ext cx="1731900" cy="751200"/>
          </a:xfrm>
          <a:prstGeom prst="rect">
            <a:avLst/>
          </a:prstGeom>
          <a:noFill/>
          <a:ln>
            <a:noFill/>
          </a:ln>
        </p:spPr>
        <p:txBody>
          <a:bodyPr anchorCtr="0" anchor="t" bIns="79050" lIns="79050" spcFirstLastPara="1" rIns="79050" wrap="square" tIns="79050">
            <a:noAutofit/>
          </a:bodyPr>
          <a:lstStyle/>
          <a:p>
            <a:pPr indent="0" lvl="0" marL="0" rtl="0" algn="ctr">
              <a:spcBef>
                <a:spcPts val="0"/>
              </a:spcBef>
              <a:spcAft>
                <a:spcPts val="0"/>
              </a:spcAft>
              <a:buNone/>
            </a:pPr>
            <a:r>
              <a:rPr b="1" lang="en-US" sz="1226">
                <a:solidFill>
                  <a:srgbClr val="FFFFFF"/>
                </a:solidFill>
                <a:latin typeface="Nunito Sans"/>
                <a:ea typeface="Nunito Sans"/>
                <a:cs typeface="Nunito Sans"/>
                <a:sym typeface="Nunito Sans"/>
              </a:rPr>
              <a:t>Gaurav Yadav</a:t>
            </a:r>
            <a:br>
              <a:rPr b="1" lang="en-US" sz="1226">
                <a:solidFill>
                  <a:srgbClr val="FFFFFF"/>
                </a:solidFill>
                <a:latin typeface="Nunito Sans"/>
                <a:ea typeface="Nunito Sans"/>
                <a:cs typeface="Nunito Sans"/>
                <a:sym typeface="Nunito Sans"/>
              </a:rPr>
            </a:br>
            <a:r>
              <a:rPr b="1" lang="en-US" sz="1226">
                <a:solidFill>
                  <a:srgbClr val="FFFFFF"/>
                </a:solidFill>
                <a:latin typeface="Nunito Sans"/>
                <a:ea typeface="Nunito Sans"/>
                <a:cs typeface="Nunito Sans"/>
                <a:sym typeface="Nunito Sans"/>
              </a:rPr>
              <a:t>Head of Tech</a:t>
            </a:r>
            <a:endParaRPr b="1" sz="1226">
              <a:solidFill>
                <a:srgbClr val="FFFFFF"/>
              </a:solidFill>
              <a:latin typeface="Nunito Sans"/>
              <a:ea typeface="Nunito Sans"/>
              <a:cs typeface="Nunito Sans"/>
              <a:sym typeface="Nunito Sans"/>
            </a:endParaRPr>
          </a:p>
        </p:txBody>
      </p:sp>
      <p:sp>
        <p:nvSpPr>
          <p:cNvPr id="514" name="Google Shape;514;p26"/>
          <p:cNvSpPr txBox="1"/>
          <p:nvPr/>
        </p:nvSpPr>
        <p:spPr>
          <a:xfrm>
            <a:off x="5917124" y="2306349"/>
            <a:ext cx="1731900" cy="751200"/>
          </a:xfrm>
          <a:prstGeom prst="rect">
            <a:avLst/>
          </a:prstGeom>
          <a:noFill/>
          <a:ln>
            <a:noFill/>
          </a:ln>
        </p:spPr>
        <p:txBody>
          <a:bodyPr anchorCtr="0" anchor="t" bIns="79050" lIns="79050" spcFirstLastPara="1" rIns="79050" wrap="square" tIns="79050">
            <a:noAutofit/>
          </a:bodyPr>
          <a:lstStyle/>
          <a:p>
            <a:pPr indent="0" lvl="0" marL="0" rtl="0" algn="ctr">
              <a:spcBef>
                <a:spcPts val="0"/>
              </a:spcBef>
              <a:spcAft>
                <a:spcPts val="0"/>
              </a:spcAft>
              <a:buNone/>
            </a:pPr>
            <a:r>
              <a:rPr b="1" lang="en-US" sz="1226">
                <a:solidFill>
                  <a:srgbClr val="FFFFFF"/>
                </a:solidFill>
                <a:latin typeface="Nunito Sans"/>
                <a:ea typeface="Nunito Sans"/>
                <a:cs typeface="Nunito Sans"/>
                <a:sym typeface="Nunito Sans"/>
              </a:rPr>
              <a:t>Andrius Petkevicius</a:t>
            </a:r>
            <a:br>
              <a:rPr b="1" lang="en-US" sz="1226">
                <a:solidFill>
                  <a:srgbClr val="FFFFFF"/>
                </a:solidFill>
                <a:latin typeface="Nunito Sans"/>
                <a:ea typeface="Nunito Sans"/>
                <a:cs typeface="Nunito Sans"/>
                <a:sym typeface="Nunito Sans"/>
              </a:rPr>
            </a:br>
            <a:r>
              <a:rPr b="1" lang="en-US" sz="1226">
                <a:solidFill>
                  <a:srgbClr val="FFFFFF"/>
                </a:solidFill>
                <a:latin typeface="Nunito Sans"/>
                <a:ea typeface="Nunito Sans"/>
                <a:cs typeface="Nunito Sans"/>
                <a:sym typeface="Nunito Sans"/>
              </a:rPr>
              <a:t>Legal Advisory</a:t>
            </a:r>
            <a:endParaRPr b="1" sz="1226">
              <a:solidFill>
                <a:srgbClr val="FFFFFF"/>
              </a:solidFill>
              <a:latin typeface="Nunito Sans"/>
              <a:ea typeface="Nunito Sans"/>
              <a:cs typeface="Nunito Sans"/>
              <a:sym typeface="Nunito Sans"/>
            </a:endParaRPr>
          </a:p>
        </p:txBody>
      </p:sp>
      <p:pic>
        <p:nvPicPr>
          <p:cNvPr id="515" name="Google Shape;515;p26" title="ChatGPT_Image_Feb_26__2026__11_01_37_PM-removebg-preview.png"/>
          <p:cNvPicPr preferRelativeResize="0"/>
          <p:nvPr/>
        </p:nvPicPr>
        <p:blipFill rotWithShape="1">
          <a:blip r:embed="rId6">
            <a:alphaModFix/>
          </a:blip>
          <a:srcRect b="0" l="17771" r="17771" t="0"/>
          <a:stretch/>
        </p:blipFill>
        <p:spPr>
          <a:xfrm>
            <a:off x="3039065" y="2050846"/>
            <a:ext cx="1283700" cy="1328100"/>
          </a:xfrm>
          <a:prstGeom prst="ellipse">
            <a:avLst/>
          </a:prstGeom>
          <a:noFill/>
          <a:ln>
            <a:noFill/>
          </a:ln>
        </p:spPr>
      </p:pic>
      <p:pic>
        <p:nvPicPr>
          <p:cNvPr id="516" name="Google Shape;516;p26" title="photo_2026-02-28_17.41.04-removebg-preview.png"/>
          <p:cNvPicPr preferRelativeResize="0"/>
          <p:nvPr/>
        </p:nvPicPr>
        <p:blipFill rotWithShape="1">
          <a:blip r:embed="rId7">
            <a:alphaModFix/>
          </a:blip>
          <a:srcRect b="41530" l="20856" r="13763" t="-6911"/>
          <a:stretch/>
        </p:blipFill>
        <p:spPr>
          <a:xfrm>
            <a:off x="4558544" y="2614088"/>
            <a:ext cx="1347000" cy="1333200"/>
          </a:xfrm>
          <a:prstGeom prst="ellipse">
            <a:avLst/>
          </a:prstGeom>
          <a:noFill/>
          <a:ln>
            <a:noFill/>
          </a:ln>
        </p:spPr>
      </p:pic>
      <p:pic>
        <p:nvPicPr>
          <p:cNvPr id="517" name="Google Shape;517;p26" title="photo_2026-02-28_17.41.01-removebg-preview.png"/>
          <p:cNvPicPr preferRelativeResize="0"/>
          <p:nvPr/>
        </p:nvPicPr>
        <p:blipFill rotWithShape="1">
          <a:blip r:embed="rId8">
            <a:alphaModFix/>
          </a:blip>
          <a:srcRect b="12298" l="0" r="0" t="14416"/>
          <a:stretch/>
        </p:blipFill>
        <p:spPr>
          <a:xfrm>
            <a:off x="6141330" y="2776992"/>
            <a:ext cx="1198200" cy="1170300"/>
          </a:xfrm>
          <a:prstGeom prst="ellipse">
            <a:avLst/>
          </a:prstGeom>
          <a:noFill/>
          <a:ln>
            <a:noFill/>
          </a:ln>
        </p:spPr>
      </p:pic>
      <p:sp>
        <p:nvSpPr>
          <p:cNvPr id="518" name="Google Shape;518;p26"/>
          <p:cNvSpPr txBox="1"/>
          <p:nvPr/>
        </p:nvSpPr>
        <p:spPr>
          <a:xfrm>
            <a:off x="4600250" y="4083350"/>
            <a:ext cx="1198200" cy="400500"/>
          </a:xfrm>
          <a:prstGeom prst="rect">
            <a:avLst/>
          </a:prstGeom>
          <a:noFill/>
          <a:ln>
            <a:noFill/>
          </a:ln>
        </p:spPr>
        <p:txBody>
          <a:bodyPr anchorCtr="0" anchor="t" bIns="41750" lIns="41750" spcFirstLastPara="1" rIns="41750" wrap="square" tIns="41750">
            <a:noAutofit/>
          </a:bodyPr>
          <a:lstStyle/>
          <a:p>
            <a:pPr indent="0" lvl="0" marL="0" marR="0" rtl="0" algn="ctr">
              <a:lnSpc>
                <a:spcPct val="100000"/>
              </a:lnSpc>
              <a:spcBef>
                <a:spcPts val="0"/>
              </a:spcBef>
              <a:spcAft>
                <a:spcPts val="0"/>
              </a:spcAft>
              <a:buNone/>
            </a:pPr>
            <a:r>
              <a:rPr b="1" lang="en-US" sz="1200">
                <a:solidFill>
                  <a:srgbClr val="FFFFFF"/>
                </a:solidFill>
                <a:latin typeface="Nunito Sans"/>
                <a:ea typeface="Nunito Sans"/>
                <a:cs typeface="Nunito Sans"/>
                <a:sym typeface="Nunito Sans"/>
              </a:rPr>
              <a:t>Elias Nartey</a:t>
            </a:r>
            <a:br>
              <a:rPr b="1" lang="en-US" sz="1200">
                <a:solidFill>
                  <a:srgbClr val="FFFFFF"/>
                </a:solidFill>
                <a:latin typeface="Nunito Sans"/>
                <a:ea typeface="Nunito Sans"/>
                <a:cs typeface="Nunito Sans"/>
                <a:sym typeface="Nunito Sans"/>
              </a:rPr>
            </a:br>
            <a:r>
              <a:rPr b="1" lang="en-US" sz="1200">
                <a:solidFill>
                  <a:srgbClr val="FFFFFF"/>
                </a:solidFill>
                <a:latin typeface="Nunito Sans"/>
                <a:ea typeface="Nunito Sans"/>
                <a:cs typeface="Nunito Sans"/>
                <a:sym typeface="Nunito Sans"/>
              </a:rPr>
              <a:t>PR- Ghana  </a:t>
            </a:r>
            <a:endParaRPr b="1" sz="1200">
              <a:solidFill>
                <a:srgbClr val="FFFFFF"/>
              </a:solidFill>
              <a:latin typeface="Nunito Sans"/>
              <a:ea typeface="Nunito Sans"/>
              <a:cs typeface="Nunito Sans"/>
              <a:sym typeface="Nunito Sans"/>
            </a:endParaRPr>
          </a:p>
        </p:txBody>
      </p:sp>
      <p:sp>
        <p:nvSpPr>
          <p:cNvPr id="519" name="Google Shape;519;p26"/>
          <p:cNvSpPr txBox="1"/>
          <p:nvPr/>
        </p:nvSpPr>
        <p:spPr>
          <a:xfrm>
            <a:off x="6127175" y="4018225"/>
            <a:ext cx="1347000" cy="400500"/>
          </a:xfrm>
          <a:prstGeom prst="rect">
            <a:avLst/>
          </a:prstGeom>
          <a:noFill/>
          <a:ln>
            <a:noFill/>
          </a:ln>
        </p:spPr>
        <p:txBody>
          <a:bodyPr anchorCtr="0" anchor="t" bIns="41750" lIns="41750" spcFirstLastPara="1" rIns="41750" wrap="square" tIns="41750">
            <a:noAutofit/>
          </a:bodyPr>
          <a:lstStyle/>
          <a:p>
            <a:pPr indent="0" lvl="0" marL="0" rtl="0" algn="ctr">
              <a:spcBef>
                <a:spcPts val="0"/>
              </a:spcBef>
              <a:spcAft>
                <a:spcPts val="0"/>
              </a:spcAft>
              <a:buNone/>
            </a:pPr>
            <a:r>
              <a:rPr b="1" lang="en-US" sz="1248">
                <a:solidFill>
                  <a:srgbClr val="FFFFFF"/>
                </a:solidFill>
                <a:latin typeface="Nunito Sans"/>
                <a:ea typeface="Nunito Sans"/>
                <a:cs typeface="Nunito Sans"/>
                <a:sym typeface="Nunito Sans"/>
              </a:rPr>
              <a:t>Mustafa Alhamare</a:t>
            </a:r>
            <a:br>
              <a:rPr b="1" lang="en-US" sz="1248">
                <a:solidFill>
                  <a:srgbClr val="FFFFFF"/>
                </a:solidFill>
                <a:latin typeface="Nunito Sans"/>
                <a:ea typeface="Nunito Sans"/>
                <a:cs typeface="Nunito Sans"/>
                <a:sym typeface="Nunito Sans"/>
              </a:rPr>
            </a:br>
            <a:r>
              <a:rPr b="1" lang="en-US" sz="1248">
                <a:solidFill>
                  <a:srgbClr val="FFFFFF"/>
                </a:solidFill>
                <a:latin typeface="Nunito Sans"/>
                <a:ea typeface="Nunito Sans"/>
                <a:cs typeface="Nunito Sans"/>
                <a:sym typeface="Nunito Sans"/>
              </a:rPr>
              <a:t>Manager Sudan</a:t>
            </a:r>
            <a:endParaRPr b="1" sz="1248">
              <a:solidFill>
                <a:srgbClr val="FFFFFF"/>
              </a:solidFill>
              <a:latin typeface="Nunito Sans"/>
              <a:ea typeface="Nunito Sans"/>
              <a:cs typeface="Nunito Sans"/>
              <a:sym typeface="Nuni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524" name="Shape 524"/>
        <p:cNvGrpSpPr/>
        <p:nvPr/>
      </p:nvGrpSpPr>
      <p:grpSpPr>
        <a:xfrm>
          <a:off x="0" y="0"/>
          <a:ext cx="0" cy="0"/>
          <a:chOff x="0" y="0"/>
          <a:chExt cx="0" cy="0"/>
        </a:xfrm>
      </p:grpSpPr>
      <p:sp>
        <p:nvSpPr>
          <p:cNvPr id="525" name="Google Shape;525;p27"/>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7"/>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Hoja de Ruta</a:t>
            </a:r>
            <a:endParaRPr b="0" i="0" sz="2800" u="none" cap="none" strike="noStrike">
              <a:solidFill>
                <a:schemeClr val="dk1"/>
              </a:solidFill>
              <a:latin typeface="Calibri"/>
              <a:ea typeface="Calibri"/>
              <a:cs typeface="Calibri"/>
              <a:sym typeface="Calibri"/>
            </a:endParaRPr>
          </a:p>
        </p:txBody>
      </p:sp>
      <p:sp>
        <p:nvSpPr>
          <p:cNvPr id="527" name="Google Shape;527;p27"/>
          <p:cNvSpPr/>
          <p:nvPr/>
        </p:nvSpPr>
        <p:spPr>
          <a:xfrm>
            <a:off x="457200" y="822960"/>
            <a:ext cx="2606040" cy="34747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7"/>
          <p:cNvSpPr/>
          <p:nvPr/>
        </p:nvSpPr>
        <p:spPr>
          <a:xfrm>
            <a:off x="457200" y="822960"/>
            <a:ext cx="2606040" cy="59436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7"/>
          <p:cNvSpPr/>
          <p:nvPr/>
        </p:nvSpPr>
        <p:spPr>
          <a:xfrm>
            <a:off x="594360" y="85039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Q2 2026</a:t>
            </a:r>
            <a:endParaRPr b="0" i="0" sz="1200" u="none" cap="none" strike="noStrike">
              <a:solidFill>
                <a:schemeClr val="dk1"/>
              </a:solidFill>
              <a:latin typeface="Calibri"/>
              <a:ea typeface="Calibri"/>
              <a:cs typeface="Calibri"/>
              <a:sym typeface="Calibri"/>
            </a:endParaRPr>
          </a:p>
        </p:txBody>
      </p:sp>
      <p:sp>
        <p:nvSpPr>
          <p:cNvPr id="530" name="Google Shape;530;p27"/>
          <p:cNvSpPr/>
          <p:nvPr/>
        </p:nvSpPr>
        <p:spPr>
          <a:xfrm>
            <a:off x="594360" y="109728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Lanzamiento</a:t>
            </a:r>
            <a:endParaRPr b="0" i="0" sz="1600" u="none" cap="none" strike="noStrike">
              <a:solidFill>
                <a:schemeClr val="dk1"/>
              </a:solidFill>
              <a:latin typeface="Calibri"/>
              <a:ea typeface="Calibri"/>
              <a:cs typeface="Calibri"/>
              <a:sym typeface="Calibri"/>
            </a:endParaRPr>
          </a:p>
        </p:txBody>
      </p:sp>
      <p:pic>
        <p:nvPicPr>
          <p:cNvPr descr="preencoded.png" id="531" name="Google Shape;531;p27"/>
          <p:cNvPicPr preferRelativeResize="0"/>
          <p:nvPr/>
        </p:nvPicPr>
        <p:blipFill rotWithShape="1">
          <a:blip r:embed="rId3">
            <a:alphaModFix/>
          </a:blip>
          <a:srcRect b="0" l="0" r="0" t="0"/>
          <a:stretch/>
        </p:blipFill>
        <p:spPr>
          <a:xfrm>
            <a:off x="640080" y="1600200"/>
            <a:ext cx="164592" cy="164592"/>
          </a:xfrm>
          <a:prstGeom prst="rect">
            <a:avLst/>
          </a:prstGeom>
          <a:noFill/>
          <a:ln>
            <a:noFill/>
          </a:ln>
        </p:spPr>
      </p:pic>
      <p:sp>
        <p:nvSpPr>
          <p:cNvPr id="532" name="Google Shape;532;p27"/>
          <p:cNvSpPr/>
          <p:nvPr/>
        </p:nvSpPr>
        <p:spPr>
          <a:xfrm>
            <a:off x="914400" y="155448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MVP activo con primeros ciclos comerciales</a:t>
            </a:r>
            <a:endParaRPr b="0" i="0" sz="1000" u="none" cap="none" strike="noStrike">
              <a:solidFill>
                <a:schemeClr val="dk1"/>
              </a:solidFill>
              <a:latin typeface="Calibri"/>
              <a:ea typeface="Calibri"/>
              <a:cs typeface="Calibri"/>
              <a:sym typeface="Calibri"/>
            </a:endParaRPr>
          </a:p>
        </p:txBody>
      </p:sp>
      <p:pic>
        <p:nvPicPr>
          <p:cNvPr descr="preencoded.png" id="533" name="Google Shape;533;p27"/>
          <p:cNvPicPr preferRelativeResize="0"/>
          <p:nvPr/>
        </p:nvPicPr>
        <p:blipFill rotWithShape="1">
          <a:blip r:embed="rId3">
            <a:alphaModFix/>
          </a:blip>
          <a:srcRect b="0" l="0" r="0" t="0"/>
          <a:stretch/>
        </p:blipFill>
        <p:spPr>
          <a:xfrm>
            <a:off x="640080" y="2103120"/>
            <a:ext cx="164592" cy="164592"/>
          </a:xfrm>
          <a:prstGeom prst="rect">
            <a:avLst/>
          </a:prstGeom>
          <a:noFill/>
          <a:ln>
            <a:noFill/>
          </a:ln>
        </p:spPr>
      </p:pic>
      <p:sp>
        <p:nvSpPr>
          <p:cNvPr id="534" name="Google Shape;534;p27"/>
          <p:cNvSpPr/>
          <p:nvPr/>
        </p:nvSpPr>
        <p:spPr>
          <a:xfrm>
            <a:off x="914400" y="205740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Pilot program — Sudan &amp; Ghana corridors</a:t>
            </a:r>
            <a:endParaRPr b="0" i="0" sz="1000" u="none" cap="none" strike="noStrike">
              <a:solidFill>
                <a:schemeClr val="dk1"/>
              </a:solidFill>
              <a:latin typeface="Calibri"/>
              <a:ea typeface="Calibri"/>
              <a:cs typeface="Calibri"/>
              <a:sym typeface="Calibri"/>
            </a:endParaRPr>
          </a:p>
        </p:txBody>
      </p:sp>
      <p:pic>
        <p:nvPicPr>
          <p:cNvPr descr="preencoded.png" id="535" name="Google Shape;535;p27"/>
          <p:cNvPicPr preferRelativeResize="0"/>
          <p:nvPr/>
        </p:nvPicPr>
        <p:blipFill rotWithShape="1">
          <a:blip r:embed="rId3">
            <a:alphaModFix/>
          </a:blip>
          <a:srcRect b="0" l="0" r="0" t="0"/>
          <a:stretch/>
        </p:blipFill>
        <p:spPr>
          <a:xfrm>
            <a:off x="640080" y="2606040"/>
            <a:ext cx="164592" cy="164592"/>
          </a:xfrm>
          <a:prstGeom prst="rect">
            <a:avLst/>
          </a:prstGeom>
          <a:noFill/>
          <a:ln>
            <a:noFill/>
          </a:ln>
        </p:spPr>
      </p:pic>
      <p:sp>
        <p:nvSpPr>
          <p:cNvPr id="536" name="Google Shape;536;p27"/>
          <p:cNvSpPr/>
          <p:nvPr/>
        </p:nvSpPr>
        <p:spPr>
          <a:xfrm>
            <a:off x="914400" y="256032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Primeros ingresos de operaciones comerciales</a:t>
            </a:r>
            <a:endParaRPr b="0" i="0" sz="1000" u="none" cap="none" strike="noStrike">
              <a:solidFill>
                <a:schemeClr val="dk1"/>
              </a:solidFill>
              <a:latin typeface="Calibri"/>
              <a:ea typeface="Calibri"/>
              <a:cs typeface="Calibri"/>
              <a:sym typeface="Calibri"/>
            </a:endParaRPr>
          </a:p>
        </p:txBody>
      </p:sp>
      <p:pic>
        <p:nvPicPr>
          <p:cNvPr descr="preencoded.png" id="537" name="Google Shape;537;p27"/>
          <p:cNvPicPr preferRelativeResize="0"/>
          <p:nvPr/>
        </p:nvPicPr>
        <p:blipFill rotWithShape="1">
          <a:blip r:embed="rId3">
            <a:alphaModFix/>
          </a:blip>
          <a:srcRect b="0" l="0" r="0" t="0"/>
          <a:stretch/>
        </p:blipFill>
        <p:spPr>
          <a:xfrm>
            <a:off x="640080" y="3108960"/>
            <a:ext cx="164592" cy="164592"/>
          </a:xfrm>
          <a:prstGeom prst="rect">
            <a:avLst/>
          </a:prstGeom>
          <a:noFill/>
          <a:ln>
            <a:noFill/>
          </a:ln>
        </p:spPr>
      </p:pic>
      <p:sp>
        <p:nvSpPr>
          <p:cNvPr id="538" name="Google Shape;538;p27"/>
          <p:cNvSpPr/>
          <p:nvPr/>
        </p:nvSpPr>
        <p:spPr>
          <a:xfrm>
            <a:off x="914400" y="306324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Captación activa (pre-seed)</a:t>
            </a:r>
            <a:endParaRPr b="0" i="0" sz="1000" u="none" cap="none" strike="noStrike">
              <a:solidFill>
                <a:schemeClr val="dk1"/>
              </a:solidFill>
              <a:latin typeface="Calibri"/>
              <a:ea typeface="Calibri"/>
              <a:cs typeface="Calibri"/>
              <a:sym typeface="Calibri"/>
            </a:endParaRPr>
          </a:p>
        </p:txBody>
      </p:sp>
      <p:sp>
        <p:nvSpPr>
          <p:cNvPr id="539" name="Google Shape;539;p27"/>
          <p:cNvSpPr/>
          <p:nvPr/>
        </p:nvSpPr>
        <p:spPr>
          <a:xfrm>
            <a:off x="3291840" y="822960"/>
            <a:ext cx="2606040" cy="34747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7"/>
          <p:cNvSpPr/>
          <p:nvPr/>
        </p:nvSpPr>
        <p:spPr>
          <a:xfrm>
            <a:off x="3291840" y="822960"/>
            <a:ext cx="2606040" cy="594360"/>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7"/>
          <p:cNvSpPr/>
          <p:nvPr/>
        </p:nvSpPr>
        <p:spPr>
          <a:xfrm>
            <a:off x="3429000" y="85039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Q4 2026</a:t>
            </a:r>
            <a:endParaRPr b="0" i="0" sz="1200" u="none" cap="none" strike="noStrike">
              <a:solidFill>
                <a:schemeClr val="dk1"/>
              </a:solidFill>
              <a:latin typeface="Calibri"/>
              <a:ea typeface="Calibri"/>
              <a:cs typeface="Calibri"/>
              <a:sym typeface="Calibri"/>
            </a:endParaRPr>
          </a:p>
        </p:txBody>
      </p:sp>
      <p:sp>
        <p:nvSpPr>
          <p:cNvPr id="542" name="Google Shape;542;p27"/>
          <p:cNvSpPr/>
          <p:nvPr/>
        </p:nvSpPr>
        <p:spPr>
          <a:xfrm>
            <a:off x="3429000" y="109728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Escala</a:t>
            </a:r>
            <a:endParaRPr b="0" i="0" sz="1600" u="none" cap="none" strike="noStrike">
              <a:solidFill>
                <a:schemeClr val="dk1"/>
              </a:solidFill>
              <a:latin typeface="Calibri"/>
              <a:ea typeface="Calibri"/>
              <a:cs typeface="Calibri"/>
              <a:sym typeface="Calibri"/>
            </a:endParaRPr>
          </a:p>
        </p:txBody>
      </p:sp>
      <p:pic>
        <p:nvPicPr>
          <p:cNvPr descr="preencoded.png" id="543" name="Google Shape;543;p27"/>
          <p:cNvPicPr preferRelativeResize="0"/>
          <p:nvPr/>
        </p:nvPicPr>
        <p:blipFill rotWithShape="1">
          <a:blip r:embed="rId3">
            <a:alphaModFix/>
          </a:blip>
          <a:srcRect b="0" l="0" r="0" t="0"/>
          <a:stretch/>
        </p:blipFill>
        <p:spPr>
          <a:xfrm>
            <a:off x="3474720" y="1600200"/>
            <a:ext cx="164592" cy="164592"/>
          </a:xfrm>
          <a:prstGeom prst="rect">
            <a:avLst/>
          </a:prstGeom>
          <a:noFill/>
          <a:ln>
            <a:noFill/>
          </a:ln>
        </p:spPr>
      </p:pic>
      <p:sp>
        <p:nvSpPr>
          <p:cNvPr id="544" name="Google Shape;544;p27"/>
          <p:cNvSpPr/>
          <p:nvPr/>
        </p:nvSpPr>
        <p:spPr>
          <a:xfrm>
            <a:off x="3749040" y="155448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Pipeline comercial activo ~$40M</a:t>
            </a:r>
            <a:endParaRPr b="0" i="0" sz="1000" u="none" cap="none" strike="noStrike">
              <a:solidFill>
                <a:schemeClr val="dk1"/>
              </a:solidFill>
              <a:latin typeface="Calibri"/>
              <a:ea typeface="Calibri"/>
              <a:cs typeface="Calibri"/>
              <a:sym typeface="Calibri"/>
            </a:endParaRPr>
          </a:p>
        </p:txBody>
      </p:sp>
      <p:pic>
        <p:nvPicPr>
          <p:cNvPr descr="preencoded.png" id="545" name="Google Shape;545;p27"/>
          <p:cNvPicPr preferRelativeResize="0"/>
          <p:nvPr/>
        </p:nvPicPr>
        <p:blipFill rotWithShape="1">
          <a:blip r:embed="rId3">
            <a:alphaModFix/>
          </a:blip>
          <a:srcRect b="0" l="0" r="0" t="0"/>
          <a:stretch/>
        </p:blipFill>
        <p:spPr>
          <a:xfrm>
            <a:off x="3474720" y="2103120"/>
            <a:ext cx="164592" cy="164592"/>
          </a:xfrm>
          <a:prstGeom prst="rect">
            <a:avLst/>
          </a:prstGeom>
          <a:noFill/>
          <a:ln>
            <a:noFill/>
          </a:ln>
        </p:spPr>
      </p:pic>
      <p:sp>
        <p:nvSpPr>
          <p:cNvPr id="546" name="Google Shape;546;p27"/>
          <p:cNvSpPr/>
          <p:nvPr/>
        </p:nvSpPr>
        <p:spPr>
          <a:xfrm>
            <a:off x="3749040" y="205740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Múltiples corredores operativos</a:t>
            </a:r>
            <a:endParaRPr b="0" i="0" sz="1000" u="none" cap="none" strike="noStrike">
              <a:solidFill>
                <a:schemeClr val="dk1"/>
              </a:solidFill>
              <a:latin typeface="Calibri"/>
              <a:ea typeface="Calibri"/>
              <a:cs typeface="Calibri"/>
              <a:sym typeface="Calibri"/>
            </a:endParaRPr>
          </a:p>
        </p:txBody>
      </p:sp>
      <p:pic>
        <p:nvPicPr>
          <p:cNvPr descr="preencoded.png" id="547" name="Google Shape;547;p27"/>
          <p:cNvPicPr preferRelativeResize="0"/>
          <p:nvPr/>
        </p:nvPicPr>
        <p:blipFill rotWithShape="1">
          <a:blip r:embed="rId3">
            <a:alphaModFix/>
          </a:blip>
          <a:srcRect b="0" l="0" r="0" t="0"/>
          <a:stretch/>
        </p:blipFill>
        <p:spPr>
          <a:xfrm>
            <a:off x="3474720" y="2606040"/>
            <a:ext cx="164592" cy="164592"/>
          </a:xfrm>
          <a:prstGeom prst="rect">
            <a:avLst/>
          </a:prstGeom>
          <a:noFill/>
          <a:ln>
            <a:noFill/>
          </a:ln>
        </p:spPr>
      </p:pic>
      <p:sp>
        <p:nvSpPr>
          <p:cNvPr id="548" name="Google Shape;548;p27"/>
          <p:cNvSpPr/>
          <p:nvPr/>
        </p:nvSpPr>
        <p:spPr>
          <a:xfrm>
            <a:off x="3749040" y="256032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Infraestructura tecnológica escalada</a:t>
            </a:r>
            <a:endParaRPr b="0" i="0" sz="1000" u="none" cap="none" strike="noStrike">
              <a:solidFill>
                <a:schemeClr val="dk1"/>
              </a:solidFill>
              <a:latin typeface="Calibri"/>
              <a:ea typeface="Calibri"/>
              <a:cs typeface="Calibri"/>
              <a:sym typeface="Calibri"/>
            </a:endParaRPr>
          </a:p>
        </p:txBody>
      </p:sp>
      <p:pic>
        <p:nvPicPr>
          <p:cNvPr descr="preencoded.png" id="549" name="Google Shape;549;p27"/>
          <p:cNvPicPr preferRelativeResize="0"/>
          <p:nvPr/>
        </p:nvPicPr>
        <p:blipFill rotWithShape="1">
          <a:blip r:embed="rId3">
            <a:alphaModFix/>
          </a:blip>
          <a:srcRect b="0" l="0" r="0" t="0"/>
          <a:stretch/>
        </p:blipFill>
        <p:spPr>
          <a:xfrm>
            <a:off x="3474720" y="3108960"/>
            <a:ext cx="164592" cy="164592"/>
          </a:xfrm>
          <a:prstGeom prst="rect">
            <a:avLst/>
          </a:prstGeom>
          <a:noFill/>
          <a:ln>
            <a:noFill/>
          </a:ln>
        </p:spPr>
      </p:pic>
      <p:sp>
        <p:nvSpPr>
          <p:cNvPr id="550" name="Google Shape;550;p27"/>
          <p:cNvSpPr/>
          <p:nvPr/>
        </p:nvSpPr>
        <p:spPr>
          <a:xfrm>
            <a:off x="3749040" y="306324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Cumplimiento regulatorio UE</a:t>
            </a:r>
            <a:endParaRPr b="0" i="0" sz="1000" u="none" cap="none" strike="noStrike">
              <a:solidFill>
                <a:schemeClr val="dk1"/>
              </a:solidFill>
              <a:latin typeface="Calibri"/>
              <a:ea typeface="Calibri"/>
              <a:cs typeface="Calibri"/>
              <a:sym typeface="Calibri"/>
            </a:endParaRPr>
          </a:p>
        </p:txBody>
      </p:sp>
      <p:sp>
        <p:nvSpPr>
          <p:cNvPr id="551" name="Google Shape;551;p27"/>
          <p:cNvSpPr/>
          <p:nvPr/>
        </p:nvSpPr>
        <p:spPr>
          <a:xfrm>
            <a:off x="6126480" y="822960"/>
            <a:ext cx="2606040" cy="347472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7"/>
          <p:cNvSpPr/>
          <p:nvPr/>
        </p:nvSpPr>
        <p:spPr>
          <a:xfrm>
            <a:off x="6126480" y="822960"/>
            <a:ext cx="2606040" cy="59436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7"/>
          <p:cNvSpPr/>
          <p:nvPr/>
        </p:nvSpPr>
        <p:spPr>
          <a:xfrm>
            <a:off x="6263640" y="85039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Q3 2027</a:t>
            </a:r>
            <a:endParaRPr b="0" i="0" sz="1200" u="none" cap="none" strike="noStrike">
              <a:solidFill>
                <a:schemeClr val="dk1"/>
              </a:solidFill>
              <a:latin typeface="Calibri"/>
              <a:ea typeface="Calibri"/>
              <a:cs typeface="Calibri"/>
              <a:sym typeface="Calibri"/>
            </a:endParaRPr>
          </a:p>
        </p:txBody>
      </p:sp>
      <p:sp>
        <p:nvSpPr>
          <p:cNvPr id="554" name="Google Shape;554;p27"/>
          <p:cNvSpPr/>
          <p:nvPr/>
        </p:nvSpPr>
        <p:spPr>
          <a:xfrm>
            <a:off x="6263640" y="1097280"/>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Expansión</a:t>
            </a:r>
            <a:endParaRPr b="0" i="0" sz="1600" u="none" cap="none" strike="noStrike">
              <a:solidFill>
                <a:schemeClr val="dk1"/>
              </a:solidFill>
              <a:latin typeface="Calibri"/>
              <a:ea typeface="Calibri"/>
              <a:cs typeface="Calibri"/>
              <a:sym typeface="Calibri"/>
            </a:endParaRPr>
          </a:p>
        </p:txBody>
      </p:sp>
      <p:pic>
        <p:nvPicPr>
          <p:cNvPr descr="preencoded.png" id="555" name="Google Shape;555;p27"/>
          <p:cNvPicPr preferRelativeResize="0"/>
          <p:nvPr/>
        </p:nvPicPr>
        <p:blipFill rotWithShape="1">
          <a:blip r:embed="rId3">
            <a:alphaModFix/>
          </a:blip>
          <a:srcRect b="0" l="0" r="0" t="0"/>
          <a:stretch/>
        </p:blipFill>
        <p:spPr>
          <a:xfrm>
            <a:off x="6309360" y="1600200"/>
            <a:ext cx="164592" cy="164592"/>
          </a:xfrm>
          <a:prstGeom prst="rect">
            <a:avLst/>
          </a:prstGeom>
          <a:noFill/>
          <a:ln>
            <a:noFill/>
          </a:ln>
        </p:spPr>
      </p:pic>
      <p:sp>
        <p:nvSpPr>
          <p:cNvPr id="556" name="Google Shape;556;p27"/>
          <p:cNvSpPr/>
          <p:nvPr/>
        </p:nvSpPr>
        <p:spPr>
          <a:xfrm>
            <a:off x="6583680" y="155448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Escala completa del pipeline ($120M+)</a:t>
            </a:r>
            <a:endParaRPr b="0" i="0" sz="1000" u="none" cap="none" strike="noStrike">
              <a:solidFill>
                <a:schemeClr val="dk1"/>
              </a:solidFill>
              <a:latin typeface="Calibri"/>
              <a:ea typeface="Calibri"/>
              <a:cs typeface="Calibri"/>
              <a:sym typeface="Calibri"/>
            </a:endParaRPr>
          </a:p>
        </p:txBody>
      </p:sp>
      <p:pic>
        <p:nvPicPr>
          <p:cNvPr descr="preencoded.png" id="557" name="Google Shape;557;p27"/>
          <p:cNvPicPr preferRelativeResize="0"/>
          <p:nvPr/>
        </p:nvPicPr>
        <p:blipFill rotWithShape="1">
          <a:blip r:embed="rId3">
            <a:alphaModFix/>
          </a:blip>
          <a:srcRect b="0" l="0" r="0" t="0"/>
          <a:stretch/>
        </p:blipFill>
        <p:spPr>
          <a:xfrm>
            <a:off x="6309360" y="2103120"/>
            <a:ext cx="164592" cy="164592"/>
          </a:xfrm>
          <a:prstGeom prst="rect">
            <a:avLst/>
          </a:prstGeom>
          <a:noFill/>
          <a:ln>
            <a:noFill/>
          </a:ln>
        </p:spPr>
      </p:pic>
      <p:sp>
        <p:nvSpPr>
          <p:cNvPr id="558" name="Google Shape;558;p27"/>
          <p:cNvSpPr/>
          <p:nvPr/>
        </p:nvSpPr>
        <p:spPr>
          <a:xfrm>
            <a:off x="6583680" y="205740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Corredores África + LATAM</a:t>
            </a:r>
            <a:endParaRPr b="0" i="0" sz="1000" u="none" cap="none" strike="noStrike">
              <a:solidFill>
                <a:schemeClr val="dk1"/>
              </a:solidFill>
              <a:latin typeface="Calibri"/>
              <a:ea typeface="Calibri"/>
              <a:cs typeface="Calibri"/>
              <a:sym typeface="Calibri"/>
            </a:endParaRPr>
          </a:p>
        </p:txBody>
      </p:sp>
      <p:pic>
        <p:nvPicPr>
          <p:cNvPr descr="preencoded.png" id="559" name="Google Shape;559;p27"/>
          <p:cNvPicPr preferRelativeResize="0"/>
          <p:nvPr/>
        </p:nvPicPr>
        <p:blipFill rotWithShape="1">
          <a:blip r:embed="rId3">
            <a:alphaModFix/>
          </a:blip>
          <a:srcRect b="0" l="0" r="0" t="0"/>
          <a:stretch/>
        </p:blipFill>
        <p:spPr>
          <a:xfrm>
            <a:off x="6309360" y="2606040"/>
            <a:ext cx="164592" cy="164592"/>
          </a:xfrm>
          <a:prstGeom prst="rect">
            <a:avLst/>
          </a:prstGeom>
          <a:noFill/>
          <a:ln>
            <a:noFill/>
          </a:ln>
        </p:spPr>
      </p:pic>
      <p:sp>
        <p:nvSpPr>
          <p:cNvPr id="560" name="Google Shape;560;p27"/>
          <p:cNvSpPr/>
          <p:nvPr/>
        </p:nvSpPr>
        <p:spPr>
          <a:xfrm>
            <a:off x="6583680" y="256032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Alianzas institucionales</a:t>
            </a:r>
            <a:endParaRPr b="0" i="0" sz="1000" u="none" cap="none" strike="noStrike">
              <a:solidFill>
                <a:schemeClr val="dk1"/>
              </a:solidFill>
              <a:latin typeface="Calibri"/>
              <a:ea typeface="Calibri"/>
              <a:cs typeface="Calibri"/>
              <a:sym typeface="Calibri"/>
            </a:endParaRPr>
          </a:p>
        </p:txBody>
      </p:sp>
      <p:pic>
        <p:nvPicPr>
          <p:cNvPr descr="preencoded.png" id="561" name="Google Shape;561;p27"/>
          <p:cNvPicPr preferRelativeResize="0"/>
          <p:nvPr/>
        </p:nvPicPr>
        <p:blipFill rotWithShape="1">
          <a:blip r:embed="rId3">
            <a:alphaModFix/>
          </a:blip>
          <a:srcRect b="0" l="0" r="0" t="0"/>
          <a:stretch/>
        </p:blipFill>
        <p:spPr>
          <a:xfrm>
            <a:off x="6309360" y="3108960"/>
            <a:ext cx="164592" cy="164592"/>
          </a:xfrm>
          <a:prstGeom prst="rect">
            <a:avLst/>
          </a:prstGeom>
          <a:noFill/>
          <a:ln>
            <a:noFill/>
          </a:ln>
        </p:spPr>
      </p:pic>
      <p:sp>
        <p:nvSpPr>
          <p:cNvPr id="562" name="Google Shape;562;p27"/>
          <p:cNvSpPr/>
          <p:nvPr/>
        </p:nvSpPr>
        <p:spPr>
          <a:xfrm>
            <a:off x="6583680" y="3063240"/>
            <a:ext cx="1965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Integración plataforma de rendimiento B2B</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A"/>
        </a:solidFill>
      </p:bgPr>
    </p:bg>
    <p:spTree>
      <p:nvGrpSpPr>
        <p:cNvPr id="567" name="Shape 567"/>
        <p:cNvGrpSpPr/>
        <p:nvPr/>
      </p:nvGrpSpPr>
      <p:grpSpPr>
        <a:xfrm>
          <a:off x="0" y="0"/>
          <a:ext cx="0" cy="0"/>
          <a:chOff x="0" y="0"/>
          <a:chExt cx="0" cy="0"/>
        </a:xfrm>
      </p:grpSpPr>
      <p:sp>
        <p:nvSpPr>
          <p:cNvPr id="568" name="Google Shape;568;p28"/>
          <p:cNvSpPr/>
          <p:nvPr/>
        </p:nvSpPr>
        <p:spPr>
          <a:xfrm>
            <a:off x="0" y="0"/>
            <a:ext cx="9144000" cy="36576"/>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8"/>
          <p:cNvSpPr/>
          <p:nvPr/>
        </p:nvSpPr>
        <p:spPr>
          <a:xfrm>
            <a:off x="731520" y="2286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800"/>
              <a:buFont typeface="Georgia"/>
              <a:buNone/>
            </a:pPr>
            <a:r>
              <a:rPr b="1" i="0" lang="en-US" sz="2800" u="none" cap="none" strike="noStrike">
                <a:solidFill>
                  <a:srgbClr val="0F2B46"/>
                </a:solidFill>
                <a:latin typeface="Georgia"/>
                <a:ea typeface="Georgia"/>
                <a:cs typeface="Georgia"/>
                <a:sym typeface="Georgia"/>
              </a:rPr>
              <a:t>Use of Funds &amp; Investment</a:t>
            </a:r>
            <a:endParaRPr b="0" i="0" sz="2800" u="none" cap="none" strike="noStrike">
              <a:solidFill>
                <a:schemeClr val="dk1"/>
              </a:solidFill>
              <a:latin typeface="Calibri"/>
              <a:ea typeface="Calibri"/>
              <a:cs typeface="Calibri"/>
              <a:sym typeface="Calibri"/>
            </a:endParaRPr>
          </a:p>
        </p:txBody>
      </p:sp>
      <p:sp>
        <p:nvSpPr>
          <p:cNvPr id="570" name="Google Shape;570;p28"/>
          <p:cNvSpPr/>
          <p:nvPr/>
        </p:nvSpPr>
        <p:spPr>
          <a:xfrm>
            <a:off x="457200" y="822960"/>
            <a:ext cx="3931920" cy="1097280"/>
          </a:xfrm>
          <a:prstGeom prst="rect">
            <a:avLst/>
          </a:prstGeom>
          <a:solidFill>
            <a:srgbClr val="0F2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8"/>
          <p:cNvSpPr/>
          <p:nvPr/>
        </p:nvSpPr>
        <p:spPr>
          <a:xfrm>
            <a:off x="685800" y="896112"/>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300"/>
              <a:buFont typeface="Arial"/>
              <a:buNone/>
            </a:pPr>
            <a:r>
              <a:rPr b="1" i="0" lang="en-US" sz="1300" u="none" cap="none" strike="noStrike">
                <a:solidFill>
                  <a:srgbClr val="CCDDEE"/>
                </a:solidFill>
                <a:latin typeface="Arial"/>
                <a:ea typeface="Arial"/>
                <a:cs typeface="Arial"/>
                <a:sym typeface="Arial"/>
              </a:rPr>
              <a:t>Ronda Pre-Seed</a:t>
            </a:r>
            <a:endParaRPr b="0" i="0" sz="1300" u="none" cap="none" strike="noStrike">
              <a:solidFill>
                <a:srgbClr val="CCDDEE"/>
              </a:solidFill>
              <a:latin typeface="Calibri"/>
              <a:ea typeface="Calibri"/>
              <a:cs typeface="Calibri"/>
              <a:sym typeface="Calibri"/>
            </a:endParaRPr>
          </a:p>
        </p:txBody>
      </p:sp>
      <p:sp>
        <p:nvSpPr>
          <p:cNvPr id="572" name="Google Shape;572;p28"/>
          <p:cNvSpPr/>
          <p:nvPr/>
        </p:nvSpPr>
        <p:spPr>
          <a:xfrm>
            <a:off x="685800" y="1170432"/>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t>
            </a:r>
            <a:r>
              <a:rPr b="1" lang="en-US" sz="1200">
                <a:solidFill>
                  <a:srgbClr val="FFFFFF"/>
                </a:solidFill>
              </a:rPr>
              <a:t>3</a:t>
            </a:r>
            <a:r>
              <a:rPr b="1" i="0" lang="en-US" sz="1200" u="none" cap="none" strike="noStrike">
                <a:solidFill>
                  <a:srgbClr val="FFFFFF"/>
                </a:solidFill>
                <a:latin typeface="Arial"/>
                <a:ea typeface="Arial"/>
                <a:cs typeface="Arial"/>
                <a:sym typeface="Arial"/>
              </a:rPr>
              <a:t>M Target  |  $15M Pre-Money Valuation</a:t>
            </a:r>
            <a:endParaRPr b="0" i="0" sz="1200" u="none" cap="none" strike="noStrike">
              <a:solidFill>
                <a:schemeClr val="dk1"/>
              </a:solidFill>
              <a:latin typeface="Calibri"/>
              <a:ea typeface="Calibri"/>
              <a:cs typeface="Calibri"/>
              <a:sym typeface="Calibri"/>
            </a:endParaRPr>
          </a:p>
        </p:txBody>
      </p:sp>
      <p:sp>
        <p:nvSpPr>
          <p:cNvPr id="573" name="Google Shape;573;p28"/>
          <p:cNvSpPr/>
          <p:nvPr/>
        </p:nvSpPr>
        <p:spPr>
          <a:xfrm>
            <a:off x="685800" y="141732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1000"/>
              <a:buFont typeface="Arial"/>
              <a:buNone/>
            </a:pPr>
            <a:r>
              <a:rPr b="0" i="0" lang="en-US" sz="1000" u="none" cap="none" strike="noStrike">
                <a:solidFill>
                  <a:srgbClr val="8899AA"/>
                </a:solidFill>
                <a:latin typeface="Arial"/>
                <a:ea typeface="Arial"/>
                <a:cs typeface="Arial"/>
                <a:sym typeface="Arial"/>
              </a:rPr>
              <a:t>Bootstrapped hasta la fecha | Propiedad del fundador</a:t>
            </a:r>
            <a:endParaRPr b="0" i="0" sz="1000" u="none" cap="none" strike="noStrike">
              <a:solidFill>
                <a:schemeClr val="dk1"/>
              </a:solidFill>
              <a:latin typeface="Calibri"/>
              <a:ea typeface="Calibri"/>
              <a:cs typeface="Calibri"/>
              <a:sym typeface="Calibri"/>
            </a:endParaRPr>
          </a:p>
        </p:txBody>
      </p:sp>
      <p:sp>
        <p:nvSpPr>
          <p:cNvPr id="574" name="Google Shape;574;p28"/>
          <p:cNvSpPr/>
          <p:nvPr/>
        </p:nvSpPr>
        <p:spPr>
          <a:xfrm>
            <a:off x="1234440" y="2148840"/>
            <a:ext cx="2286000" cy="2286000"/>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8"/>
          <p:cNvSpPr/>
          <p:nvPr/>
        </p:nvSpPr>
        <p:spPr>
          <a:xfrm>
            <a:off x="1691640" y="2606040"/>
            <a:ext cx="1371600" cy="1371600"/>
          </a:xfrm>
          <a:prstGeom prst="ellipse">
            <a:avLst/>
          </a:prstGeom>
          <a:solidFill>
            <a:srgbClr val="F7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8"/>
          <p:cNvSpPr/>
          <p:nvPr/>
        </p:nvSpPr>
        <p:spPr>
          <a:xfrm>
            <a:off x="2743200" y="2286000"/>
            <a:ext cx="1463040" cy="36576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8"/>
          <p:cNvSpPr/>
          <p:nvPr/>
        </p:nvSpPr>
        <p:spPr>
          <a:xfrm>
            <a:off x="2788920" y="2286000"/>
            <a:ext cx="1417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200"/>
              <a:buFont typeface="Arial"/>
              <a:buNone/>
            </a:pPr>
            <a:r>
              <a:rPr b="0" i="0" lang="en-US" sz="1200" u="none" cap="none" strike="noStrike">
                <a:solidFill>
                  <a:srgbClr val="0C5392"/>
                </a:solidFill>
                <a:latin typeface="Arial"/>
                <a:ea typeface="Arial"/>
                <a:cs typeface="Arial"/>
                <a:sym typeface="Arial"/>
              </a:rPr>
              <a:t>● </a:t>
            </a:r>
            <a:r>
              <a:rPr b="0" i="0" lang="en-US" sz="950" u="none" cap="none" strike="noStrike">
                <a:solidFill>
                  <a:srgbClr val="1A2332"/>
                </a:solidFill>
                <a:latin typeface="Arial"/>
                <a:ea typeface="Arial"/>
                <a:cs typeface="Arial"/>
                <a:sym typeface="Arial"/>
              </a:rPr>
              <a:t>Working Capital 85% ($</a:t>
            </a:r>
            <a:r>
              <a:rPr lang="en-US" sz="950">
                <a:solidFill>
                  <a:srgbClr val="1A2332"/>
                </a:solidFill>
              </a:rPr>
              <a:t>2.55</a:t>
            </a:r>
            <a:r>
              <a:rPr b="0" i="0" lang="en-US" sz="950" u="none" cap="none" strike="noStrike">
                <a:solidFill>
                  <a:srgbClr val="1A2332"/>
                </a:solidFill>
                <a:latin typeface="Arial"/>
                <a:ea typeface="Arial"/>
                <a:cs typeface="Arial"/>
                <a:sym typeface="Arial"/>
              </a:rPr>
              <a:t>M)</a:t>
            </a:r>
            <a:endParaRPr b="0" i="0" sz="1200" u="none" cap="none" strike="noStrike">
              <a:solidFill>
                <a:schemeClr val="dk1"/>
              </a:solidFill>
              <a:latin typeface="Calibri"/>
              <a:ea typeface="Calibri"/>
              <a:cs typeface="Calibri"/>
              <a:sym typeface="Calibri"/>
            </a:endParaRPr>
          </a:p>
        </p:txBody>
      </p:sp>
      <p:sp>
        <p:nvSpPr>
          <p:cNvPr id="578" name="Google Shape;578;p28"/>
          <p:cNvSpPr/>
          <p:nvPr/>
        </p:nvSpPr>
        <p:spPr>
          <a:xfrm>
            <a:off x="2743200" y="2651760"/>
            <a:ext cx="1463040" cy="36576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8"/>
          <p:cNvSpPr/>
          <p:nvPr/>
        </p:nvSpPr>
        <p:spPr>
          <a:xfrm>
            <a:off x="2788920" y="2651760"/>
            <a:ext cx="1417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0" i="0" lang="en-US" sz="1200" u="none" cap="none" strike="noStrike">
                <a:solidFill>
                  <a:srgbClr val="0F2B46"/>
                </a:solidFill>
                <a:latin typeface="Arial"/>
                <a:ea typeface="Arial"/>
                <a:cs typeface="Arial"/>
                <a:sym typeface="Arial"/>
              </a:rPr>
              <a:t>● </a:t>
            </a:r>
            <a:r>
              <a:rPr b="0" i="0" lang="en-US" sz="950" u="none" cap="none" strike="noStrike">
                <a:solidFill>
                  <a:srgbClr val="1A2332"/>
                </a:solidFill>
                <a:latin typeface="Arial"/>
                <a:ea typeface="Arial"/>
                <a:cs typeface="Arial"/>
                <a:sym typeface="Arial"/>
              </a:rPr>
              <a:t>SG&amp;A 15% ($</a:t>
            </a:r>
            <a:r>
              <a:rPr lang="en-US" sz="950">
                <a:solidFill>
                  <a:srgbClr val="1A2332"/>
                </a:solidFill>
              </a:rPr>
              <a:t>450</a:t>
            </a:r>
            <a:r>
              <a:rPr b="0" i="0" lang="en-US" sz="950" u="none" cap="none" strike="noStrike">
                <a:solidFill>
                  <a:srgbClr val="1A2332"/>
                </a:solidFill>
                <a:latin typeface="Arial"/>
                <a:ea typeface="Arial"/>
                <a:cs typeface="Arial"/>
                <a:sym typeface="Arial"/>
              </a:rPr>
              <a:t>K)</a:t>
            </a:r>
            <a:endParaRPr b="0" i="0" sz="1200" u="none" cap="none" strike="noStrike">
              <a:solidFill>
                <a:schemeClr val="dk1"/>
              </a:solidFill>
              <a:latin typeface="Calibri"/>
              <a:ea typeface="Calibri"/>
              <a:cs typeface="Calibri"/>
              <a:sym typeface="Calibri"/>
            </a:endParaRPr>
          </a:p>
        </p:txBody>
      </p:sp>
      <p:sp>
        <p:nvSpPr>
          <p:cNvPr id="580" name="Google Shape;580;p28"/>
          <p:cNvSpPr/>
          <p:nvPr/>
        </p:nvSpPr>
        <p:spPr>
          <a:xfrm>
            <a:off x="4754880" y="822960"/>
            <a:ext cx="3931800" cy="16917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8"/>
          <p:cNvSpPr/>
          <p:nvPr/>
        </p:nvSpPr>
        <p:spPr>
          <a:xfrm>
            <a:off x="4983480" y="9144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Niveles de Equity a $15M Pre-Money</a:t>
            </a:r>
            <a:endParaRPr b="0" i="0" sz="1200" u="none" cap="none" strike="noStrike">
              <a:solidFill>
                <a:schemeClr val="dk1"/>
              </a:solidFill>
              <a:latin typeface="Calibri"/>
              <a:ea typeface="Calibri"/>
              <a:cs typeface="Calibri"/>
              <a:sym typeface="Calibri"/>
            </a:endParaRPr>
          </a:p>
        </p:txBody>
      </p:sp>
      <p:sp>
        <p:nvSpPr>
          <p:cNvPr id="582" name="Google Shape;582;p28"/>
          <p:cNvSpPr/>
          <p:nvPr/>
        </p:nvSpPr>
        <p:spPr>
          <a:xfrm>
            <a:off x="4937760" y="1280160"/>
            <a:ext cx="3566160" cy="237744"/>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8"/>
          <p:cNvSpPr/>
          <p:nvPr/>
        </p:nvSpPr>
        <p:spPr>
          <a:xfrm>
            <a:off x="5074920" y="1280160"/>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$150K</a:t>
            </a:r>
            <a:endParaRPr b="0" i="0" sz="1000" u="none" cap="none" strike="noStrike">
              <a:solidFill>
                <a:schemeClr val="dk1"/>
              </a:solidFill>
              <a:latin typeface="Calibri"/>
              <a:ea typeface="Calibri"/>
              <a:cs typeface="Calibri"/>
              <a:sym typeface="Calibri"/>
            </a:endParaRPr>
          </a:p>
        </p:txBody>
      </p:sp>
      <p:sp>
        <p:nvSpPr>
          <p:cNvPr id="584" name="Google Shape;584;p28"/>
          <p:cNvSpPr/>
          <p:nvPr/>
        </p:nvSpPr>
        <p:spPr>
          <a:xfrm>
            <a:off x="6446520" y="1280160"/>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1000"/>
              <a:buFont typeface="Arial"/>
              <a:buNone/>
            </a:pPr>
            <a:r>
              <a:rPr b="1" i="0" lang="en-US" sz="1000" u="none" cap="none" strike="noStrike">
                <a:solidFill>
                  <a:srgbClr val="0C5392"/>
                </a:solidFill>
                <a:latin typeface="Arial"/>
                <a:ea typeface="Arial"/>
                <a:cs typeface="Arial"/>
                <a:sym typeface="Arial"/>
              </a:rPr>
              <a:t>= 1,0% equity</a:t>
            </a:r>
            <a:endParaRPr b="0" i="0" sz="1000" u="none" cap="none" strike="noStrike">
              <a:solidFill>
                <a:srgbClr val="0C5392"/>
              </a:solidFill>
              <a:latin typeface="Calibri"/>
              <a:ea typeface="Calibri"/>
              <a:cs typeface="Calibri"/>
              <a:sym typeface="Calibri"/>
            </a:endParaRPr>
          </a:p>
        </p:txBody>
      </p:sp>
      <p:sp>
        <p:nvSpPr>
          <p:cNvPr id="585" name="Google Shape;585;p28"/>
          <p:cNvSpPr/>
          <p:nvPr/>
        </p:nvSpPr>
        <p:spPr>
          <a:xfrm>
            <a:off x="5074920" y="1517904"/>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$250K</a:t>
            </a:r>
            <a:endParaRPr b="0" i="0" sz="1000" u="none" cap="none" strike="noStrike">
              <a:solidFill>
                <a:schemeClr val="dk1"/>
              </a:solidFill>
              <a:latin typeface="Calibri"/>
              <a:ea typeface="Calibri"/>
              <a:cs typeface="Calibri"/>
              <a:sym typeface="Calibri"/>
            </a:endParaRPr>
          </a:p>
        </p:txBody>
      </p:sp>
      <p:sp>
        <p:nvSpPr>
          <p:cNvPr id="586" name="Google Shape;586;p28"/>
          <p:cNvSpPr/>
          <p:nvPr/>
        </p:nvSpPr>
        <p:spPr>
          <a:xfrm>
            <a:off x="6446520" y="1517904"/>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1000"/>
              <a:buFont typeface="Arial"/>
              <a:buNone/>
            </a:pPr>
            <a:r>
              <a:rPr b="1" i="0" lang="en-US" sz="1000" u="none" cap="none" strike="noStrike">
                <a:solidFill>
                  <a:srgbClr val="0C5392"/>
                </a:solidFill>
                <a:latin typeface="Arial"/>
                <a:ea typeface="Arial"/>
                <a:cs typeface="Arial"/>
                <a:sym typeface="Arial"/>
              </a:rPr>
              <a:t>= 1,6% equity</a:t>
            </a:r>
            <a:endParaRPr b="0" i="0" sz="1000" u="none" cap="none" strike="noStrike">
              <a:solidFill>
                <a:srgbClr val="0C5392"/>
              </a:solidFill>
              <a:latin typeface="Calibri"/>
              <a:ea typeface="Calibri"/>
              <a:cs typeface="Calibri"/>
              <a:sym typeface="Calibri"/>
            </a:endParaRPr>
          </a:p>
        </p:txBody>
      </p:sp>
      <p:sp>
        <p:nvSpPr>
          <p:cNvPr id="587" name="Google Shape;587;p28"/>
          <p:cNvSpPr/>
          <p:nvPr/>
        </p:nvSpPr>
        <p:spPr>
          <a:xfrm>
            <a:off x="4937760" y="1755648"/>
            <a:ext cx="3566160" cy="237744"/>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8"/>
          <p:cNvSpPr/>
          <p:nvPr/>
        </p:nvSpPr>
        <p:spPr>
          <a:xfrm>
            <a:off x="5074920" y="1755648"/>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$500K</a:t>
            </a:r>
            <a:endParaRPr b="0" i="0" sz="1000" u="none" cap="none" strike="noStrike">
              <a:solidFill>
                <a:schemeClr val="dk1"/>
              </a:solidFill>
              <a:latin typeface="Calibri"/>
              <a:ea typeface="Calibri"/>
              <a:cs typeface="Calibri"/>
              <a:sym typeface="Calibri"/>
            </a:endParaRPr>
          </a:p>
        </p:txBody>
      </p:sp>
      <p:sp>
        <p:nvSpPr>
          <p:cNvPr id="589" name="Google Shape;589;p28"/>
          <p:cNvSpPr/>
          <p:nvPr/>
        </p:nvSpPr>
        <p:spPr>
          <a:xfrm>
            <a:off x="6446520" y="1755648"/>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1000"/>
              <a:buFont typeface="Arial"/>
              <a:buNone/>
            </a:pPr>
            <a:r>
              <a:rPr b="1" i="0" lang="en-US" sz="1000" u="none" cap="none" strike="noStrike">
                <a:solidFill>
                  <a:srgbClr val="0C5392"/>
                </a:solidFill>
                <a:latin typeface="Arial"/>
                <a:ea typeface="Arial"/>
                <a:cs typeface="Arial"/>
                <a:sym typeface="Arial"/>
              </a:rPr>
              <a:t>= 3,2% equity</a:t>
            </a:r>
            <a:endParaRPr b="0" i="0" sz="1000" u="none" cap="none" strike="noStrike">
              <a:solidFill>
                <a:srgbClr val="0C5392"/>
              </a:solidFill>
              <a:latin typeface="Calibri"/>
              <a:ea typeface="Calibri"/>
              <a:cs typeface="Calibri"/>
              <a:sym typeface="Calibri"/>
            </a:endParaRPr>
          </a:p>
        </p:txBody>
      </p:sp>
      <p:sp>
        <p:nvSpPr>
          <p:cNvPr id="590" name="Google Shape;590;p28"/>
          <p:cNvSpPr/>
          <p:nvPr/>
        </p:nvSpPr>
        <p:spPr>
          <a:xfrm>
            <a:off x="5074920" y="1993392"/>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$750K</a:t>
            </a:r>
            <a:endParaRPr b="0" i="0" sz="1000" u="none" cap="none" strike="noStrike">
              <a:solidFill>
                <a:schemeClr val="dk1"/>
              </a:solidFill>
              <a:latin typeface="Calibri"/>
              <a:ea typeface="Calibri"/>
              <a:cs typeface="Calibri"/>
              <a:sym typeface="Calibri"/>
            </a:endParaRPr>
          </a:p>
        </p:txBody>
      </p:sp>
      <p:sp>
        <p:nvSpPr>
          <p:cNvPr id="591" name="Google Shape;591;p28"/>
          <p:cNvSpPr/>
          <p:nvPr/>
        </p:nvSpPr>
        <p:spPr>
          <a:xfrm>
            <a:off x="6446520" y="1993392"/>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1000"/>
              <a:buFont typeface="Arial"/>
              <a:buNone/>
            </a:pPr>
            <a:r>
              <a:rPr b="1" i="0" lang="en-US" sz="1000" u="none" cap="none" strike="noStrike">
                <a:solidFill>
                  <a:srgbClr val="0C5392"/>
                </a:solidFill>
                <a:latin typeface="Arial"/>
                <a:ea typeface="Arial"/>
                <a:cs typeface="Arial"/>
                <a:sym typeface="Arial"/>
              </a:rPr>
              <a:t>= 4,8% equity</a:t>
            </a:r>
            <a:endParaRPr b="0" i="0" sz="1000" u="none" cap="none" strike="noStrike">
              <a:solidFill>
                <a:srgbClr val="0C5392"/>
              </a:solidFill>
              <a:latin typeface="Calibri"/>
              <a:ea typeface="Calibri"/>
              <a:cs typeface="Calibri"/>
              <a:sym typeface="Calibri"/>
            </a:endParaRPr>
          </a:p>
        </p:txBody>
      </p:sp>
      <p:sp>
        <p:nvSpPr>
          <p:cNvPr id="592" name="Google Shape;592;p28"/>
          <p:cNvSpPr/>
          <p:nvPr/>
        </p:nvSpPr>
        <p:spPr>
          <a:xfrm>
            <a:off x="4937760" y="2231136"/>
            <a:ext cx="3566160" cy="237744"/>
          </a:xfrm>
          <a:prstGeom prst="rect">
            <a:avLst/>
          </a:prstGeom>
          <a:solidFill>
            <a:srgbClr val="F0F4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8"/>
          <p:cNvSpPr/>
          <p:nvPr/>
        </p:nvSpPr>
        <p:spPr>
          <a:xfrm>
            <a:off x="5074920" y="2231136"/>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1" i="0" lang="en-US" sz="1000" u="none" cap="none" strike="noStrike">
                <a:solidFill>
                  <a:srgbClr val="1A2332"/>
                </a:solidFill>
                <a:latin typeface="Arial"/>
                <a:ea typeface="Arial"/>
                <a:cs typeface="Arial"/>
                <a:sym typeface="Arial"/>
              </a:rPr>
              <a:t>$1,0M</a:t>
            </a:r>
            <a:endParaRPr b="0" i="0" sz="1000" u="none" cap="none" strike="noStrike">
              <a:solidFill>
                <a:schemeClr val="dk1"/>
              </a:solidFill>
              <a:latin typeface="Calibri"/>
              <a:ea typeface="Calibri"/>
              <a:cs typeface="Calibri"/>
              <a:sym typeface="Calibri"/>
            </a:endParaRPr>
          </a:p>
        </p:txBody>
      </p:sp>
      <p:sp>
        <p:nvSpPr>
          <p:cNvPr id="594" name="Google Shape;594;p28"/>
          <p:cNvSpPr/>
          <p:nvPr/>
        </p:nvSpPr>
        <p:spPr>
          <a:xfrm>
            <a:off x="6446520" y="2231136"/>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886E"/>
              </a:buClr>
              <a:buSzPts val="1000"/>
              <a:buFont typeface="Arial"/>
              <a:buNone/>
            </a:pPr>
            <a:r>
              <a:rPr b="1" i="0" lang="en-US" sz="1000" u="none" cap="none" strike="noStrike">
                <a:solidFill>
                  <a:srgbClr val="0C5392"/>
                </a:solidFill>
                <a:latin typeface="Arial"/>
                <a:ea typeface="Arial"/>
                <a:cs typeface="Arial"/>
                <a:sym typeface="Arial"/>
              </a:rPr>
              <a:t>= 6,3% equity</a:t>
            </a:r>
            <a:endParaRPr b="0" i="0" sz="1000" u="none" cap="none" strike="noStrike">
              <a:solidFill>
                <a:srgbClr val="0C5392"/>
              </a:solidFill>
              <a:latin typeface="Calibri"/>
              <a:ea typeface="Calibri"/>
              <a:cs typeface="Calibri"/>
              <a:sym typeface="Calibri"/>
            </a:endParaRPr>
          </a:p>
        </p:txBody>
      </p:sp>
      <p:sp>
        <p:nvSpPr>
          <p:cNvPr id="595" name="Google Shape;595;p28"/>
          <p:cNvSpPr/>
          <p:nvPr/>
        </p:nvSpPr>
        <p:spPr>
          <a:xfrm>
            <a:off x="4754875" y="2606075"/>
            <a:ext cx="3931800" cy="21699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8"/>
          <p:cNvSpPr/>
          <p:nvPr/>
        </p:nvSpPr>
        <p:spPr>
          <a:xfrm>
            <a:off x="4983480" y="2697515"/>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200"/>
              <a:buFont typeface="Arial"/>
              <a:buNone/>
            </a:pPr>
            <a:r>
              <a:rPr b="1" i="0" lang="en-US" sz="1200" u="none" cap="none" strike="noStrike">
                <a:solidFill>
                  <a:srgbClr val="0F2B46"/>
                </a:solidFill>
                <a:latin typeface="Arial"/>
                <a:ea typeface="Arial"/>
                <a:cs typeface="Arial"/>
                <a:sym typeface="Arial"/>
              </a:rPr>
              <a:t>Por Qué Ahora</a:t>
            </a:r>
            <a:endParaRPr b="0" i="0" sz="1200" u="none" cap="none" strike="noStrike">
              <a:solidFill>
                <a:schemeClr val="dk1"/>
              </a:solidFill>
              <a:latin typeface="Calibri"/>
              <a:ea typeface="Calibri"/>
              <a:cs typeface="Calibri"/>
              <a:sym typeface="Calibri"/>
            </a:endParaRPr>
          </a:p>
        </p:txBody>
      </p:sp>
      <p:pic>
        <p:nvPicPr>
          <p:cNvPr descr="preencoded.png" id="597" name="Google Shape;597;p28"/>
          <p:cNvPicPr preferRelativeResize="0"/>
          <p:nvPr/>
        </p:nvPicPr>
        <p:blipFill rotWithShape="1">
          <a:blip r:embed="rId3">
            <a:alphaModFix/>
          </a:blip>
          <a:srcRect b="0" l="0" r="0" t="0"/>
          <a:stretch/>
        </p:blipFill>
        <p:spPr>
          <a:xfrm>
            <a:off x="4983480" y="3044987"/>
            <a:ext cx="155448" cy="155448"/>
          </a:xfrm>
          <a:prstGeom prst="rect">
            <a:avLst/>
          </a:prstGeom>
          <a:noFill/>
          <a:ln>
            <a:noFill/>
          </a:ln>
        </p:spPr>
      </p:pic>
      <p:sp>
        <p:nvSpPr>
          <p:cNvPr id="598" name="Google Shape;598;p28"/>
          <p:cNvSpPr/>
          <p:nvPr/>
        </p:nvSpPr>
        <p:spPr>
          <a:xfrm>
            <a:off x="5230368" y="3008411"/>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MVP activo — plataforma operativa hoy</a:t>
            </a:r>
            <a:endParaRPr b="0" i="0" sz="1000" u="none" cap="none" strike="noStrike">
              <a:solidFill>
                <a:schemeClr val="dk1"/>
              </a:solidFill>
              <a:latin typeface="Calibri"/>
              <a:ea typeface="Calibri"/>
              <a:cs typeface="Calibri"/>
              <a:sym typeface="Calibri"/>
            </a:endParaRPr>
          </a:p>
        </p:txBody>
      </p:sp>
      <p:pic>
        <p:nvPicPr>
          <p:cNvPr descr="preencoded.png" id="599" name="Google Shape;599;p28"/>
          <p:cNvPicPr preferRelativeResize="0"/>
          <p:nvPr/>
        </p:nvPicPr>
        <p:blipFill rotWithShape="1">
          <a:blip r:embed="rId3">
            <a:alphaModFix/>
          </a:blip>
          <a:srcRect b="0" l="0" r="0" t="0"/>
          <a:stretch/>
        </p:blipFill>
        <p:spPr>
          <a:xfrm>
            <a:off x="4983480" y="3346739"/>
            <a:ext cx="155448" cy="155448"/>
          </a:xfrm>
          <a:prstGeom prst="rect">
            <a:avLst/>
          </a:prstGeom>
          <a:noFill/>
          <a:ln>
            <a:noFill/>
          </a:ln>
        </p:spPr>
      </p:pic>
      <p:sp>
        <p:nvSpPr>
          <p:cNvPr id="600" name="Google Shape;600;p28"/>
          <p:cNvSpPr/>
          <p:nvPr/>
        </p:nvSpPr>
        <p:spPr>
          <a:xfrm>
            <a:off x="5230368" y="3310163"/>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Alianza gubernamental firmada </a:t>
            </a:r>
            <a:endParaRPr b="0" i="0" sz="1000" u="none" cap="none" strike="noStrike">
              <a:solidFill>
                <a:schemeClr val="dk1"/>
              </a:solidFill>
              <a:latin typeface="Calibri"/>
              <a:ea typeface="Calibri"/>
              <a:cs typeface="Calibri"/>
              <a:sym typeface="Calibri"/>
            </a:endParaRPr>
          </a:p>
        </p:txBody>
      </p:sp>
      <p:pic>
        <p:nvPicPr>
          <p:cNvPr descr="preencoded.png" id="601" name="Google Shape;601;p28"/>
          <p:cNvPicPr preferRelativeResize="0"/>
          <p:nvPr/>
        </p:nvPicPr>
        <p:blipFill rotWithShape="1">
          <a:blip r:embed="rId3">
            <a:alphaModFix/>
          </a:blip>
          <a:srcRect b="0" l="0" r="0" t="0"/>
          <a:stretch/>
        </p:blipFill>
        <p:spPr>
          <a:xfrm>
            <a:off x="4983480" y="3648491"/>
            <a:ext cx="155448" cy="155448"/>
          </a:xfrm>
          <a:prstGeom prst="rect">
            <a:avLst/>
          </a:prstGeom>
          <a:noFill/>
          <a:ln>
            <a:noFill/>
          </a:ln>
        </p:spPr>
      </p:pic>
      <p:sp>
        <p:nvSpPr>
          <p:cNvPr id="602" name="Google Shape;602;p28"/>
          <p:cNvSpPr/>
          <p:nvPr/>
        </p:nvSpPr>
        <p:spPr>
          <a:xfrm>
            <a:off x="5230368" y="3611915"/>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Pipeline piloto listo — demanda real confirmada</a:t>
            </a:r>
            <a:endParaRPr b="0" i="0" sz="1000" u="none" cap="none" strike="noStrike">
              <a:solidFill>
                <a:schemeClr val="dk1"/>
              </a:solidFill>
              <a:latin typeface="Calibri"/>
              <a:ea typeface="Calibri"/>
              <a:cs typeface="Calibri"/>
              <a:sym typeface="Calibri"/>
            </a:endParaRPr>
          </a:p>
        </p:txBody>
      </p:sp>
      <p:pic>
        <p:nvPicPr>
          <p:cNvPr descr="preencoded.png" id="603" name="Google Shape;603;p28"/>
          <p:cNvPicPr preferRelativeResize="0"/>
          <p:nvPr/>
        </p:nvPicPr>
        <p:blipFill rotWithShape="1">
          <a:blip r:embed="rId3">
            <a:alphaModFix/>
          </a:blip>
          <a:srcRect b="0" l="0" r="0" t="0"/>
          <a:stretch/>
        </p:blipFill>
        <p:spPr>
          <a:xfrm>
            <a:off x="4983480" y="3950243"/>
            <a:ext cx="155448" cy="155448"/>
          </a:xfrm>
          <a:prstGeom prst="rect">
            <a:avLst/>
          </a:prstGeom>
          <a:noFill/>
          <a:ln>
            <a:noFill/>
          </a:ln>
        </p:spPr>
      </p:pic>
      <p:sp>
        <p:nvSpPr>
          <p:cNvPr id="604" name="Google Shape;604;p28"/>
          <p:cNvSpPr/>
          <p:nvPr/>
        </p:nvSpPr>
        <p:spPr>
          <a:xfrm>
            <a:off x="5230368" y="3913667"/>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Conectividad global de pagos construida</a:t>
            </a:r>
            <a:endParaRPr b="0" i="0" sz="1000" u="none" cap="none" strike="noStrike">
              <a:solidFill>
                <a:schemeClr val="dk1"/>
              </a:solidFill>
              <a:latin typeface="Calibri"/>
              <a:ea typeface="Calibri"/>
              <a:cs typeface="Calibri"/>
              <a:sym typeface="Calibri"/>
            </a:endParaRPr>
          </a:p>
        </p:txBody>
      </p:sp>
      <p:pic>
        <p:nvPicPr>
          <p:cNvPr descr="preencoded.png" id="605" name="Google Shape;605;p28"/>
          <p:cNvPicPr preferRelativeResize="0"/>
          <p:nvPr/>
        </p:nvPicPr>
        <p:blipFill rotWithShape="1">
          <a:blip r:embed="rId3">
            <a:alphaModFix/>
          </a:blip>
          <a:srcRect b="0" l="0" r="0" t="0"/>
          <a:stretch/>
        </p:blipFill>
        <p:spPr>
          <a:xfrm>
            <a:off x="4983480" y="4251995"/>
            <a:ext cx="155448" cy="155448"/>
          </a:xfrm>
          <a:prstGeom prst="rect">
            <a:avLst/>
          </a:prstGeom>
          <a:noFill/>
          <a:ln>
            <a:noFill/>
          </a:ln>
        </p:spPr>
      </p:pic>
      <p:sp>
        <p:nvSpPr>
          <p:cNvPr id="606" name="Google Shape;606;p28"/>
          <p:cNvSpPr/>
          <p:nvPr/>
        </p:nvSpPr>
        <p:spPr>
          <a:xfrm>
            <a:off x="5230368" y="4215419"/>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b="0" i="0" lang="en-US" sz="1000" u="none" cap="none" strike="noStrike">
                <a:solidFill>
                  <a:srgbClr val="1A2332"/>
                </a:solidFill>
                <a:latin typeface="Arial"/>
                <a:ea typeface="Arial"/>
                <a:cs typeface="Arial"/>
                <a:sym typeface="Arial"/>
              </a:rPr>
              <a:t>Compañía comercial rentable desde el Año 1</a:t>
            </a:r>
            <a:endParaRPr b="0" i="0" sz="1000" u="none" cap="none" strike="noStrike">
              <a:solidFill>
                <a:schemeClr val="dk1"/>
              </a:solidFill>
              <a:latin typeface="Calibri"/>
              <a:ea typeface="Calibri"/>
              <a:cs typeface="Calibri"/>
              <a:sym typeface="Calibri"/>
            </a:endParaRPr>
          </a:p>
        </p:txBody>
      </p:sp>
      <p:sp>
        <p:nvSpPr>
          <p:cNvPr id="607" name="Google Shape;607;p28"/>
          <p:cNvSpPr/>
          <p:nvPr/>
        </p:nvSpPr>
        <p:spPr>
          <a:xfrm>
            <a:off x="457200" y="4775905"/>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800"/>
              <a:buFont typeface="Arial"/>
              <a:buNone/>
            </a:pPr>
            <a:r>
              <a:rPr b="0" i="1" lang="en-US" sz="800" u="none" cap="none" strike="noStrike">
                <a:solidFill>
                  <a:srgbClr val="8899AA"/>
                </a:solidFill>
                <a:latin typeface="Arial"/>
                <a:ea typeface="Arial"/>
                <a:cs typeface="Arial"/>
                <a:sym typeface="Arial"/>
              </a:rPr>
              <a:t>Las proyecciones de ingresos se basan en análisis y suposiciones. Los resultados reales pueden variar. Se recomienda consultar con expertos financieros.</a:t>
            </a:r>
            <a:endParaRPr b="0" i="0" sz="800" u="none" cap="none" strike="noStrike">
              <a:solidFill>
                <a:schemeClr val="dk1"/>
              </a:solidFill>
              <a:latin typeface="Calibri"/>
              <a:ea typeface="Calibri"/>
              <a:cs typeface="Calibri"/>
              <a:sym typeface="Calibri"/>
            </a:endParaRPr>
          </a:p>
        </p:txBody>
      </p:sp>
      <p:pic>
        <p:nvPicPr>
          <p:cNvPr descr="preencoded.png" id="608" name="Google Shape;608;p28"/>
          <p:cNvPicPr preferRelativeResize="0"/>
          <p:nvPr/>
        </p:nvPicPr>
        <p:blipFill rotWithShape="1">
          <a:blip r:embed="rId3">
            <a:alphaModFix/>
          </a:blip>
          <a:srcRect b="0" l="0" r="0" t="0"/>
          <a:stretch/>
        </p:blipFill>
        <p:spPr>
          <a:xfrm>
            <a:off x="4983480" y="4513945"/>
            <a:ext cx="155448" cy="155448"/>
          </a:xfrm>
          <a:prstGeom prst="rect">
            <a:avLst/>
          </a:prstGeom>
          <a:noFill/>
          <a:ln>
            <a:noFill/>
          </a:ln>
        </p:spPr>
      </p:pic>
      <p:sp>
        <p:nvSpPr>
          <p:cNvPr id="609" name="Google Shape;609;p28"/>
          <p:cNvSpPr/>
          <p:nvPr/>
        </p:nvSpPr>
        <p:spPr>
          <a:xfrm>
            <a:off x="5230376" y="4480525"/>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Arial"/>
              <a:buNone/>
            </a:pPr>
            <a:r>
              <a:rPr lang="en-US" sz="1000">
                <a:solidFill>
                  <a:srgbClr val="1A2332"/>
                </a:solidFill>
              </a:rPr>
              <a:t>Precio pre-seed — la Serie A no estará a esta valoración.</a:t>
            </a:r>
            <a:endParaRPr sz="1000">
              <a:solidFill>
                <a:srgbClr val="1A233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B46"/>
        </a:solidFill>
      </p:bgPr>
    </p:bg>
    <p:spTree>
      <p:nvGrpSpPr>
        <p:cNvPr id="614" name="Shape 614"/>
        <p:cNvGrpSpPr/>
        <p:nvPr/>
      </p:nvGrpSpPr>
      <p:grpSpPr>
        <a:xfrm>
          <a:off x="0" y="0"/>
          <a:ext cx="0" cy="0"/>
          <a:chOff x="0" y="0"/>
          <a:chExt cx="0" cy="0"/>
        </a:xfrm>
      </p:grpSpPr>
      <p:sp>
        <p:nvSpPr>
          <p:cNvPr id="615" name="Google Shape;615;p29"/>
          <p:cNvSpPr/>
          <p:nvPr/>
        </p:nvSpPr>
        <p:spPr>
          <a:xfrm>
            <a:off x="0" y="0"/>
            <a:ext cx="9144000" cy="54864"/>
          </a:xfrm>
          <a:prstGeom prst="rect">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9"/>
          <p:cNvSpPr/>
          <p:nvPr/>
        </p:nvSpPr>
        <p:spPr>
          <a:xfrm>
            <a:off x="731520" y="45720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Georgia"/>
              <a:buNone/>
            </a:pPr>
            <a:r>
              <a:rPr b="1" i="0" lang="en-US" sz="3800" u="none" cap="none" strike="noStrike">
                <a:solidFill>
                  <a:srgbClr val="FFFFFF"/>
                </a:solidFill>
                <a:latin typeface="Georgia"/>
                <a:ea typeface="Georgia"/>
                <a:cs typeface="Georgia"/>
                <a:sym typeface="Georgia"/>
              </a:rPr>
              <a:t>Hablemos</a:t>
            </a:r>
            <a:endParaRPr b="0" i="0" sz="3800" u="none" cap="none" strike="noStrike">
              <a:solidFill>
                <a:schemeClr val="dk1"/>
              </a:solidFill>
              <a:latin typeface="Calibri"/>
              <a:ea typeface="Calibri"/>
              <a:cs typeface="Calibri"/>
              <a:sym typeface="Calibri"/>
            </a:endParaRPr>
          </a:p>
        </p:txBody>
      </p:sp>
      <p:sp>
        <p:nvSpPr>
          <p:cNvPr id="617" name="Google Shape;617;p29"/>
          <p:cNvSpPr/>
          <p:nvPr/>
        </p:nvSpPr>
        <p:spPr>
          <a:xfrm>
            <a:off x="731520" y="1097280"/>
            <a:ext cx="76809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1200"/>
              <a:buFont typeface="Arial"/>
              <a:buNone/>
            </a:pPr>
            <a:r>
              <a:rPr b="0" i="0" lang="en-US" sz="1200" u="none" cap="none" strike="noStrike">
                <a:solidFill>
                  <a:srgbClr val="AABBCC"/>
                </a:solidFill>
                <a:latin typeface="Arial"/>
                <a:ea typeface="Arial"/>
                <a:cs typeface="Arial"/>
                <a:sym typeface="Arial"/>
              </a:rPr>
              <a:t>Skyocean está cerrando la brecha de $2.6 billones en financiamiento comercial haciendo lo que los bancos no pueden: poseer la mercancía, controlar la cadena de suministro y compartir las ganancias con los inversores. Nuestra plataforma global conecta a comerciantes y compradores minoristas directamente — a través de cualquier método de pago, en cualquier mercado.</a:t>
            </a:r>
            <a:endParaRPr b="0" i="0" sz="1200" u="none" cap="none" strike="noStrike">
              <a:solidFill>
                <a:schemeClr val="dk1"/>
              </a:solidFill>
              <a:latin typeface="Calibri"/>
              <a:ea typeface="Calibri"/>
              <a:cs typeface="Calibri"/>
              <a:sym typeface="Calibri"/>
            </a:endParaRPr>
          </a:p>
        </p:txBody>
      </p:sp>
      <p:sp>
        <p:nvSpPr>
          <p:cNvPr id="618" name="Google Shape;618;p29"/>
          <p:cNvSpPr/>
          <p:nvPr/>
        </p:nvSpPr>
        <p:spPr>
          <a:xfrm>
            <a:off x="731520" y="20116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1400"/>
              <a:buFont typeface="Arial"/>
              <a:buNone/>
            </a:pPr>
            <a:r>
              <a:rPr b="1" i="0" lang="en-US" sz="1400" u="none" cap="none" strike="noStrike">
                <a:solidFill>
                  <a:srgbClr val="0C5392"/>
                </a:solidFill>
                <a:latin typeface="Arial"/>
                <a:ea typeface="Arial"/>
                <a:cs typeface="Arial"/>
                <a:sym typeface="Arial"/>
              </a:rPr>
              <a:t>Próximos Pasos</a:t>
            </a:r>
            <a:endParaRPr b="0" i="0" sz="1400" u="none" cap="none" strike="noStrike">
              <a:solidFill>
                <a:srgbClr val="0C5392"/>
              </a:solidFill>
              <a:latin typeface="Calibri"/>
              <a:ea typeface="Calibri"/>
              <a:cs typeface="Calibri"/>
              <a:sym typeface="Calibri"/>
            </a:endParaRPr>
          </a:p>
        </p:txBody>
      </p:sp>
      <p:sp>
        <p:nvSpPr>
          <p:cNvPr id="619" name="Google Shape;619;p29"/>
          <p:cNvSpPr/>
          <p:nvPr/>
        </p:nvSpPr>
        <p:spPr>
          <a:xfrm>
            <a:off x="731520" y="2377440"/>
            <a:ext cx="292608" cy="292608"/>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9"/>
          <p:cNvSpPr/>
          <p:nvPr/>
        </p:nvSpPr>
        <p:spPr>
          <a:xfrm>
            <a:off x="731520" y="23774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621" name="Google Shape;621;p29"/>
          <p:cNvSpPr/>
          <p:nvPr/>
        </p:nvSpPr>
        <p:spPr>
          <a:xfrm>
            <a:off x="1143000" y="2359152"/>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Introductory meeting  </a:t>
            </a:r>
            <a:r>
              <a:rPr b="0" i="0" lang="en-US" sz="1000" u="none" cap="none" strike="noStrike">
                <a:solidFill>
                  <a:srgbClr val="8899AA"/>
                </a:solidFill>
                <a:latin typeface="Arial"/>
                <a:ea typeface="Arial"/>
                <a:cs typeface="Arial"/>
                <a:sym typeface="Arial"/>
              </a:rPr>
              <a:t>— Discuss corridors, model, pipeline</a:t>
            </a:r>
            <a:endParaRPr b="0" i="0" sz="1050" u="none" cap="none" strike="noStrike">
              <a:solidFill>
                <a:schemeClr val="dk1"/>
              </a:solidFill>
              <a:latin typeface="Calibri"/>
              <a:ea typeface="Calibri"/>
              <a:cs typeface="Calibri"/>
              <a:sym typeface="Calibri"/>
            </a:endParaRPr>
          </a:p>
        </p:txBody>
      </p:sp>
      <p:sp>
        <p:nvSpPr>
          <p:cNvPr id="622" name="Google Shape;622;p29"/>
          <p:cNvSpPr/>
          <p:nvPr/>
        </p:nvSpPr>
        <p:spPr>
          <a:xfrm>
            <a:off x="731520" y="2761488"/>
            <a:ext cx="292608" cy="292608"/>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9"/>
          <p:cNvSpPr/>
          <p:nvPr/>
        </p:nvSpPr>
        <p:spPr>
          <a:xfrm>
            <a:off x="731520" y="27614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624" name="Google Shape;624;p29"/>
          <p:cNvSpPr/>
          <p:nvPr/>
        </p:nvSpPr>
        <p:spPr>
          <a:xfrm>
            <a:off x="1143000" y="274320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Structure discussion  </a:t>
            </a:r>
            <a:r>
              <a:rPr b="0" i="0" lang="en-US" sz="1000" u="none" cap="none" strike="noStrike">
                <a:solidFill>
                  <a:srgbClr val="8899AA"/>
                </a:solidFill>
                <a:latin typeface="Arial"/>
                <a:ea typeface="Arial"/>
                <a:cs typeface="Arial"/>
                <a:sym typeface="Arial"/>
              </a:rPr>
              <a:t>— Equity, trade finance, or hybrid</a:t>
            </a:r>
            <a:endParaRPr b="0" i="0" sz="1050" u="none" cap="none" strike="noStrike">
              <a:solidFill>
                <a:schemeClr val="dk1"/>
              </a:solidFill>
              <a:latin typeface="Calibri"/>
              <a:ea typeface="Calibri"/>
              <a:cs typeface="Calibri"/>
              <a:sym typeface="Calibri"/>
            </a:endParaRPr>
          </a:p>
        </p:txBody>
      </p:sp>
      <p:sp>
        <p:nvSpPr>
          <p:cNvPr id="625" name="Google Shape;625;p29"/>
          <p:cNvSpPr/>
          <p:nvPr/>
        </p:nvSpPr>
        <p:spPr>
          <a:xfrm>
            <a:off x="731520" y="3145536"/>
            <a:ext cx="292608" cy="292608"/>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9"/>
          <p:cNvSpPr/>
          <p:nvPr/>
        </p:nvSpPr>
        <p:spPr>
          <a:xfrm>
            <a:off x="731520" y="314553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
        <p:nvSpPr>
          <p:cNvPr id="627" name="Google Shape;627;p29"/>
          <p:cNvSpPr/>
          <p:nvPr/>
        </p:nvSpPr>
        <p:spPr>
          <a:xfrm>
            <a:off x="1143000" y="3127248"/>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Due diligence  </a:t>
            </a:r>
            <a:r>
              <a:rPr b="0" i="0" lang="en-US" sz="1000" u="none" cap="none" strike="noStrike">
                <a:solidFill>
                  <a:srgbClr val="8899AA"/>
                </a:solidFill>
                <a:latin typeface="Arial"/>
                <a:ea typeface="Arial"/>
                <a:cs typeface="Arial"/>
                <a:sym typeface="Arial"/>
              </a:rPr>
              <a:t>— Full data room access, platform demo</a:t>
            </a:r>
            <a:endParaRPr b="0" i="0" sz="1050" u="none" cap="none" strike="noStrike">
              <a:solidFill>
                <a:schemeClr val="dk1"/>
              </a:solidFill>
              <a:latin typeface="Calibri"/>
              <a:ea typeface="Calibri"/>
              <a:cs typeface="Calibri"/>
              <a:sym typeface="Calibri"/>
            </a:endParaRPr>
          </a:p>
        </p:txBody>
      </p:sp>
      <p:sp>
        <p:nvSpPr>
          <p:cNvPr id="628" name="Google Shape;628;p29"/>
          <p:cNvSpPr/>
          <p:nvPr/>
        </p:nvSpPr>
        <p:spPr>
          <a:xfrm>
            <a:off x="731520" y="3529584"/>
            <a:ext cx="292608" cy="292608"/>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9"/>
          <p:cNvSpPr/>
          <p:nvPr/>
        </p:nvSpPr>
        <p:spPr>
          <a:xfrm>
            <a:off x="731520" y="35295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4</a:t>
            </a:r>
            <a:endParaRPr b="0" i="0" sz="1000" u="none" cap="none" strike="noStrike">
              <a:solidFill>
                <a:schemeClr val="dk1"/>
              </a:solidFill>
              <a:latin typeface="Calibri"/>
              <a:ea typeface="Calibri"/>
              <a:cs typeface="Calibri"/>
              <a:sym typeface="Calibri"/>
            </a:endParaRPr>
          </a:p>
        </p:txBody>
      </p:sp>
      <p:sp>
        <p:nvSpPr>
          <p:cNvPr id="630" name="Google Shape;630;p29"/>
          <p:cNvSpPr/>
          <p:nvPr/>
        </p:nvSpPr>
        <p:spPr>
          <a:xfrm>
            <a:off x="1143000" y="3511296"/>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Term sheet  </a:t>
            </a:r>
            <a:r>
              <a:rPr b="0" i="0" lang="en-US" sz="1000" u="none" cap="none" strike="noStrike">
                <a:solidFill>
                  <a:srgbClr val="8899AA"/>
                </a:solidFill>
                <a:latin typeface="Arial"/>
                <a:ea typeface="Arial"/>
                <a:cs typeface="Arial"/>
                <a:sym typeface="Arial"/>
              </a:rPr>
              <a:t>— Commercial terms, governance</a:t>
            </a:r>
            <a:endParaRPr b="0" i="0" sz="1050" u="none" cap="none" strike="noStrike">
              <a:solidFill>
                <a:schemeClr val="dk1"/>
              </a:solidFill>
              <a:latin typeface="Calibri"/>
              <a:ea typeface="Calibri"/>
              <a:cs typeface="Calibri"/>
              <a:sym typeface="Calibri"/>
            </a:endParaRPr>
          </a:p>
        </p:txBody>
      </p:sp>
      <p:sp>
        <p:nvSpPr>
          <p:cNvPr id="631" name="Google Shape;631;p29"/>
          <p:cNvSpPr/>
          <p:nvPr/>
        </p:nvSpPr>
        <p:spPr>
          <a:xfrm>
            <a:off x="731520" y="3913632"/>
            <a:ext cx="292608" cy="292608"/>
          </a:xfrm>
          <a:prstGeom prst="ellipse">
            <a:avLst/>
          </a:prstGeom>
          <a:solidFill>
            <a:srgbClr val="0C53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9"/>
          <p:cNvSpPr/>
          <p:nvPr/>
        </p:nvSpPr>
        <p:spPr>
          <a:xfrm>
            <a:off x="731520" y="391363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5</a:t>
            </a:r>
            <a:endParaRPr b="0" i="0" sz="1000" u="none" cap="none" strike="noStrike">
              <a:solidFill>
                <a:schemeClr val="dk1"/>
              </a:solidFill>
              <a:latin typeface="Calibri"/>
              <a:ea typeface="Calibri"/>
              <a:cs typeface="Calibri"/>
              <a:sym typeface="Calibri"/>
            </a:endParaRPr>
          </a:p>
        </p:txBody>
      </p:sp>
      <p:sp>
        <p:nvSpPr>
          <p:cNvPr id="633" name="Google Shape;633;p29"/>
          <p:cNvSpPr/>
          <p:nvPr/>
        </p:nvSpPr>
        <p:spPr>
          <a:xfrm>
            <a:off x="1143000" y="3895344"/>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First trade  </a:t>
            </a:r>
            <a:r>
              <a:rPr b="0" i="0" lang="en-US" sz="1000" u="none" cap="none" strike="noStrike">
                <a:solidFill>
                  <a:srgbClr val="8899AA"/>
                </a:solidFill>
                <a:latin typeface="Arial"/>
                <a:ea typeface="Arial"/>
                <a:cs typeface="Arial"/>
                <a:sym typeface="Arial"/>
              </a:rPr>
              <a:t>— Capital deployed, trade cycle begins</a:t>
            </a:r>
            <a:endParaRPr b="0" i="0" sz="1050" u="none" cap="none" strike="noStrike">
              <a:solidFill>
                <a:schemeClr val="dk1"/>
              </a:solidFill>
              <a:latin typeface="Calibri"/>
              <a:ea typeface="Calibri"/>
              <a:cs typeface="Calibri"/>
              <a:sym typeface="Calibri"/>
            </a:endParaRPr>
          </a:p>
        </p:txBody>
      </p:sp>
      <p:cxnSp>
        <p:nvCxnSpPr>
          <p:cNvPr id="634" name="Google Shape;634;p29"/>
          <p:cNvCxnSpPr/>
          <p:nvPr/>
        </p:nvCxnSpPr>
        <p:spPr>
          <a:xfrm>
            <a:off x="731520" y="4343400"/>
            <a:ext cx="7680960" cy="0"/>
          </a:xfrm>
          <a:prstGeom prst="straightConnector1">
            <a:avLst/>
          </a:prstGeom>
          <a:noFill/>
          <a:ln cap="flat" cmpd="sng" w="12700">
            <a:solidFill>
              <a:srgbClr val="163B5C"/>
            </a:solidFill>
            <a:prstDash val="solid"/>
            <a:round/>
            <a:headEnd len="sm" w="sm" type="none"/>
            <a:tailEnd len="sm" w="sm" type="none"/>
          </a:ln>
        </p:spPr>
      </p:cxnSp>
      <p:sp>
        <p:nvSpPr>
          <p:cNvPr id="635" name="Google Shape;635;p29"/>
          <p:cNvSpPr/>
          <p:nvPr/>
        </p:nvSpPr>
        <p:spPr>
          <a:xfrm>
            <a:off x="731520" y="4480560"/>
            <a:ext cx="2743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Sebastian Gonzalez</a:t>
            </a:r>
            <a:endParaRPr b="0" i="0" sz="1100" u="none" cap="none" strike="noStrike">
              <a:solidFill>
                <a:schemeClr val="dk1"/>
              </a:solidFill>
              <a:latin typeface="Calibri"/>
              <a:ea typeface="Calibri"/>
              <a:cs typeface="Calibri"/>
              <a:sym typeface="Calibri"/>
            </a:endParaRPr>
          </a:p>
        </p:txBody>
      </p:sp>
      <p:sp>
        <p:nvSpPr>
          <p:cNvPr id="636" name="Google Shape;636;p29"/>
          <p:cNvSpPr/>
          <p:nvPr/>
        </p:nvSpPr>
        <p:spPr>
          <a:xfrm>
            <a:off x="731520" y="4663440"/>
            <a:ext cx="2743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900"/>
              <a:buFont typeface="Arial"/>
              <a:buNone/>
            </a:pPr>
            <a:r>
              <a:rPr b="0" i="0" lang="en-US" sz="900" u="none" cap="none" strike="noStrike">
                <a:solidFill>
                  <a:srgbClr val="0C5392"/>
                </a:solidFill>
                <a:latin typeface="Arial"/>
                <a:ea typeface="Arial"/>
                <a:cs typeface="Arial"/>
                <a:sym typeface="Arial"/>
              </a:rPr>
              <a:t>CEO / Cofundador</a:t>
            </a:r>
            <a:endParaRPr b="0" i="0" sz="900" u="none" cap="none" strike="noStrike">
              <a:solidFill>
                <a:srgbClr val="0C5392"/>
              </a:solidFill>
              <a:latin typeface="Calibri"/>
              <a:ea typeface="Calibri"/>
              <a:cs typeface="Calibri"/>
              <a:sym typeface="Calibri"/>
            </a:endParaRPr>
          </a:p>
        </p:txBody>
      </p:sp>
      <p:sp>
        <p:nvSpPr>
          <p:cNvPr id="637" name="Google Shape;637;p29"/>
          <p:cNvSpPr/>
          <p:nvPr/>
        </p:nvSpPr>
        <p:spPr>
          <a:xfrm>
            <a:off x="731520" y="4828032"/>
            <a:ext cx="2743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900"/>
              <a:buFont typeface="Arial"/>
              <a:buNone/>
            </a:pPr>
            <a:r>
              <a:rPr b="0" i="0" lang="en-US" sz="900" u="none" cap="none" strike="noStrike">
                <a:solidFill>
                  <a:srgbClr val="8899AA"/>
                </a:solidFill>
                <a:latin typeface="Arial"/>
                <a:ea typeface="Arial"/>
                <a:cs typeface="Arial"/>
                <a:sym typeface="Arial"/>
              </a:rPr>
              <a:t>sebastian@skyocean.io</a:t>
            </a:r>
            <a:endParaRPr b="0" i="0" sz="900" u="none" cap="none" strike="noStrike">
              <a:solidFill>
                <a:schemeClr val="dk1"/>
              </a:solidFill>
              <a:latin typeface="Calibri"/>
              <a:ea typeface="Calibri"/>
              <a:cs typeface="Calibri"/>
              <a:sym typeface="Calibri"/>
            </a:endParaRPr>
          </a:p>
        </p:txBody>
      </p:sp>
      <p:sp>
        <p:nvSpPr>
          <p:cNvPr id="638" name="Google Shape;638;p29"/>
          <p:cNvSpPr/>
          <p:nvPr/>
        </p:nvSpPr>
        <p:spPr>
          <a:xfrm>
            <a:off x="3474720" y="4480560"/>
            <a:ext cx="2743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Alexey Deshin</a:t>
            </a:r>
            <a:endParaRPr b="0" i="0" sz="1100" u="none" cap="none" strike="noStrike">
              <a:solidFill>
                <a:schemeClr val="dk1"/>
              </a:solidFill>
              <a:latin typeface="Calibri"/>
              <a:ea typeface="Calibri"/>
              <a:cs typeface="Calibri"/>
              <a:sym typeface="Calibri"/>
            </a:endParaRPr>
          </a:p>
        </p:txBody>
      </p:sp>
      <p:sp>
        <p:nvSpPr>
          <p:cNvPr id="639" name="Google Shape;639;p29"/>
          <p:cNvSpPr/>
          <p:nvPr/>
        </p:nvSpPr>
        <p:spPr>
          <a:xfrm>
            <a:off x="3474720" y="4663440"/>
            <a:ext cx="2743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900"/>
              <a:buFont typeface="Arial"/>
              <a:buNone/>
            </a:pPr>
            <a:r>
              <a:rPr b="0" i="0" lang="en-US" sz="900" u="none" cap="none" strike="noStrike">
                <a:solidFill>
                  <a:srgbClr val="0C5392"/>
                </a:solidFill>
                <a:latin typeface="Arial"/>
                <a:ea typeface="Arial"/>
                <a:cs typeface="Arial"/>
                <a:sym typeface="Arial"/>
              </a:rPr>
              <a:t>CGO / Cofundador</a:t>
            </a:r>
            <a:endParaRPr b="0" i="0" sz="900" u="none" cap="none" strike="noStrike">
              <a:solidFill>
                <a:srgbClr val="0C5392"/>
              </a:solidFill>
              <a:latin typeface="Calibri"/>
              <a:ea typeface="Calibri"/>
              <a:cs typeface="Calibri"/>
              <a:sym typeface="Calibri"/>
            </a:endParaRPr>
          </a:p>
        </p:txBody>
      </p:sp>
      <p:sp>
        <p:nvSpPr>
          <p:cNvPr id="640" name="Google Shape;640;p29"/>
          <p:cNvSpPr/>
          <p:nvPr/>
        </p:nvSpPr>
        <p:spPr>
          <a:xfrm>
            <a:off x="3474720" y="4828032"/>
            <a:ext cx="2743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900"/>
              <a:buFont typeface="Arial"/>
              <a:buNone/>
            </a:pPr>
            <a:r>
              <a:rPr b="0" i="0" lang="en-US" sz="900" u="none" cap="none" strike="noStrike">
                <a:solidFill>
                  <a:srgbClr val="8899AA"/>
                </a:solidFill>
                <a:latin typeface="Arial"/>
                <a:ea typeface="Arial"/>
                <a:cs typeface="Arial"/>
                <a:sym typeface="Arial"/>
              </a:rPr>
              <a:t>alexey@skyocean.io</a:t>
            </a:r>
            <a:endParaRPr b="0" i="0" sz="900" u="none" cap="none" strike="noStrike">
              <a:solidFill>
                <a:schemeClr val="dk1"/>
              </a:solidFill>
              <a:latin typeface="Calibri"/>
              <a:ea typeface="Calibri"/>
              <a:cs typeface="Calibri"/>
              <a:sym typeface="Calibri"/>
            </a:endParaRPr>
          </a:p>
        </p:txBody>
      </p:sp>
      <p:sp>
        <p:nvSpPr>
          <p:cNvPr id="641" name="Google Shape;641;p29"/>
          <p:cNvSpPr/>
          <p:nvPr/>
        </p:nvSpPr>
        <p:spPr>
          <a:xfrm>
            <a:off x="6217920" y="4480560"/>
            <a:ext cx="2743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Elias Nartey</a:t>
            </a:r>
            <a:endParaRPr b="0" i="0" sz="1100" u="none" cap="none" strike="noStrike">
              <a:solidFill>
                <a:schemeClr val="dk1"/>
              </a:solidFill>
              <a:latin typeface="Calibri"/>
              <a:ea typeface="Calibri"/>
              <a:cs typeface="Calibri"/>
              <a:sym typeface="Calibri"/>
            </a:endParaRPr>
          </a:p>
        </p:txBody>
      </p:sp>
      <p:sp>
        <p:nvSpPr>
          <p:cNvPr id="642" name="Google Shape;642;p29"/>
          <p:cNvSpPr/>
          <p:nvPr/>
        </p:nvSpPr>
        <p:spPr>
          <a:xfrm>
            <a:off x="6217920" y="4663440"/>
            <a:ext cx="2743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8A7D"/>
              </a:buClr>
              <a:buSzPts val="900"/>
              <a:buFont typeface="Arial"/>
              <a:buNone/>
            </a:pPr>
            <a:r>
              <a:rPr b="0" i="0" lang="en-US" sz="900" u="none" cap="none" strike="noStrike">
                <a:solidFill>
                  <a:srgbClr val="0C5392"/>
                </a:solidFill>
                <a:latin typeface="Arial"/>
                <a:ea typeface="Arial"/>
                <a:cs typeface="Arial"/>
                <a:sym typeface="Arial"/>
              </a:rPr>
              <a:t>PR &amp; Communications</a:t>
            </a:r>
            <a:endParaRPr b="0" i="0" sz="900" u="none" cap="none" strike="noStrike">
              <a:solidFill>
                <a:srgbClr val="0C5392"/>
              </a:solidFill>
              <a:latin typeface="Calibri"/>
              <a:ea typeface="Calibri"/>
              <a:cs typeface="Calibri"/>
              <a:sym typeface="Calibri"/>
            </a:endParaRPr>
          </a:p>
        </p:txBody>
      </p:sp>
      <p:sp>
        <p:nvSpPr>
          <p:cNvPr id="643" name="Google Shape;643;p29"/>
          <p:cNvSpPr/>
          <p:nvPr/>
        </p:nvSpPr>
        <p:spPr>
          <a:xfrm>
            <a:off x="6217920" y="4828032"/>
            <a:ext cx="2743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9AA"/>
              </a:buClr>
              <a:buSzPts val="900"/>
              <a:buFont typeface="Arial"/>
              <a:buNone/>
            </a:pPr>
            <a:r>
              <a:rPr b="0" i="0" lang="en-US" sz="900" u="none" cap="none" strike="noStrike">
                <a:solidFill>
                  <a:srgbClr val="8899AA"/>
                </a:solidFill>
                <a:latin typeface="Arial"/>
                <a:ea typeface="Arial"/>
                <a:cs typeface="Arial"/>
                <a:sym typeface="Arial"/>
              </a:rPr>
              <a:t>elias@skyocean.io</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C5392"/>
      </a:dk1>
      <a:lt1>
        <a:srgbClr val="FFFFFF"/>
      </a:lt1>
      <a:dk2>
        <a:srgbClr val="595959"/>
      </a:dk2>
      <a:lt2>
        <a:srgbClr val="EEEEEE"/>
      </a:lt2>
      <a:accent1>
        <a:srgbClr val="3B82F6"/>
      </a:accent1>
      <a:accent2>
        <a:srgbClr val="212121"/>
      </a:accent2>
      <a:accent3>
        <a:srgbClr val="78909C"/>
      </a:accent3>
      <a:accent4>
        <a:srgbClr val="FFAB40"/>
      </a:accent4>
      <a:accent5>
        <a:srgbClr val="0041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